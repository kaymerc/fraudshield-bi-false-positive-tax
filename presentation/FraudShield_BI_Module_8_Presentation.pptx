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name is Atta Febri-Yeboah. My capstone project is FraudShield BI: Quantifying the Impact of False Positives in Credit Card Fraud Detection. The main idea behind this project is that fraud prevention should not only be judged by how much fraud it catches. It also needs to be judged by how much unnecessary disruption it creates for legitimate customers. In this presentation, I will summarize the business problem, the dataset, the methods, the model results, the threshold and cost analysis, and how the Power BI dashboard turns the findings into a decision-support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 studied is the tension between fraud protection and customer experience. A fraud model can look effective if it catches suspicious activity, but if it creates too many false positives, it can also create a hidden cost. Those costs may include manual review, customer service contact, declined purchases, and reduced customer trust. My project calls this the False Positive Tax because it is a cost that may not be visible if the organization only focuses on model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guided by three research questions. First, I studied how changing the classification threshold affected false positives, fraud detection, and estimated cost. Second, I examined which transaction characteristics were associated with false positives. Third, I evaluated how a dashboard and scenario analysis could help decision-makers compare fraud prevention with customer friction. The analysis led to rejection of all three null hypotheses because the data showed meaningful changes across thresholds, transaction segments, and cost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came from the Kaggle credit card transactions fraud detection dataset, which was generated using Sparkov and contains simulated transaction records. I used the training file with 1,296,675 records and the testing file with 555,719 records. The fraud rate in the training data was only about 0.579 percent, which confirmed that this was a highly imbalanced classification problem. The supplied train/test files were practical for the capstone, but a production version should also use a validation sample and an untouched holdout sample for threshold selection and final confirmation. Ethically, I did not use employer data, real customer data, or internal fraud procedures. I also excluded direct identifiers such as credit card number, names, transaction number, street address, and merchant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exploratory analysis showed that fraud was not evenly distributed. Some transaction categories had much higher fraud rates than others. Online shopping, miscellaneous online transactions, and grocery point-of-sale transactions were among the highest categories. Time of day also mattered. The fraud rate increased sharply around 10:00 p.m. and 11:00 p.m., while most daytime hours were much lower. These patterns helped support the idea that transaction characteristics are important when evaluating fraud and false-positive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class-weighted logistic regression with histogram-based gradient boosting. Logistic regression was useful as an interpretable baseline, but at the default 0.50 threshold it produced 67,204 false positives and only 2.31 percent precision. Gradient boosting performed much better. It produced only 163 false positives, with 91.14 percent precision, 78.18 percent recall, and an F1-score of 84.17 percent. This was one of the strongest findings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 analysis was important because the default 0.50 cutoff is not automatically the best business choice. For logistic regression, increasing the threshold from 0.50 to 0.70 reduced false positives from 67,204 to 10,062, while true positives declined from 1,589 to 1,546. Gradient boosting had better separation, so it could use a lower threshold to catch more fraud without producing the same level of false-positive burden. This shows that threshold selection is not a minor technical detail. It directly affects review workload, customer friction, fraud capture,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false-positive analysis showed that false positives were not evenly distributed across legitimate transactions. Travel transactions had the highest false-positive rate, at about 13.02 percent. Miscellaneous point-of-sale transactions were also high. False-positive transactions had a much higher average amount than correctly approved transactions. This matters because a false positive on a travel purchase may create more customer frustration than a routine transaction. The recommendation is not simply to flag fewer transactions, but to manage high-impact segments more carefully using step-up authentication, customer confirmation, or manual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scenario analysis applied low, moderate, and high assumptions to false-positive cost and missed fraud cost. Gradient boosting produced the lowest estimated total cost in every scenario. Under the moderate-cost scenario, the recommendation was gradient boosting at a 0.10 threshold, with an estimated total cost of 93,392 dollars and 28 cents. This result had 1,173 false positives, 258 false negatives, and 1,887 true positives. This threshold was not the highest F1-score threshold, but it was the lowest-cost threshold under the business assumptions. That is the main lesson: the best statistical threshold and the best business threshold may not always be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where the project becomes a business intelligence tool. I built four pages: an executive overview, a threshold decision lab, a cost and recommendation page, and a false-positive deep dive. This slide shows the actual Executive Overview page from Power BI. The goal was to make the results understandable to a fraud manager or business stakeholder, not only to a data analyst. I also validated the dashboard values against the Python export files. The final project package includes both the editable Power BI file and a four-page PDF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showed that fraud detection should be evaluated as both a technical and business problem. Accuracy alone is not enough in an imbalanced fraud dataset. Gradient boosting was the stronger model, and threshold selection changed the practical business outcome. The dashboard helps decision-makers see the tradeoff between fraud capture, customer friction, review volume, and cost. I also added methodological notes for responsible interpretation. In a production setting, threshold selection should use a validation sample and final results should be confirmed on an untouched holdout dataset. Future work should also test false-positive costs that vary by transaction value, repeat segmentation using the selected gradient boosting threshold, and evaluate fairness with and without sensitive attributes such as gender. For project closure, the GitHub package includes the README, validated outputs, figures, final reports, presentation materials, the editable Power BI dashboard, its PDF export, dashboard page previews, and a data README explaining how to obtain the Kaggle dataset without uploading large raw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6510528"/>
            <a:ext cx="11183112" cy="0"/>
          </a:xfrm>
          <a:prstGeom prst="line">
            <a:avLst/>
          </a:prstGeom>
          <a:noFill/>
          <a:ln w="8890">
            <a:solidFill>
              <a:srgbClr val="CAD6E2"/>
            </a:solidFill>
            <a:prstDash val="solid"/>
          </a:ln>
        </p:spPr>
      </p:sp>
      <p:sp>
        <p:nvSpPr>
          <p:cNvPr id="3" name="Text 1"/>
          <p:cNvSpPr/>
          <p:nvPr/>
        </p:nvSpPr>
        <p:spPr>
          <a:xfrm>
            <a:off x="530352" y="6565392"/>
            <a:ext cx="4754880" cy="164592"/>
          </a:xfrm>
          <a:prstGeom prst="rect">
            <a:avLst/>
          </a:prstGeom>
          <a:noFill/>
          <a:ln/>
        </p:spPr>
        <p:txBody>
          <a:bodyPr wrap="square" lIns="0" tIns="0" rIns="0" bIns="0" rtlCol="0" anchor="ctr"/>
          <a:lstStyle/>
          <a:p>
            <a:pPr indent="0" marL="0">
              <a:buNone/>
            </a:pPr>
            <a:r>
              <a:rPr lang="en-US" sz="660" dirty="0">
                <a:solidFill>
                  <a:srgbClr val="64748B"/>
                </a:solidFill>
                <a:latin typeface="Aptos" pitchFamily="34" charset="0"/>
                <a:ea typeface="Aptos" pitchFamily="34" charset="-122"/>
                <a:cs typeface="Aptos" pitchFamily="34" charset="-120"/>
              </a:rPr>
              <a:t>FraudShield BI | MIS581 Capstone</a:t>
            </a:r>
            <a:endParaRPr lang="en-US" sz="66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731520" y="841248"/>
            <a:ext cx="6583680" cy="493776"/>
          </a:xfrm>
          <a:prstGeom prst="rect">
            <a:avLst/>
          </a:prstGeom>
          <a:noFill/>
          <a:ln/>
        </p:spPr>
        <p:txBody>
          <a:bodyPr wrap="square" lIns="0" tIns="0" rIns="0" bIns="0"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FraudShield BI</a:t>
            </a:r>
            <a:endParaRPr lang="en-US" sz="4000" dirty="0"/>
          </a:p>
        </p:txBody>
      </p:sp>
      <p:sp>
        <p:nvSpPr>
          <p:cNvPr id="3" name="Text 1"/>
          <p:cNvSpPr/>
          <p:nvPr/>
        </p:nvSpPr>
        <p:spPr>
          <a:xfrm>
            <a:off x="758952" y="1435608"/>
            <a:ext cx="6309360" cy="621792"/>
          </a:xfrm>
          <a:prstGeom prst="rect">
            <a:avLst/>
          </a:prstGeom>
          <a:noFill/>
          <a:ln/>
        </p:spPr>
        <p:txBody>
          <a:bodyPr wrap="square" lIns="0" tIns="0" rIns="0" bIns="0" rtlCol="0" anchor="ctr">
            <a:normAutofit/>
          </a:bodyPr>
          <a:lstStyle/>
          <a:p>
            <a:pPr indent="0" marL="0">
              <a:buNone/>
            </a:pPr>
            <a:r>
              <a:rPr lang="en-US" sz="2000" dirty="0">
                <a:solidFill>
                  <a:srgbClr val="DDEAF6"/>
                </a:solidFill>
                <a:latin typeface="Aptos" pitchFamily="34" charset="0"/>
                <a:ea typeface="Aptos" pitchFamily="34" charset="-122"/>
                <a:cs typeface="Aptos" pitchFamily="34" charset="-120"/>
              </a:rPr>
              <a:t>Quantifying the Impact of False Positives in Credit Card Fraud Detection</a:t>
            </a:r>
            <a:endParaRPr lang="en-US" sz="2000" dirty="0"/>
          </a:p>
        </p:txBody>
      </p:sp>
      <p:sp>
        <p:nvSpPr>
          <p:cNvPr id="4" name="Text 2"/>
          <p:cNvSpPr/>
          <p:nvPr/>
        </p:nvSpPr>
        <p:spPr>
          <a:xfrm>
            <a:off x="758952" y="2267712"/>
            <a:ext cx="5943600" cy="228600"/>
          </a:xfrm>
          <a:prstGeom prst="rect">
            <a:avLst/>
          </a:prstGeom>
          <a:noFill/>
          <a:ln/>
        </p:spPr>
        <p:txBody>
          <a:bodyPr wrap="square" lIns="0" tIns="0" rIns="0" bIns="0" rtlCol="0" anchor="ctr"/>
          <a:lstStyle/>
          <a:p>
            <a:pPr indent="0" marL="0">
              <a:buNone/>
            </a:pPr>
            <a:r>
              <a:rPr lang="en-US" sz="1250" dirty="0">
                <a:solidFill>
                  <a:srgbClr val="B9D5E8"/>
                </a:solidFill>
                <a:latin typeface="Aptos" pitchFamily="34" charset="0"/>
                <a:ea typeface="Aptos" pitchFamily="34" charset="-122"/>
                <a:cs typeface="Aptos" pitchFamily="34" charset="-120"/>
              </a:rPr>
              <a:t>MIS581 Capstone | Business Intelligence and Data Analytics</a:t>
            </a:r>
            <a:endParaRPr lang="en-US" sz="1250" dirty="0"/>
          </a:p>
        </p:txBody>
      </p:sp>
      <p:sp>
        <p:nvSpPr>
          <p:cNvPr id="5" name="Text 3"/>
          <p:cNvSpPr/>
          <p:nvPr/>
        </p:nvSpPr>
        <p:spPr>
          <a:xfrm>
            <a:off x="758952" y="5138928"/>
            <a:ext cx="5303520" cy="713232"/>
          </a:xfrm>
          <a:prstGeom prst="rect">
            <a:avLst/>
          </a:prstGeom>
          <a:noFill/>
          <a:ln/>
        </p:spPr>
        <p:txBody>
          <a:bodyPr wrap="square" lIns="254" tIns="254" rIns="254" bIns="254" rtlCol="0" anchor="ctr"/>
          <a:lstStyle/>
          <a:p>
            <a:r>
              <a:rPr sz="1800">
                <a:solidFill>
                  <a:srgbClr val="D7E6F5"/>
                </a:solidFill>
              </a:rPr>
              <a:t>Atta Febri-Yeboah</a:t>
            </a:r>
          </a:p>
          <a:p>
            <a:r>
              <a:rPr sz="1800">
                <a:solidFill>
                  <a:srgbClr val="D7E6F5"/>
                </a:solidFill>
              </a:rPr>
              <a:t>Colorado State University Global</a:t>
            </a:r>
          </a:p>
          <a:p>
            <a:r>
              <a:rPr sz="1800">
                <a:solidFill>
                  <a:srgbClr val="D7E6F5"/>
                </a:solidFill>
              </a:rPr>
              <a:t>Dr. Jamia Mills | July 2026</a:t>
            </a:r>
          </a:p>
        </p:txBody>
      </p:sp>
      <p:sp>
        <p:nvSpPr>
          <p:cNvPr id="6" name="Shape 4"/>
          <p:cNvSpPr/>
          <p:nvPr/>
        </p:nvSpPr>
        <p:spPr>
          <a:xfrm>
            <a:off x="7452360" y="804672"/>
            <a:ext cx="3931920" cy="5084064"/>
          </a:xfrm>
          <a:prstGeom prst="roundRect">
            <a:avLst>
              <a:gd name="adj" fmla="val 1860"/>
            </a:avLst>
          </a:prstGeom>
          <a:solidFill>
            <a:srgbClr val="12365C"/>
          </a:solidFill>
          <a:ln w="12700">
            <a:solidFill>
              <a:srgbClr val="315B7A">
                <a:alpha val="90000"/>
              </a:srgbClr>
            </a:solidFill>
            <a:prstDash val="solid"/>
          </a:ln>
        </p:spPr>
        <p:txBody>
          <a:bodyPr/>
          <a:p/>
        </p:txBody>
      </p:sp>
      <p:pic>
        <p:nvPicPr>
          <p:cNvPr id="7" name="Image 0" descr="/mnt/data/figure_9_model_performance_comparison.png">    </p:cNvPr>
          <p:cNvPicPr>
            <a:picLocks noChangeAspect="1"/>
          </p:cNvPicPr>
          <p:nvPr/>
        </p:nvPicPr>
        <p:blipFill>
          <a:blip r:embed="rId1"/>
          <a:stretch>
            <a:fillRect/>
          </a:stretch>
        </p:blipFill>
        <p:spPr>
          <a:xfrm>
            <a:off x="7635240" y="1253617"/>
            <a:ext cx="3566160" cy="1927607"/>
          </a:xfrm>
          <a:prstGeom prst="rect">
            <a:avLst/>
          </a:prstGeom>
        </p:spPr>
      </p:pic>
      <p:sp>
        <p:nvSpPr>
          <p:cNvPr id="8" name="Shape 5"/>
          <p:cNvSpPr/>
          <p:nvPr/>
        </p:nvSpPr>
        <p:spPr>
          <a:xfrm>
            <a:off x="7680960" y="3675888"/>
            <a:ext cx="1554480" cy="987552"/>
          </a:xfrm>
          <a:prstGeom prst="roundRect">
            <a:avLst>
              <a:gd name="adj" fmla="val 7407"/>
            </a:avLst>
          </a:prstGeom>
          <a:solidFill>
            <a:srgbClr val="E6F6F3"/>
          </a:solidFill>
          <a:ln w="10160">
            <a:solidFill>
              <a:srgbClr val="D8E2EE"/>
            </a:solidFill>
            <a:prstDash val="solid"/>
          </a:ln>
        </p:spPr>
        <p:txBody>
          <a:bodyPr/>
          <a:p/>
        </p:txBody>
      </p:sp>
      <p:sp>
        <p:nvSpPr>
          <p:cNvPr id="9" name="Text 6"/>
          <p:cNvSpPr/>
          <p:nvPr/>
        </p:nvSpPr>
        <p:spPr>
          <a:xfrm>
            <a:off x="7790688" y="3840480"/>
            <a:ext cx="1335024" cy="329184"/>
          </a:xfrm>
          <a:prstGeom prst="rect">
            <a:avLst/>
          </a:prstGeom>
          <a:noFill/>
          <a:ln/>
        </p:spPr>
        <p:txBody>
          <a:bodyPr wrap="square" lIns="0" tIns="0" rIns="0" bIns="0" rtlCol="0" anchor="ctr"/>
          <a:lstStyle/>
          <a:p>
            <a:pPr algn="ctr" indent="0" marL="0">
              <a:buNone/>
            </a:pPr>
            <a:r>
              <a:rPr lang="en-US" sz="2100" b="1" dirty="0">
                <a:solidFill>
                  <a:srgbClr val="2A9D8F"/>
                </a:solidFill>
                <a:latin typeface="Aptos Display" pitchFamily="34" charset="0"/>
                <a:ea typeface="Aptos Display" pitchFamily="34" charset="-122"/>
                <a:cs typeface="Aptos Display" pitchFamily="34" charset="-120"/>
              </a:rPr>
              <a:t>91.14%</a:t>
            </a:r>
            <a:endParaRPr lang="en-US" sz="2100" dirty="0"/>
          </a:p>
        </p:txBody>
      </p:sp>
      <p:sp>
        <p:nvSpPr>
          <p:cNvPr id="10" name="Text 7"/>
          <p:cNvSpPr/>
          <p:nvPr/>
        </p:nvSpPr>
        <p:spPr>
          <a:xfrm>
            <a:off x="7808976" y="4242816"/>
            <a:ext cx="129844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Gradient boosting precision at 0.50</a:t>
            </a:r>
            <a:endParaRPr lang="en-US" sz="950" dirty="0"/>
          </a:p>
        </p:txBody>
      </p:sp>
      <p:sp>
        <p:nvSpPr>
          <p:cNvPr id="11" name="Shape 8"/>
          <p:cNvSpPr/>
          <p:nvPr/>
        </p:nvSpPr>
        <p:spPr>
          <a:xfrm>
            <a:off x="9372600" y="3675888"/>
            <a:ext cx="1554480" cy="987552"/>
          </a:xfrm>
          <a:prstGeom prst="roundRect">
            <a:avLst>
              <a:gd name="adj" fmla="val 7407"/>
            </a:avLst>
          </a:prstGeom>
          <a:solidFill>
            <a:srgbClr val="FEF4E8"/>
          </a:solidFill>
          <a:ln w="10160">
            <a:solidFill>
              <a:srgbClr val="D8E2EE"/>
            </a:solidFill>
            <a:prstDash val="solid"/>
          </a:ln>
        </p:spPr>
        <p:txBody>
          <a:bodyPr/>
          <a:p/>
        </p:txBody>
      </p:sp>
      <p:sp>
        <p:nvSpPr>
          <p:cNvPr id="12" name="Text 9"/>
          <p:cNvSpPr/>
          <p:nvPr/>
        </p:nvSpPr>
        <p:spPr>
          <a:xfrm>
            <a:off x="9482328" y="3840480"/>
            <a:ext cx="1335024" cy="329184"/>
          </a:xfrm>
          <a:prstGeom prst="rect">
            <a:avLst/>
          </a:prstGeom>
          <a:noFill/>
          <a:ln/>
        </p:spPr>
        <p:txBody>
          <a:bodyPr wrap="square" lIns="0" tIns="0" rIns="0" bIns="0" rtlCol="0" anchor="ctr"/>
          <a:lstStyle/>
          <a:p>
            <a:pPr algn="ctr" indent="0" marL="0">
              <a:buNone/>
            </a:pPr>
            <a:r>
              <a:rPr lang="en-US" sz="2100" b="1" dirty="0">
                <a:solidFill>
                  <a:srgbClr val="F4A261"/>
                </a:solidFill>
                <a:latin typeface="Aptos Display" pitchFamily="34" charset="0"/>
                <a:ea typeface="Aptos Display" pitchFamily="34" charset="-122"/>
                <a:cs typeface="Aptos Display" pitchFamily="34" charset="-120"/>
              </a:rPr>
              <a:t>163</a:t>
            </a:r>
            <a:endParaRPr lang="en-US" sz="2100" dirty="0"/>
          </a:p>
        </p:txBody>
      </p:sp>
      <p:sp>
        <p:nvSpPr>
          <p:cNvPr id="13" name="Text 10"/>
          <p:cNvSpPr/>
          <p:nvPr/>
        </p:nvSpPr>
        <p:spPr>
          <a:xfrm>
            <a:off x="9500616" y="4242816"/>
            <a:ext cx="129844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False positives at 0.50</a:t>
            </a:r>
            <a:endParaRPr lang="en-US" sz="950" dirty="0"/>
          </a:p>
        </p:txBody>
      </p:sp>
      <p:sp>
        <p:nvSpPr>
          <p:cNvPr id="14" name="Text 11"/>
          <p:cNvSpPr/>
          <p:nvPr/>
        </p:nvSpPr>
        <p:spPr>
          <a:xfrm>
            <a:off x="7699248" y="4846320"/>
            <a:ext cx="3429000" cy="530352"/>
          </a:xfrm>
          <a:prstGeom prst="rect">
            <a:avLst/>
          </a:prstGeom>
          <a:noFill/>
          <a:ln/>
        </p:spPr>
        <p:txBody>
          <a:bodyPr wrap="square" lIns="254" tIns="254" rIns="254" bIns="254" rtlCol="0" anchor="ctr">
            <a:normAutofit/>
          </a:bodyPr>
          <a:lstStyle/>
          <a:p>
            <a:pPr indent="0" marL="0">
              <a:buNone/>
            </a:pPr>
            <a:r>
              <a:rPr lang="en-US" sz="1220" dirty="0">
                <a:solidFill>
                  <a:srgbClr val="DDEAF6"/>
                </a:solidFill>
                <a:latin typeface="Aptos" pitchFamily="34" charset="0"/>
                <a:ea typeface="Aptos" pitchFamily="34" charset="-122"/>
                <a:cs typeface="Aptos" pitchFamily="34" charset="-120"/>
              </a:rPr>
              <a:t>False positives create a hidden “tax” through review workload, customer friction, and missed business opportunities.</a:t>
            </a:r>
            <a:endParaRPr lang="en-US" sz="122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PROJECT PURPOSE</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Business Problem: Fraud Controls Can Create Customer Friction</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sp>
        <p:nvSpPr>
          <p:cNvPr id="5" name="Text 3"/>
          <p:cNvSpPr/>
          <p:nvPr/>
        </p:nvSpPr>
        <p:spPr>
          <a:xfrm>
            <a:off x="685800" y="1481328"/>
            <a:ext cx="4206240" cy="310896"/>
          </a:xfrm>
          <a:prstGeom prst="rect">
            <a:avLst/>
          </a:prstGeom>
          <a:noFill/>
          <a:ln/>
        </p:spPr>
        <p:txBody>
          <a:bodyPr wrap="square" lIns="0" tIns="0" rIns="0" bIns="0" rtlCol="0" anchor="ctr"/>
          <a:lstStyle/>
          <a:p>
            <a:pPr indent="0" marL="0">
              <a:buNone/>
            </a:pPr>
            <a:r>
              <a:rPr lang="en-US" sz="2300" b="1" dirty="0">
                <a:solidFill>
                  <a:srgbClr val="0B1F3A"/>
                </a:solidFill>
                <a:latin typeface="Aptos Display" pitchFamily="34" charset="0"/>
                <a:ea typeface="Aptos Display" pitchFamily="34" charset="-122"/>
                <a:cs typeface="Aptos Display" pitchFamily="34" charset="-120"/>
              </a:rPr>
              <a:t>The practical challenge</a:t>
            </a:r>
            <a:endParaRPr lang="en-US" sz="2300" dirty="0"/>
          </a:p>
        </p:txBody>
      </p:sp>
      <p:sp>
        <p:nvSpPr>
          <p:cNvPr id="6" name="Text 4"/>
          <p:cNvSpPr/>
          <p:nvPr/>
        </p:nvSpPr>
        <p:spPr>
          <a:xfrm>
            <a:off x="749808" y="1920240"/>
            <a:ext cx="4800600" cy="2194560"/>
          </a:xfrm>
          <a:prstGeom prst="rect">
            <a:avLst/>
          </a:prstGeom>
          <a:noFill/>
          <a:ln/>
        </p:spPr>
        <p:txBody>
          <a:bodyPr wrap="square" lIns="381" tIns="381" rIns="381" bIns="381" rtlCol="0" anchor="ctr">
            <a:normAutofit/>
          </a:bodyPr>
          <a:lstStyle/>
          <a:p>
            <a:r>
              <a:rPr lang="en-US" sz="1600" dirty="0">
                <a:solidFill>
                  <a:srgbClr val="1E293B"/>
                </a:solidFill>
                <a:latin typeface="Aptos" pitchFamily="34" charset="0"/>
                <a:ea typeface="Aptos" pitchFamily="34" charset="-122"/>
                <a:cs typeface="Aptos" pitchFamily="34" charset="-120"/>
              </a:rPr>
              <a:t>Fraud systems must identify suspicious activity quickly.</a:t>
            </a:r>
            <a:endParaRPr lang="en-US" sz="1600" dirty="0"/>
          </a:p>
          <a:p>
            <a:r>
              <a:rPr lang="en-US" sz="1600" dirty="0">
                <a:solidFill>
                  <a:srgbClr val="1E293B"/>
                </a:solidFill>
                <a:latin typeface="Aptos" pitchFamily="34" charset="0"/>
                <a:ea typeface="Aptos" pitchFamily="34" charset="-122"/>
                <a:cs typeface="Aptos" pitchFamily="34" charset="-120"/>
              </a:rPr>
              <a:t>Overly aggressive controls can block or review legitimate customers.</a:t>
            </a:r>
            <a:endParaRPr lang="en-US" sz="1600" dirty="0"/>
          </a:p>
          <a:p>
            <a:r>
              <a:rPr lang="en-US" sz="1600" dirty="0">
                <a:solidFill>
                  <a:srgbClr val="1E293B"/>
                </a:solidFill>
                <a:latin typeface="Aptos" pitchFamily="34" charset="0"/>
                <a:ea typeface="Aptos" pitchFamily="34" charset="-122"/>
                <a:cs typeface="Aptos" pitchFamily="34" charset="-120"/>
              </a:rPr>
              <a:t>False positives can increase manual reviews, call volume, customer frustration, and lost transaction value.</a:t>
            </a:r>
            <a:endParaRPr lang="en-US" sz="1600" dirty="0"/>
          </a:p>
          <a:p>
            <a:r>
              <a:rPr lang="en-US" sz="1600" dirty="0">
                <a:solidFill>
                  <a:srgbClr val="1E293B"/>
                </a:solidFill>
                <a:latin typeface="Aptos" pitchFamily="34" charset="0"/>
                <a:ea typeface="Aptos" pitchFamily="34" charset="-122"/>
                <a:cs typeface="Aptos" pitchFamily="34" charset="-120"/>
              </a:rPr>
              <a:t>Accuracy alone can hide these tradeoffs in highly imbalanced fraud data.</a:t>
            </a:r>
            <a:endParaRPr lang="en-US" sz="1600" dirty="0"/>
          </a:p>
        </p:txBody>
      </p:sp>
      <p:sp>
        <p:nvSpPr>
          <p:cNvPr id="7" name="Shape 5"/>
          <p:cNvSpPr/>
          <p:nvPr/>
        </p:nvSpPr>
        <p:spPr>
          <a:xfrm>
            <a:off x="5742432" y="2286000"/>
            <a:ext cx="594360" cy="822960"/>
          </a:xfrm>
          <a:prstGeom prst="chevron">
            <a:avLst/>
          </a:prstGeom>
          <a:solidFill>
            <a:srgbClr val="2A9D8F"/>
          </a:solidFill>
          <a:ln w="12700">
            <a:solidFill>
              <a:srgbClr val="2A9D8F"/>
            </a:solidFill>
            <a:prstDash val="solid"/>
          </a:ln>
        </p:spPr>
      </p:sp>
      <p:sp>
        <p:nvSpPr>
          <p:cNvPr id="8" name="Shape 6"/>
          <p:cNvSpPr/>
          <p:nvPr/>
        </p:nvSpPr>
        <p:spPr>
          <a:xfrm>
            <a:off x="6537960" y="1508760"/>
            <a:ext cx="4800600" cy="3794760"/>
          </a:xfrm>
          <a:prstGeom prst="roundRect">
            <a:avLst>
              <a:gd name="adj" fmla="val 2410"/>
            </a:avLst>
          </a:prstGeom>
          <a:solidFill>
            <a:srgbClr val="FFFFFF"/>
          </a:solidFill>
          <a:ln w="10160">
            <a:solidFill>
              <a:srgbClr val="D8E2EE"/>
            </a:solidFill>
            <a:prstDash val="solid"/>
          </a:ln>
        </p:spPr>
      </p:sp>
      <p:sp>
        <p:nvSpPr>
          <p:cNvPr id="9" name="Text 7"/>
          <p:cNvSpPr/>
          <p:nvPr/>
        </p:nvSpPr>
        <p:spPr>
          <a:xfrm>
            <a:off x="6812280" y="1810512"/>
            <a:ext cx="4206240" cy="457200"/>
          </a:xfrm>
          <a:prstGeom prst="rect">
            <a:avLst/>
          </a:prstGeom>
          <a:noFill/>
          <a:ln/>
        </p:spPr>
        <p:txBody>
          <a:bodyPr wrap="square" lIns="254" tIns="254" rIns="254" bIns="254" rtlCol="0" anchor="ctr">
            <a:normAutofit/>
          </a:bodyPr>
          <a:lstStyle/>
          <a:p>
            <a:pPr indent="0" marL="0">
              <a:buNone/>
            </a:pPr>
            <a:r>
              <a:rPr lang="en-US" sz="2000" b="1" dirty="0">
                <a:solidFill>
                  <a:srgbClr val="0B1F3A"/>
                </a:solidFill>
                <a:latin typeface="Aptos Display" pitchFamily="34" charset="0"/>
                <a:ea typeface="Aptos Display" pitchFamily="34" charset="-122"/>
                <a:cs typeface="Aptos Display" pitchFamily="34" charset="-120"/>
              </a:rPr>
              <a:t>FraudShield BI reframes fraud detection as a business decision:</a:t>
            </a:r>
            <a:endParaRPr lang="en-US" sz="2000" dirty="0"/>
          </a:p>
        </p:txBody>
      </p:sp>
      <p:sp>
        <p:nvSpPr>
          <p:cNvPr id="10" name="Text 8"/>
          <p:cNvSpPr/>
          <p:nvPr/>
        </p:nvSpPr>
        <p:spPr>
          <a:xfrm>
            <a:off x="6839712" y="2615184"/>
            <a:ext cx="4160520" cy="868680"/>
          </a:xfrm>
          <a:prstGeom prst="rect">
            <a:avLst/>
          </a:prstGeom>
          <a:noFill/>
          <a:ln/>
        </p:spPr>
        <p:txBody>
          <a:bodyPr wrap="square" lIns="254" tIns="254" rIns="254" bIns="254" rtlCol="0" anchor="ctr">
            <a:normAutofit/>
          </a:bodyPr>
          <a:lstStyle/>
          <a:p>
            <a:pPr indent="0" marL="0">
              <a:buNone/>
            </a:pPr>
            <a:r>
              <a:rPr lang="en-US" sz="1850" dirty="0">
                <a:solidFill>
                  <a:srgbClr val="1E293B"/>
                </a:solidFill>
                <a:latin typeface="Aptos" pitchFamily="34" charset="0"/>
                <a:ea typeface="Aptos" pitchFamily="34" charset="-122"/>
                <a:cs typeface="Aptos" pitchFamily="34" charset="-120"/>
              </a:rPr>
              <a:t>Model choice + threshold choice → fraud prevention, customer friction, review workload, and cost.</a:t>
            </a:r>
            <a:endParaRPr lang="en-US" sz="1850" dirty="0"/>
          </a:p>
        </p:txBody>
      </p:sp>
      <p:sp>
        <p:nvSpPr>
          <p:cNvPr id="11" name="Shape 9"/>
          <p:cNvSpPr/>
          <p:nvPr/>
        </p:nvSpPr>
        <p:spPr>
          <a:xfrm>
            <a:off x="7662672" y="3886200"/>
            <a:ext cx="2560320" cy="347472"/>
          </a:xfrm>
          <a:prstGeom prst="roundRect">
            <a:avLst>
              <a:gd name="adj" fmla="val 21053"/>
            </a:avLst>
          </a:prstGeom>
          <a:solidFill>
            <a:srgbClr val="E76F51"/>
          </a:solidFill>
          <a:ln w="12700">
            <a:solidFill>
              <a:srgbClr val="E76F51"/>
            </a:solidFill>
            <a:prstDash val="solid"/>
          </a:ln>
        </p:spPr>
      </p:sp>
      <p:sp>
        <p:nvSpPr>
          <p:cNvPr id="12" name="Text 10"/>
          <p:cNvSpPr/>
          <p:nvPr/>
        </p:nvSpPr>
        <p:spPr>
          <a:xfrm>
            <a:off x="7772400" y="3973068"/>
            <a:ext cx="2340864"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False Positive Tax</a:t>
            </a:r>
            <a:endParaRPr lang="en-US" sz="950" dirty="0"/>
          </a:p>
        </p:txBody>
      </p:sp>
      <p:sp>
        <p:nvSpPr>
          <p:cNvPr id="13" name="Text 11"/>
          <p:cNvSpPr/>
          <p:nvPr/>
        </p:nvSpPr>
        <p:spPr>
          <a:xfrm>
            <a:off x="6839712" y="4462272"/>
            <a:ext cx="4069080" cy="475488"/>
          </a:xfrm>
          <a:prstGeom prst="rect">
            <a:avLst/>
          </a:prstGeom>
          <a:noFill/>
          <a:ln/>
        </p:spPr>
        <p:txBody>
          <a:bodyPr wrap="square" lIns="254" tIns="254" rIns="254" bIns="254" rtlCol="0" anchor="ctr">
            <a:normAutofit/>
          </a:bodyPr>
          <a:lstStyle/>
          <a:p>
            <a:pPr indent="0" marL="0">
              <a:buNone/>
            </a:pPr>
            <a:r>
              <a:rPr lang="en-US" sz="1260" dirty="0">
                <a:solidFill>
                  <a:srgbClr val="475569"/>
                </a:solidFill>
                <a:latin typeface="Aptos" pitchFamily="34" charset="0"/>
                <a:ea typeface="Aptos" pitchFamily="34" charset="-122"/>
                <a:cs typeface="Aptos" pitchFamily="34" charset="-120"/>
              </a:rPr>
              <a:t>A business-readable estimate of the cost created when legitimate transactions are incorrectly flagged.</a:t>
            </a:r>
            <a:endParaRPr lang="en-US" sz="126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STUDY FOCUS</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Research Questions and Hypotheses</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sp>
        <p:nvSpPr>
          <p:cNvPr id="5" name="Shape 3"/>
          <p:cNvSpPr/>
          <p:nvPr/>
        </p:nvSpPr>
        <p:spPr>
          <a:xfrm>
            <a:off x="731520" y="1444752"/>
            <a:ext cx="10744200" cy="4526280"/>
          </a:xfrm>
          <a:prstGeom prst="roundRect">
            <a:avLst>
              <a:gd name="adj" fmla="val 1616"/>
            </a:avLst>
          </a:prstGeom>
          <a:solidFill>
            <a:srgbClr val="FFFFFF"/>
          </a:solidFill>
          <a:ln w="12700">
            <a:solidFill>
              <a:srgbClr val="D8E2EE"/>
            </a:solidFill>
            <a:prstDash val="solid"/>
          </a:ln>
        </p:spPr>
      </p:sp>
      <p:sp>
        <p:nvSpPr>
          <p:cNvPr id="6" name="Shape 4"/>
          <p:cNvSpPr/>
          <p:nvPr/>
        </p:nvSpPr>
        <p:spPr>
          <a:xfrm>
            <a:off x="1005840" y="1755648"/>
            <a:ext cx="960120" cy="566928"/>
          </a:xfrm>
          <a:prstGeom prst="roundRect">
            <a:avLst>
              <a:gd name="adj" fmla="val 12903"/>
            </a:avLst>
          </a:prstGeom>
          <a:solidFill>
            <a:srgbClr val="FEF4E8"/>
          </a:solidFill>
          <a:ln w="12700">
            <a:solidFill>
              <a:srgbClr val="E2E8F0"/>
            </a:solidFill>
            <a:prstDash val="solid"/>
          </a:ln>
        </p:spPr>
      </p:sp>
      <p:sp>
        <p:nvSpPr>
          <p:cNvPr id="7" name="Text 5"/>
          <p:cNvSpPr/>
          <p:nvPr/>
        </p:nvSpPr>
        <p:spPr>
          <a:xfrm>
            <a:off x="1143000" y="1920240"/>
            <a:ext cx="685800" cy="164592"/>
          </a:xfrm>
          <a:prstGeom prst="rect">
            <a:avLst/>
          </a:prstGeom>
          <a:noFill/>
          <a:ln/>
        </p:spPr>
        <p:txBody>
          <a:bodyPr wrap="square" lIns="0" tIns="0" rIns="0" bIns="0" rtlCol="0" anchor="ctr"/>
          <a:lstStyle/>
          <a:p>
            <a:pPr algn="ctr" indent="0" marL="0">
              <a:buNone/>
            </a:pPr>
            <a:r>
              <a:rPr lang="en-US" sz="1500" b="1" dirty="0">
                <a:solidFill>
                  <a:srgbClr val="0B1F3A"/>
                </a:solidFill>
                <a:latin typeface="Aptos Display" pitchFamily="34" charset="0"/>
                <a:ea typeface="Aptos Display" pitchFamily="34" charset="-122"/>
                <a:cs typeface="Aptos Display" pitchFamily="34" charset="-120"/>
              </a:rPr>
              <a:t>RQ1</a:t>
            </a:r>
            <a:endParaRPr lang="en-US" sz="1500" dirty="0"/>
          </a:p>
        </p:txBody>
      </p:sp>
      <p:sp>
        <p:nvSpPr>
          <p:cNvPr id="8" name="Text 6"/>
          <p:cNvSpPr/>
          <p:nvPr/>
        </p:nvSpPr>
        <p:spPr>
          <a:xfrm>
            <a:off x="2240280" y="1819656"/>
            <a:ext cx="6629400" cy="438912"/>
          </a:xfrm>
          <a:prstGeom prst="rect">
            <a:avLst/>
          </a:prstGeom>
          <a:noFill/>
          <a:ln/>
        </p:spPr>
        <p:txBody>
          <a:bodyPr wrap="square" lIns="254" tIns="254" rIns="254" bIns="254" rtlCol="0" anchor="ctr">
            <a:normAutofit/>
          </a:bodyPr>
          <a:lstStyle/>
          <a:p>
            <a:pPr indent="0" marL="0">
              <a:buNone/>
            </a:pPr>
            <a:r>
              <a:rPr lang="en-US" sz="1420" dirty="0">
                <a:solidFill>
                  <a:srgbClr val="1E293B"/>
                </a:solidFill>
                <a:latin typeface="Aptos" pitchFamily="34" charset="0"/>
                <a:ea typeface="Aptos" pitchFamily="34" charset="-122"/>
                <a:cs typeface="Aptos" pitchFamily="34" charset="-120"/>
              </a:rPr>
              <a:t>How does changing the fraud threshold affect false positives, fraud detection, and estimated False Positive Tax?</a:t>
            </a:r>
            <a:endParaRPr lang="en-US" sz="1420" dirty="0"/>
          </a:p>
        </p:txBody>
      </p:sp>
      <p:sp>
        <p:nvSpPr>
          <p:cNvPr id="9" name="Text 7"/>
          <p:cNvSpPr/>
          <p:nvPr/>
        </p:nvSpPr>
        <p:spPr>
          <a:xfrm>
            <a:off x="9326880" y="1911096"/>
            <a:ext cx="1691640" cy="219456"/>
          </a:xfrm>
          <a:prstGeom prst="rect">
            <a:avLst/>
          </a:prstGeom>
          <a:noFill/>
          <a:ln/>
        </p:spPr>
        <p:txBody>
          <a:bodyPr wrap="square" lIns="0" tIns="0" rIns="0" bIns="0" rtlCol="0" anchor="ctr"/>
          <a:lstStyle/>
          <a:p>
            <a:pPr algn="ctr" indent="0" marL="0">
              <a:buNone/>
            </a:pPr>
            <a:r>
              <a:rPr lang="en-US" sz="1250" b="1" dirty="0">
                <a:solidFill>
                  <a:srgbClr val="2A9D8F"/>
                </a:solidFill>
                <a:latin typeface="Aptos" pitchFamily="34" charset="0"/>
                <a:ea typeface="Aptos" pitchFamily="34" charset="-122"/>
                <a:cs typeface="Aptos" pitchFamily="34" charset="-120"/>
              </a:rPr>
              <a:t>H01 rejected</a:t>
            </a:r>
            <a:endParaRPr lang="en-US" sz="1250" dirty="0"/>
          </a:p>
        </p:txBody>
      </p:sp>
      <p:sp>
        <p:nvSpPr>
          <p:cNvPr id="10" name="Shape 8"/>
          <p:cNvSpPr/>
          <p:nvPr/>
        </p:nvSpPr>
        <p:spPr>
          <a:xfrm>
            <a:off x="1005840" y="2990088"/>
            <a:ext cx="960120" cy="566928"/>
          </a:xfrm>
          <a:prstGeom prst="roundRect">
            <a:avLst>
              <a:gd name="adj" fmla="val 12903"/>
            </a:avLst>
          </a:prstGeom>
          <a:solidFill>
            <a:srgbClr val="EAF2F8"/>
          </a:solidFill>
          <a:ln w="12700">
            <a:solidFill>
              <a:srgbClr val="E2E8F0"/>
            </a:solidFill>
            <a:prstDash val="solid"/>
          </a:ln>
        </p:spPr>
      </p:sp>
      <p:sp>
        <p:nvSpPr>
          <p:cNvPr id="11" name="Text 9"/>
          <p:cNvSpPr/>
          <p:nvPr/>
        </p:nvSpPr>
        <p:spPr>
          <a:xfrm>
            <a:off x="1143000" y="3154680"/>
            <a:ext cx="685800" cy="164592"/>
          </a:xfrm>
          <a:prstGeom prst="rect">
            <a:avLst/>
          </a:prstGeom>
          <a:noFill/>
          <a:ln/>
        </p:spPr>
        <p:txBody>
          <a:bodyPr wrap="square" lIns="0" tIns="0" rIns="0" bIns="0" rtlCol="0" anchor="ctr"/>
          <a:lstStyle/>
          <a:p>
            <a:pPr algn="ctr" indent="0" marL="0">
              <a:buNone/>
            </a:pPr>
            <a:r>
              <a:rPr lang="en-US" sz="1500" b="1" dirty="0">
                <a:solidFill>
                  <a:srgbClr val="0B1F3A"/>
                </a:solidFill>
                <a:latin typeface="Aptos Display" pitchFamily="34" charset="0"/>
                <a:ea typeface="Aptos Display" pitchFamily="34" charset="-122"/>
                <a:cs typeface="Aptos Display" pitchFamily="34" charset="-120"/>
              </a:rPr>
              <a:t>RQ2</a:t>
            </a:r>
            <a:endParaRPr lang="en-US" sz="1500" dirty="0"/>
          </a:p>
        </p:txBody>
      </p:sp>
      <p:sp>
        <p:nvSpPr>
          <p:cNvPr id="12" name="Text 10"/>
          <p:cNvSpPr/>
          <p:nvPr/>
        </p:nvSpPr>
        <p:spPr>
          <a:xfrm>
            <a:off x="2240280" y="3054096"/>
            <a:ext cx="6629400" cy="438912"/>
          </a:xfrm>
          <a:prstGeom prst="rect">
            <a:avLst/>
          </a:prstGeom>
          <a:noFill/>
          <a:ln/>
        </p:spPr>
        <p:txBody>
          <a:bodyPr wrap="square" lIns="254" tIns="254" rIns="254" bIns="254" rtlCol="0" anchor="ctr">
            <a:normAutofit/>
          </a:bodyPr>
          <a:lstStyle/>
          <a:p>
            <a:pPr indent="0" marL="0">
              <a:buNone/>
            </a:pPr>
            <a:r>
              <a:rPr lang="en-US" sz="1420" dirty="0">
                <a:solidFill>
                  <a:srgbClr val="1E293B"/>
                </a:solidFill>
                <a:latin typeface="Aptos" pitchFamily="34" charset="0"/>
                <a:ea typeface="Aptos" pitchFamily="34" charset="-122"/>
                <a:cs typeface="Aptos" pitchFamily="34" charset="-120"/>
              </a:rPr>
              <a:t>Which transaction characteristics and model outputs are associated with false-positive decisions?</a:t>
            </a:r>
            <a:endParaRPr lang="en-US" sz="1420" dirty="0"/>
          </a:p>
        </p:txBody>
      </p:sp>
      <p:sp>
        <p:nvSpPr>
          <p:cNvPr id="13" name="Text 11"/>
          <p:cNvSpPr/>
          <p:nvPr/>
        </p:nvSpPr>
        <p:spPr>
          <a:xfrm>
            <a:off x="9326880" y="3145536"/>
            <a:ext cx="1691640" cy="219456"/>
          </a:xfrm>
          <a:prstGeom prst="rect">
            <a:avLst/>
          </a:prstGeom>
          <a:noFill/>
          <a:ln/>
        </p:spPr>
        <p:txBody>
          <a:bodyPr wrap="square" lIns="0" tIns="0" rIns="0" bIns="0" rtlCol="0" anchor="ctr"/>
          <a:lstStyle/>
          <a:p>
            <a:pPr algn="ctr" indent="0" marL="0">
              <a:buNone/>
            </a:pPr>
            <a:r>
              <a:rPr lang="en-US" sz="1250" b="1" dirty="0">
                <a:solidFill>
                  <a:srgbClr val="2A9D8F"/>
                </a:solidFill>
                <a:latin typeface="Aptos" pitchFamily="34" charset="0"/>
                <a:ea typeface="Aptos" pitchFamily="34" charset="-122"/>
                <a:cs typeface="Aptos" pitchFamily="34" charset="-120"/>
              </a:rPr>
              <a:t>H02 rejected</a:t>
            </a:r>
            <a:endParaRPr lang="en-US" sz="1250" dirty="0"/>
          </a:p>
        </p:txBody>
      </p:sp>
      <p:sp>
        <p:nvSpPr>
          <p:cNvPr id="14" name="Shape 12"/>
          <p:cNvSpPr/>
          <p:nvPr/>
        </p:nvSpPr>
        <p:spPr>
          <a:xfrm>
            <a:off x="1005840" y="4224528"/>
            <a:ext cx="960120" cy="566928"/>
          </a:xfrm>
          <a:prstGeom prst="roundRect">
            <a:avLst>
              <a:gd name="adj" fmla="val 12903"/>
            </a:avLst>
          </a:prstGeom>
          <a:solidFill>
            <a:srgbClr val="E6F6F3"/>
          </a:solidFill>
          <a:ln w="12700">
            <a:solidFill>
              <a:srgbClr val="E2E8F0"/>
            </a:solidFill>
            <a:prstDash val="solid"/>
          </a:ln>
        </p:spPr>
      </p:sp>
      <p:sp>
        <p:nvSpPr>
          <p:cNvPr id="15" name="Text 13"/>
          <p:cNvSpPr/>
          <p:nvPr/>
        </p:nvSpPr>
        <p:spPr>
          <a:xfrm>
            <a:off x="1143000" y="4389120"/>
            <a:ext cx="685800" cy="164592"/>
          </a:xfrm>
          <a:prstGeom prst="rect">
            <a:avLst/>
          </a:prstGeom>
          <a:noFill/>
          <a:ln/>
        </p:spPr>
        <p:txBody>
          <a:bodyPr wrap="square" lIns="0" tIns="0" rIns="0" bIns="0" rtlCol="0" anchor="ctr"/>
          <a:lstStyle/>
          <a:p>
            <a:pPr algn="ctr" indent="0" marL="0">
              <a:buNone/>
            </a:pPr>
            <a:r>
              <a:rPr lang="en-US" sz="1500" b="1" dirty="0">
                <a:solidFill>
                  <a:srgbClr val="0B1F3A"/>
                </a:solidFill>
                <a:latin typeface="Aptos Display" pitchFamily="34" charset="0"/>
                <a:ea typeface="Aptos Display" pitchFamily="34" charset="-122"/>
                <a:cs typeface="Aptos Display" pitchFamily="34" charset="-120"/>
              </a:rPr>
              <a:t>RQ3</a:t>
            </a:r>
            <a:endParaRPr lang="en-US" sz="1500" dirty="0"/>
          </a:p>
        </p:txBody>
      </p:sp>
      <p:sp>
        <p:nvSpPr>
          <p:cNvPr id="16" name="Text 14"/>
          <p:cNvSpPr/>
          <p:nvPr/>
        </p:nvSpPr>
        <p:spPr>
          <a:xfrm>
            <a:off x="2240280" y="4288536"/>
            <a:ext cx="6629400" cy="438912"/>
          </a:xfrm>
          <a:prstGeom prst="rect">
            <a:avLst/>
          </a:prstGeom>
          <a:noFill/>
          <a:ln/>
        </p:spPr>
        <p:txBody>
          <a:bodyPr wrap="square" lIns="254" tIns="254" rIns="254" bIns="254" rtlCol="0" anchor="ctr">
            <a:normAutofit/>
          </a:bodyPr>
          <a:lstStyle/>
          <a:p>
            <a:pPr indent="0" marL="0">
              <a:buNone/>
            </a:pPr>
            <a:r>
              <a:rPr lang="en-US" sz="1420" dirty="0">
                <a:solidFill>
                  <a:srgbClr val="1E293B"/>
                </a:solidFill>
                <a:latin typeface="Aptos" pitchFamily="34" charset="0"/>
                <a:ea typeface="Aptos" pitchFamily="34" charset="-122"/>
                <a:cs typeface="Aptos" pitchFamily="34" charset="-120"/>
              </a:rPr>
              <a:t>How can BI dashboards and scenario analysis support fraud-prevention decisions?</a:t>
            </a:r>
            <a:endParaRPr lang="en-US" sz="1420" dirty="0"/>
          </a:p>
        </p:txBody>
      </p:sp>
      <p:sp>
        <p:nvSpPr>
          <p:cNvPr id="17" name="Text 15"/>
          <p:cNvSpPr/>
          <p:nvPr/>
        </p:nvSpPr>
        <p:spPr>
          <a:xfrm>
            <a:off x="9326880" y="4379976"/>
            <a:ext cx="1691640" cy="219456"/>
          </a:xfrm>
          <a:prstGeom prst="rect">
            <a:avLst/>
          </a:prstGeom>
          <a:noFill/>
          <a:ln/>
        </p:spPr>
        <p:txBody>
          <a:bodyPr wrap="square" lIns="0" tIns="0" rIns="0" bIns="0" rtlCol="0" anchor="ctr"/>
          <a:lstStyle/>
          <a:p>
            <a:pPr algn="ctr" indent="0" marL="0">
              <a:buNone/>
            </a:pPr>
            <a:r>
              <a:rPr lang="en-US" sz="1250" b="1" dirty="0">
                <a:solidFill>
                  <a:srgbClr val="2A9D8F"/>
                </a:solidFill>
                <a:latin typeface="Aptos" pitchFamily="34" charset="0"/>
                <a:ea typeface="Aptos" pitchFamily="34" charset="-122"/>
                <a:cs typeface="Aptos" pitchFamily="34" charset="-120"/>
              </a:rPr>
              <a:t>H03 rejected</a:t>
            </a:r>
            <a:endParaRPr lang="en-US" sz="1250" dirty="0"/>
          </a:p>
        </p:txBody>
      </p:sp>
      <p:sp>
        <p:nvSpPr>
          <p:cNvPr id="18" name="Text 16"/>
          <p:cNvSpPr/>
          <p:nvPr/>
        </p:nvSpPr>
        <p:spPr>
          <a:xfrm>
            <a:off x="1005840" y="5440680"/>
            <a:ext cx="9829800" cy="256032"/>
          </a:xfrm>
          <a:prstGeom prst="rect">
            <a:avLst/>
          </a:prstGeom>
          <a:noFill/>
          <a:ln/>
        </p:spPr>
        <p:txBody>
          <a:bodyPr wrap="square" lIns="0" tIns="0" rIns="0" bIns="0" rtlCol="0" anchor="ctr"/>
          <a:lstStyle/>
          <a:p>
            <a:pPr indent="0" marL="0">
              <a:buNone/>
            </a:pPr>
            <a:r>
              <a:rPr lang="en-US" sz="1240" i="1" dirty="0">
                <a:solidFill>
                  <a:srgbClr val="64748B"/>
                </a:solidFill>
                <a:latin typeface="Aptos" pitchFamily="34" charset="0"/>
                <a:ea typeface="Aptos" pitchFamily="34" charset="-122"/>
                <a:cs typeface="Aptos" pitchFamily="34" charset="-120"/>
              </a:rPr>
              <a:t>Analytical approach: confusion matrices, threshold analysis, precision–recall metrics, chi-square tests, Mann-Whitney U tests, cost-scenario analysis, and Power BI reporting.</a:t>
            </a:r>
            <a:endParaRPr lang="en-US" sz="124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DATA FOUNDATION</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Dataset, Research Design, and Ethical Boundaries</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txBody>
          <a:bodyPr/>
          <a:p/>
        </p:txBody>
      </p:sp>
      <p:pic>
        <p:nvPicPr>
          <p:cNvPr id="5" name="Image 0" descr="/mnt/data/fraudshield_assets/class_imbalance_bar.png">    </p:cNvPr>
          <p:cNvPicPr>
            <a:picLocks noChangeAspect="1"/>
          </p:cNvPicPr>
          <p:nvPr/>
        </p:nvPicPr>
        <p:blipFill>
          <a:blip r:embed="rId1"/>
          <a:stretch>
            <a:fillRect/>
          </a:stretch>
        </p:blipFill>
        <p:spPr>
          <a:xfrm>
            <a:off x="713232" y="1540362"/>
            <a:ext cx="5897880" cy="2131356"/>
          </a:xfrm>
          <a:prstGeom prst="rect">
            <a:avLst/>
          </a:prstGeom>
        </p:spPr>
      </p:pic>
      <p:sp>
        <p:nvSpPr>
          <p:cNvPr id="6" name="Shape 3"/>
          <p:cNvSpPr/>
          <p:nvPr/>
        </p:nvSpPr>
        <p:spPr>
          <a:xfrm>
            <a:off x="6720840" y="1417320"/>
            <a:ext cx="1737360" cy="987552"/>
          </a:xfrm>
          <a:prstGeom prst="roundRect">
            <a:avLst>
              <a:gd name="adj" fmla="val 7407"/>
            </a:avLst>
          </a:prstGeom>
          <a:solidFill>
            <a:srgbClr val="EAF2F8"/>
          </a:solidFill>
          <a:ln w="10160">
            <a:solidFill>
              <a:srgbClr val="D8E2EE"/>
            </a:solidFill>
            <a:prstDash val="solid"/>
          </a:ln>
        </p:spPr>
        <p:txBody>
          <a:bodyPr/>
          <a:p/>
        </p:txBody>
      </p:sp>
      <p:sp>
        <p:nvSpPr>
          <p:cNvPr id="7" name="Text 4"/>
          <p:cNvSpPr/>
          <p:nvPr/>
        </p:nvSpPr>
        <p:spPr>
          <a:xfrm>
            <a:off x="6830568" y="1581912"/>
            <a:ext cx="1517904" cy="329184"/>
          </a:xfrm>
          <a:prstGeom prst="rect">
            <a:avLst/>
          </a:prstGeom>
          <a:noFill/>
          <a:ln/>
        </p:spPr>
        <p:txBody>
          <a:bodyPr wrap="square" lIns="0" tIns="0" rIns="0" bIns="0" rtlCol="0" anchor="ctr"/>
          <a:lstStyle/>
          <a:p>
            <a:pPr algn="ctr" indent="0" marL="0">
              <a:buNone/>
            </a:pPr>
            <a:r>
              <a:rPr lang="en-US" sz="2100" b="1" dirty="0">
                <a:solidFill>
                  <a:srgbClr val="1F4E79"/>
                </a:solidFill>
                <a:latin typeface="Aptos Display" pitchFamily="34" charset="0"/>
                <a:ea typeface="Aptos Display" pitchFamily="34" charset="-122"/>
                <a:cs typeface="Aptos Display" pitchFamily="34" charset="-120"/>
              </a:rPr>
              <a:t>1,296,675</a:t>
            </a:r>
            <a:endParaRPr lang="en-US" sz="2100" dirty="0"/>
          </a:p>
        </p:txBody>
      </p:sp>
      <p:sp>
        <p:nvSpPr>
          <p:cNvPr id="8" name="Text 5"/>
          <p:cNvSpPr/>
          <p:nvPr/>
        </p:nvSpPr>
        <p:spPr>
          <a:xfrm>
            <a:off x="6848856" y="1984248"/>
            <a:ext cx="148132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training records</a:t>
            </a:r>
            <a:endParaRPr lang="en-US" sz="950" dirty="0"/>
          </a:p>
        </p:txBody>
      </p:sp>
      <p:sp>
        <p:nvSpPr>
          <p:cNvPr id="9" name="Shape 6"/>
          <p:cNvSpPr/>
          <p:nvPr/>
        </p:nvSpPr>
        <p:spPr>
          <a:xfrm>
            <a:off x="8732520" y="1417320"/>
            <a:ext cx="1645920" cy="987552"/>
          </a:xfrm>
          <a:prstGeom prst="roundRect">
            <a:avLst>
              <a:gd name="adj" fmla="val 7407"/>
            </a:avLst>
          </a:prstGeom>
          <a:solidFill>
            <a:srgbClr val="E6F6F3"/>
          </a:solidFill>
          <a:ln w="10160">
            <a:solidFill>
              <a:srgbClr val="D8E2EE"/>
            </a:solidFill>
            <a:prstDash val="solid"/>
          </a:ln>
        </p:spPr>
        <p:txBody>
          <a:bodyPr/>
          <a:p/>
        </p:txBody>
      </p:sp>
      <p:sp>
        <p:nvSpPr>
          <p:cNvPr id="10" name="Text 7"/>
          <p:cNvSpPr/>
          <p:nvPr/>
        </p:nvSpPr>
        <p:spPr>
          <a:xfrm>
            <a:off x="8842248" y="1581912"/>
            <a:ext cx="1426464" cy="329184"/>
          </a:xfrm>
          <a:prstGeom prst="rect">
            <a:avLst/>
          </a:prstGeom>
          <a:noFill/>
          <a:ln/>
        </p:spPr>
        <p:txBody>
          <a:bodyPr wrap="square" lIns="0" tIns="0" rIns="0" bIns="0" rtlCol="0" anchor="ctr"/>
          <a:lstStyle/>
          <a:p>
            <a:pPr algn="ctr" indent="0" marL="0">
              <a:buNone/>
            </a:pPr>
            <a:r>
              <a:rPr lang="en-US" sz="2100" b="1" dirty="0">
                <a:solidFill>
                  <a:srgbClr val="2A9D8F"/>
                </a:solidFill>
                <a:latin typeface="Aptos Display" pitchFamily="34" charset="0"/>
                <a:ea typeface="Aptos Display" pitchFamily="34" charset="-122"/>
                <a:cs typeface="Aptos Display" pitchFamily="34" charset="-120"/>
              </a:rPr>
              <a:t>555,719</a:t>
            </a:r>
            <a:endParaRPr lang="en-US" sz="2100" dirty="0"/>
          </a:p>
        </p:txBody>
      </p:sp>
      <p:sp>
        <p:nvSpPr>
          <p:cNvPr id="11" name="Text 8"/>
          <p:cNvSpPr/>
          <p:nvPr/>
        </p:nvSpPr>
        <p:spPr>
          <a:xfrm>
            <a:off x="8860536" y="1984248"/>
            <a:ext cx="138988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testing records</a:t>
            </a:r>
            <a:endParaRPr lang="en-US" sz="950" dirty="0"/>
          </a:p>
        </p:txBody>
      </p:sp>
      <p:sp>
        <p:nvSpPr>
          <p:cNvPr id="12" name="Shape 9"/>
          <p:cNvSpPr/>
          <p:nvPr/>
        </p:nvSpPr>
        <p:spPr>
          <a:xfrm>
            <a:off x="10625328" y="1417320"/>
            <a:ext cx="1353312" cy="987552"/>
          </a:xfrm>
          <a:prstGeom prst="roundRect">
            <a:avLst>
              <a:gd name="adj" fmla="val 7407"/>
            </a:avLst>
          </a:prstGeom>
          <a:solidFill>
            <a:srgbClr val="FCEDE9"/>
          </a:solidFill>
          <a:ln w="10160">
            <a:solidFill>
              <a:srgbClr val="D8E2EE"/>
            </a:solidFill>
            <a:prstDash val="solid"/>
          </a:ln>
        </p:spPr>
        <p:txBody>
          <a:bodyPr/>
          <a:p/>
        </p:txBody>
      </p:sp>
      <p:sp>
        <p:nvSpPr>
          <p:cNvPr id="13" name="Text 10"/>
          <p:cNvSpPr/>
          <p:nvPr/>
        </p:nvSpPr>
        <p:spPr>
          <a:xfrm>
            <a:off x="10735056" y="1581912"/>
            <a:ext cx="1133856" cy="329184"/>
          </a:xfrm>
          <a:prstGeom prst="rect">
            <a:avLst/>
          </a:prstGeom>
          <a:noFill/>
          <a:ln/>
        </p:spPr>
        <p:txBody>
          <a:bodyPr wrap="square" lIns="0" tIns="0" rIns="0" bIns="0" rtlCol="0" anchor="ctr"/>
          <a:lstStyle/>
          <a:p>
            <a:pPr algn="ctr" indent="0" marL="0">
              <a:buNone/>
            </a:pPr>
            <a:r>
              <a:rPr lang="en-US" sz="2100" b="1" dirty="0">
                <a:solidFill>
                  <a:srgbClr val="E76F51"/>
                </a:solidFill>
                <a:latin typeface="Aptos Display" pitchFamily="34" charset="0"/>
                <a:ea typeface="Aptos Display" pitchFamily="34" charset="-122"/>
                <a:cs typeface="Aptos Display" pitchFamily="34" charset="-120"/>
              </a:rPr>
              <a:t>0.579%</a:t>
            </a:r>
            <a:endParaRPr lang="en-US" sz="2100" dirty="0"/>
          </a:p>
        </p:txBody>
      </p:sp>
      <p:sp>
        <p:nvSpPr>
          <p:cNvPr id="14" name="Text 11"/>
          <p:cNvSpPr/>
          <p:nvPr/>
        </p:nvSpPr>
        <p:spPr>
          <a:xfrm>
            <a:off x="10753344" y="1984248"/>
            <a:ext cx="1097280"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training fraud rate</a:t>
            </a:r>
            <a:endParaRPr lang="en-US" sz="950" dirty="0"/>
          </a:p>
        </p:txBody>
      </p:sp>
      <p:sp>
        <p:nvSpPr>
          <p:cNvPr id="15" name="Text 12"/>
          <p:cNvSpPr/>
          <p:nvPr/>
        </p:nvSpPr>
        <p:spPr>
          <a:xfrm>
            <a:off x="749808" y="4160520"/>
            <a:ext cx="2194560" cy="274320"/>
          </a:xfrm>
          <a:prstGeom prst="rect">
            <a:avLst/>
          </a:prstGeom>
          <a:noFill/>
          <a:ln/>
        </p:spPr>
        <p:txBody>
          <a:bodyPr wrap="square" lIns="0" tIns="0" rIns="0" bIns="0" rtlCol="0" anchor="ctr"/>
          <a:lstStyle/>
          <a:p>
            <a:pPr indent="0" marL="0">
              <a:buNone/>
            </a:pPr>
            <a:r>
              <a:rPr lang="en-US" sz="2000" b="1" dirty="0">
                <a:solidFill>
                  <a:srgbClr val="0B1F3A"/>
                </a:solidFill>
                <a:latin typeface="Aptos Display" pitchFamily="34" charset="0"/>
                <a:ea typeface="Aptos Display" pitchFamily="34" charset="-122"/>
                <a:cs typeface="Aptos Display" pitchFamily="34" charset="-120"/>
              </a:rPr>
              <a:t>Design choices</a:t>
            </a:r>
            <a:endParaRPr lang="en-US" sz="2000" dirty="0"/>
          </a:p>
        </p:txBody>
      </p:sp>
      <p:sp>
        <p:nvSpPr>
          <p:cNvPr id="16" name="Text 13"/>
          <p:cNvSpPr/>
          <p:nvPr/>
        </p:nvSpPr>
        <p:spPr>
          <a:xfrm>
            <a:off x="804672" y="4572000"/>
            <a:ext cx="5212080" cy="1188720"/>
          </a:xfrm>
          <a:prstGeom prst="rect">
            <a:avLst/>
          </a:prstGeom>
          <a:noFill/>
          <a:ln/>
        </p:spPr>
        <p:txBody>
          <a:bodyPr wrap="square" lIns="381" tIns="381" rIns="381" bIns="381" rtlCol="0" anchor="ctr">
            <a:normAutofit/>
          </a:bodyPr>
          <a:lstStyle/>
          <a:p>
            <a:r>
              <a:rPr sz="1500"/>
              <a:t>Quantitative secondary analysis using a simulated Kaggle/Sparkov transaction dataset.</a:t>
            </a:r>
          </a:p>
          <a:p>
            <a:r>
              <a:rPr sz="1500"/>
              <a:t>Pre-split train/test files used; production work should add validation and holdout samples.</a:t>
            </a:r>
          </a:p>
          <a:p>
            <a:r>
              <a:rPr sz="1500"/>
              <a:t>Predictors included amount, hour, age, city population, distance, category, and gender.</a:t>
            </a:r>
          </a:p>
        </p:txBody>
      </p:sp>
      <p:sp>
        <p:nvSpPr>
          <p:cNvPr id="17" name="Text 14"/>
          <p:cNvSpPr/>
          <p:nvPr/>
        </p:nvSpPr>
        <p:spPr>
          <a:xfrm>
            <a:off x="6583680" y="4160520"/>
            <a:ext cx="2468880" cy="274320"/>
          </a:xfrm>
          <a:prstGeom prst="rect">
            <a:avLst/>
          </a:prstGeom>
          <a:noFill/>
          <a:ln/>
        </p:spPr>
        <p:txBody>
          <a:bodyPr wrap="square" lIns="0" tIns="0" rIns="0" bIns="0" rtlCol="0" anchor="ctr"/>
          <a:lstStyle/>
          <a:p>
            <a:pPr indent="0" marL="0">
              <a:buNone/>
            </a:pPr>
            <a:r>
              <a:rPr lang="en-US" sz="2000" b="1" dirty="0">
                <a:solidFill>
                  <a:srgbClr val="0B1F3A"/>
                </a:solidFill>
                <a:latin typeface="Aptos Display" pitchFamily="34" charset="0"/>
                <a:ea typeface="Aptos Display" pitchFamily="34" charset="-122"/>
                <a:cs typeface="Aptos Display" pitchFamily="34" charset="-120"/>
              </a:rPr>
              <a:t>Ethical guardrails</a:t>
            </a:r>
            <a:endParaRPr lang="en-US" sz="2000" dirty="0"/>
          </a:p>
        </p:txBody>
      </p:sp>
      <p:sp>
        <p:nvSpPr>
          <p:cNvPr id="18" name="Text 15"/>
          <p:cNvSpPr/>
          <p:nvPr/>
        </p:nvSpPr>
        <p:spPr>
          <a:xfrm>
            <a:off x="6629400" y="4572000"/>
            <a:ext cx="4709160" cy="1188720"/>
          </a:xfrm>
          <a:prstGeom prst="rect">
            <a:avLst/>
          </a:prstGeom>
          <a:noFill/>
          <a:ln/>
        </p:spPr>
        <p:txBody>
          <a:bodyPr wrap="square" lIns="381" tIns="381" rIns="381" bIns="381" rtlCol="0" anchor="ctr">
            <a:normAutofit/>
          </a:bodyPr>
          <a:lstStyle/>
          <a:p>
            <a:r>
              <a:rPr lang="en-US" sz="1350" dirty="0">
                <a:solidFill>
                  <a:srgbClr val="1E293B"/>
                </a:solidFill>
                <a:latin typeface="Aptos" pitchFamily="34" charset="0"/>
                <a:ea typeface="Aptos" pitchFamily="34" charset="-122"/>
                <a:cs typeface="Aptos" pitchFamily="34" charset="-120"/>
              </a:rPr>
              <a:t>No employer records, customer accounts, or internal fraud rules were used.</a:t>
            </a:r>
            <a:endParaRPr lang="en-US" sz="1350" dirty="0"/>
          </a:p>
          <a:p>
            <a:r>
              <a:rPr lang="en-US" sz="1350" dirty="0">
                <a:solidFill>
                  <a:srgbClr val="1E293B"/>
                </a:solidFill>
                <a:latin typeface="Aptos" pitchFamily="34" charset="0"/>
                <a:ea typeface="Aptos" pitchFamily="34" charset="-122"/>
                <a:cs typeface="Aptos" pitchFamily="34" charset="-120"/>
              </a:rPr>
              <a:t>Direct identifiers and high-cardinality fields were excluded from modeling.</a:t>
            </a:r>
            <a:endParaRPr lang="en-US" sz="1350" dirty="0"/>
          </a:p>
          <a:p>
            <a:r>
              <a:rPr lang="en-US" sz="1350" dirty="0">
                <a:solidFill>
                  <a:srgbClr val="1E293B"/>
                </a:solidFill>
                <a:latin typeface="Aptos" pitchFamily="34" charset="0"/>
                <a:ea typeface="Aptos" pitchFamily="34" charset="-122"/>
                <a:cs typeface="Aptos" pitchFamily="34" charset="-120"/>
              </a:rPr>
              <a:t>Dashboard is positioned as decision support, not fully automated production approval.</a:t>
            </a:r>
            <a:endParaRPr lang="en-US" sz="1350" dirty="0"/>
          </a:p>
        </p:txBody>
      </p:sp>
      <p:sp>
        <p:nvSpPr>
          <p:cNvPr id="19" name="Text 16"/>
          <p:cNvSpPr/>
          <p:nvPr/>
        </p:nvSpPr>
        <p:spPr>
          <a:xfrm>
            <a:off x="658368" y="6281928"/>
            <a:ext cx="9966960" cy="164592"/>
          </a:xfrm>
          <a:prstGeom prst="rect">
            <a:avLst/>
          </a:prstGeom>
          <a:noFill/>
          <a:ln/>
        </p:spPr>
        <p:txBody>
          <a:bodyPr wrap="square" lIns="0" tIns="0" rIns="0" bIns="0" rtlCol="0" anchor="ctr"/>
          <a:lstStyle/>
          <a:p>
            <a:pPr indent="0" marL="0">
              <a:buNone/>
            </a:pPr>
            <a:r>
              <a:rPr lang="en-US" sz="650" i="1" dirty="0">
                <a:solidFill>
                  <a:srgbClr val="64748B"/>
                </a:solidFill>
                <a:latin typeface="Aptos" pitchFamily="34" charset="0"/>
                <a:ea typeface="Aptos" pitchFamily="34" charset="-122"/>
                <a:cs typeface="Aptos" pitchFamily="34" charset="-120"/>
              </a:rPr>
              <a:t>Source: Kaggle Credit Card Transactions Fraud Detection Dataset; final paper data summary.</a:t>
            </a:r>
            <a:endParaRPr lang="en-US" sz="65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EDA RESULTS</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Exploratory Findings: Fraud Patterns Were Segment-Specific</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pic>
        <p:nvPicPr>
          <p:cNvPr id="5" name="Image 0" descr="/mnt/data/figure_2_fraud_rate_by_category.png">    </p:cNvPr>
          <p:cNvPicPr>
            <a:picLocks noChangeAspect="1"/>
          </p:cNvPicPr>
          <p:nvPr/>
        </p:nvPicPr>
        <p:blipFill>
          <a:blip r:embed="rId1"/>
          <a:stretch>
            <a:fillRect/>
          </a:stretch>
        </p:blipFill>
        <p:spPr>
          <a:xfrm>
            <a:off x="658368" y="1602109"/>
            <a:ext cx="5440680" cy="3790943"/>
          </a:xfrm>
          <a:prstGeom prst="rect">
            <a:avLst/>
          </a:prstGeom>
        </p:spPr>
      </p:pic>
      <p:pic>
        <p:nvPicPr>
          <p:cNvPr id="6" name="Image 1" descr="/mnt/data/figure_3_fraud_rate_by_hour.png">    </p:cNvPr>
          <p:cNvPicPr>
            <a:picLocks noChangeAspect="1"/>
          </p:cNvPicPr>
          <p:nvPr/>
        </p:nvPicPr>
        <p:blipFill>
          <a:blip r:embed="rId2"/>
          <a:stretch>
            <a:fillRect/>
          </a:stretch>
        </p:blipFill>
        <p:spPr>
          <a:xfrm>
            <a:off x="6263640" y="2185943"/>
            <a:ext cx="5303520" cy="2623274"/>
          </a:xfrm>
          <a:prstGeom prst="rect">
            <a:avLst/>
          </a:prstGeom>
        </p:spPr>
      </p:pic>
      <p:sp>
        <p:nvSpPr>
          <p:cNvPr id="7" name="Text 3"/>
          <p:cNvSpPr/>
          <p:nvPr/>
        </p:nvSpPr>
        <p:spPr>
          <a:xfrm>
            <a:off x="960120" y="5742432"/>
            <a:ext cx="10561320" cy="329184"/>
          </a:xfrm>
          <a:prstGeom prst="rect">
            <a:avLst/>
          </a:prstGeom>
          <a:noFill/>
          <a:ln/>
        </p:spPr>
        <p:txBody>
          <a:bodyPr wrap="square" lIns="254" tIns="254" rIns="254" bIns="254" rtlCol="0" anchor="ctr">
            <a:normAutofit/>
          </a:bodyPr>
          <a:lstStyle/>
          <a:p>
            <a:pPr algn="ctr" indent="0" marL="0">
              <a:buNone/>
            </a:pPr>
            <a:r>
              <a:rPr lang="en-US" sz="1420" dirty="0">
                <a:solidFill>
                  <a:srgbClr val="1E293B"/>
                </a:solidFill>
                <a:latin typeface="Aptos" pitchFamily="34" charset="0"/>
                <a:ea typeface="Aptos" pitchFamily="34" charset="-122"/>
                <a:cs typeface="Aptos" pitchFamily="34" charset="-120"/>
              </a:rPr>
              <a:t>Key pattern: online shopping, miscellaneous online, and grocery POS had the highest fraud rates. Fraud also rose sharply during late-night hours.</a:t>
            </a:r>
            <a:endParaRPr lang="en-US" sz="142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PREDICTIVE PERFORMANCE</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Model Comparison: Gradient Boosting Was the Clear Winner</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pic>
        <p:nvPicPr>
          <p:cNvPr id="5" name="Image 0" descr="/mnt/data/figure_9_model_performance_comparison.png">    </p:cNvPr>
          <p:cNvPicPr>
            <a:picLocks noChangeAspect="1"/>
          </p:cNvPicPr>
          <p:nvPr/>
        </p:nvPicPr>
        <p:blipFill>
          <a:blip r:embed="rId1"/>
          <a:stretch>
            <a:fillRect/>
          </a:stretch>
        </p:blipFill>
        <p:spPr>
          <a:xfrm>
            <a:off x="685800" y="1639167"/>
            <a:ext cx="6537960" cy="3533946"/>
          </a:xfrm>
          <a:prstGeom prst="rect">
            <a:avLst/>
          </a:prstGeom>
        </p:spPr>
      </p:pic>
      <p:sp>
        <p:nvSpPr>
          <p:cNvPr id="6" name="Text 3"/>
          <p:cNvSpPr/>
          <p:nvPr/>
        </p:nvSpPr>
        <p:spPr>
          <a:xfrm>
            <a:off x="7635240" y="1417320"/>
            <a:ext cx="2926080" cy="274320"/>
          </a:xfrm>
          <a:prstGeom prst="rect">
            <a:avLst/>
          </a:prstGeom>
          <a:noFill/>
          <a:ln/>
        </p:spPr>
        <p:txBody>
          <a:bodyPr wrap="square" lIns="0" tIns="0" rIns="0" bIns="0" rtlCol="0" anchor="ctr"/>
          <a:lstStyle/>
          <a:p>
            <a:pPr indent="0" marL="0">
              <a:buNone/>
            </a:pPr>
            <a:r>
              <a:rPr lang="en-US" sz="2000" b="1" dirty="0">
                <a:solidFill>
                  <a:srgbClr val="0B1F3A"/>
                </a:solidFill>
                <a:latin typeface="Aptos Display" pitchFamily="34" charset="0"/>
                <a:ea typeface="Aptos Display" pitchFamily="34" charset="-122"/>
                <a:cs typeface="Aptos Display" pitchFamily="34" charset="-120"/>
              </a:rPr>
              <a:t>Default 0.50 threshold</a:t>
            </a:r>
            <a:endParaRPr lang="en-US" sz="2000" dirty="0"/>
          </a:p>
        </p:txBody>
      </p:sp>
      <p:sp>
        <p:nvSpPr>
          <p:cNvPr id="7" name="Shape 4"/>
          <p:cNvSpPr/>
          <p:nvPr/>
        </p:nvSpPr>
        <p:spPr>
          <a:xfrm>
            <a:off x="7662672" y="1874520"/>
            <a:ext cx="1783080" cy="987552"/>
          </a:xfrm>
          <a:prstGeom prst="roundRect">
            <a:avLst>
              <a:gd name="adj" fmla="val 7407"/>
            </a:avLst>
          </a:prstGeom>
          <a:solidFill>
            <a:srgbClr val="FCEDE9"/>
          </a:solidFill>
          <a:ln w="10160">
            <a:solidFill>
              <a:srgbClr val="D8E2EE"/>
            </a:solidFill>
            <a:prstDash val="solid"/>
          </a:ln>
        </p:spPr>
      </p:sp>
      <p:sp>
        <p:nvSpPr>
          <p:cNvPr id="8" name="Text 5"/>
          <p:cNvSpPr/>
          <p:nvPr/>
        </p:nvSpPr>
        <p:spPr>
          <a:xfrm>
            <a:off x="7772400" y="2039112"/>
            <a:ext cx="1563624" cy="329184"/>
          </a:xfrm>
          <a:prstGeom prst="rect">
            <a:avLst/>
          </a:prstGeom>
          <a:noFill/>
          <a:ln/>
        </p:spPr>
        <p:txBody>
          <a:bodyPr wrap="square" lIns="0" tIns="0" rIns="0" bIns="0" rtlCol="0" anchor="ctr"/>
          <a:lstStyle/>
          <a:p>
            <a:pPr algn="ctr" indent="0" marL="0">
              <a:buNone/>
            </a:pPr>
            <a:r>
              <a:rPr lang="en-US" sz="2100" b="1" dirty="0">
                <a:solidFill>
                  <a:srgbClr val="E76F51"/>
                </a:solidFill>
                <a:latin typeface="Aptos Display" pitchFamily="34" charset="0"/>
                <a:ea typeface="Aptos Display" pitchFamily="34" charset="-122"/>
                <a:cs typeface="Aptos Display" pitchFamily="34" charset="-120"/>
              </a:rPr>
              <a:t>67,204</a:t>
            </a:r>
            <a:endParaRPr lang="en-US" sz="2100" dirty="0"/>
          </a:p>
        </p:txBody>
      </p:sp>
      <p:sp>
        <p:nvSpPr>
          <p:cNvPr id="9" name="Text 6"/>
          <p:cNvSpPr/>
          <p:nvPr/>
        </p:nvSpPr>
        <p:spPr>
          <a:xfrm>
            <a:off x="7790688" y="2441448"/>
            <a:ext cx="152704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logistic false positives</a:t>
            </a:r>
            <a:endParaRPr lang="en-US" sz="950" dirty="0"/>
          </a:p>
        </p:txBody>
      </p:sp>
      <p:sp>
        <p:nvSpPr>
          <p:cNvPr id="10" name="Shape 7"/>
          <p:cNvSpPr/>
          <p:nvPr/>
        </p:nvSpPr>
        <p:spPr>
          <a:xfrm>
            <a:off x="9674352" y="1874520"/>
            <a:ext cx="1783080" cy="987552"/>
          </a:xfrm>
          <a:prstGeom prst="roundRect">
            <a:avLst>
              <a:gd name="adj" fmla="val 7407"/>
            </a:avLst>
          </a:prstGeom>
          <a:solidFill>
            <a:srgbClr val="E6F6F3"/>
          </a:solidFill>
          <a:ln w="10160">
            <a:solidFill>
              <a:srgbClr val="D8E2EE"/>
            </a:solidFill>
            <a:prstDash val="solid"/>
          </a:ln>
        </p:spPr>
      </p:sp>
      <p:sp>
        <p:nvSpPr>
          <p:cNvPr id="11" name="Text 8"/>
          <p:cNvSpPr/>
          <p:nvPr/>
        </p:nvSpPr>
        <p:spPr>
          <a:xfrm>
            <a:off x="9784080" y="2039112"/>
            <a:ext cx="1563624" cy="329184"/>
          </a:xfrm>
          <a:prstGeom prst="rect">
            <a:avLst/>
          </a:prstGeom>
          <a:noFill/>
          <a:ln/>
        </p:spPr>
        <p:txBody>
          <a:bodyPr wrap="square" lIns="0" tIns="0" rIns="0" bIns="0" rtlCol="0" anchor="ctr"/>
          <a:lstStyle/>
          <a:p>
            <a:pPr algn="ctr" indent="0" marL="0">
              <a:buNone/>
            </a:pPr>
            <a:r>
              <a:rPr lang="en-US" sz="2100" b="1" dirty="0">
                <a:solidFill>
                  <a:srgbClr val="2A9D8F"/>
                </a:solidFill>
                <a:latin typeface="Aptos Display" pitchFamily="34" charset="0"/>
                <a:ea typeface="Aptos Display" pitchFamily="34" charset="-122"/>
                <a:cs typeface="Aptos Display" pitchFamily="34" charset="-120"/>
              </a:rPr>
              <a:t>163</a:t>
            </a:r>
            <a:endParaRPr lang="en-US" sz="2100" dirty="0"/>
          </a:p>
        </p:txBody>
      </p:sp>
      <p:sp>
        <p:nvSpPr>
          <p:cNvPr id="12" name="Text 9"/>
          <p:cNvSpPr/>
          <p:nvPr/>
        </p:nvSpPr>
        <p:spPr>
          <a:xfrm>
            <a:off x="9802368" y="2441448"/>
            <a:ext cx="152704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gradient boosting false positives</a:t>
            </a:r>
            <a:endParaRPr lang="en-US" sz="950" dirty="0"/>
          </a:p>
        </p:txBody>
      </p:sp>
      <p:sp>
        <p:nvSpPr>
          <p:cNvPr id="13" name="Shape 10"/>
          <p:cNvSpPr/>
          <p:nvPr/>
        </p:nvSpPr>
        <p:spPr>
          <a:xfrm>
            <a:off x="7662672" y="3154680"/>
            <a:ext cx="1783080" cy="987552"/>
          </a:xfrm>
          <a:prstGeom prst="roundRect">
            <a:avLst>
              <a:gd name="adj" fmla="val 7407"/>
            </a:avLst>
          </a:prstGeom>
          <a:solidFill>
            <a:srgbClr val="FEF4E8"/>
          </a:solidFill>
          <a:ln w="10160">
            <a:solidFill>
              <a:srgbClr val="D8E2EE"/>
            </a:solidFill>
            <a:prstDash val="solid"/>
          </a:ln>
        </p:spPr>
      </p:sp>
      <p:sp>
        <p:nvSpPr>
          <p:cNvPr id="14" name="Text 11"/>
          <p:cNvSpPr/>
          <p:nvPr/>
        </p:nvSpPr>
        <p:spPr>
          <a:xfrm>
            <a:off x="7772400" y="3319272"/>
            <a:ext cx="1563624" cy="329184"/>
          </a:xfrm>
          <a:prstGeom prst="rect">
            <a:avLst/>
          </a:prstGeom>
          <a:noFill/>
          <a:ln/>
        </p:spPr>
        <p:txBody>
          <a:bodyPr wrap="square" lIns="0" tIns="0" rIns="0" bIns="0" rtlCol="0" anchor="ctr"/>
          <a:lstStyle/>
          <a:p>
            <a:pPr algn="ctr" indent="0" marL="0">
              <a:buNone/>
            </a:pPr>
            <a:r>
              <a:rPr lang="en-US" sz="2100" b="1" dirty="0">
                <a:solidFill>
                  <a:srgbClr val="F4A261"/>
                </a:solidFill>
                <a:latin typeface="Aptos Display" pitchFamily="34" charset="0"/>
                <a:ea typeface="Aptos Display" pitchFamily="34" charset="-122"/>
                <a:cs typeface="Aptos Display" pitchFamily="34" charset="-120"/>
              </a:rPr>
              <a:t>2.31%</a:t>
            </a:r>
            <a:endParaRPr lang="en-US" sz="2100" dirty="0"/>
          </a:p>
        </p:txBody>
      </p:sp>
      <p:sp>
        <p:nvSpPr>
          <p:cNvPr id="15" name="Text 12"/>
          <p:cNvSpPr/>
          <p:nvPr/>
        </p:nvSpPr>
        <p:spPr>
          <a:xfrm>
            <a:off x="7790688" y="3721608"/>
            <a:ext cx="152704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logistic precision</a:t>
            </a:r>
            <a:endParaRPr lang="en-US" sz="950" dirty="0"/>
          </a:p>
        </p:txBody>
      </p:sp>
      <p:sp>
        <p:nvSpPr>
          <p:cNvPr id="16" name="Shape 13"/>
          <p:cNvSpPr/>
          <p:nvPr/>
        </p:nvSpPr>
        <p:spPr>
          <a:xfrm>
            <a:off x="9674352" y="3154680"/>
            <a:ext cx="1783080" cy="987552"/>
          </a:xfrm>
          <a:prstGeom prst="roundRect">
            <a:avLst>
              <a:gd name="adj" fmla="val 7407"/>
            </a:avLst>
          </a:prstGeom>
          <a:solidFill>
            <a:srgbClr val="E6F6F3"/>
          </a:solidFill>
          <a:ln w="10160">
            <a:solidFill>
              <a:srgbClr val="D8E2EE"/>
            </a:solidFill>
            <a:prstDash val="solid"/>
          </a:ln>
        </p:spPr>
      </p:sp>
      <p:sp>
        <p:nvSpPr>
          <p:cNvPr id="17" name="Text 14"/>
          <p:cNvSpPr/>
          <p:nvPr/>
        </p:nvSpPr>
        <p:spPr>
          <a:xfrm>
            <a:off x="9784080" y="3319272"/>
            <a:ext cx="1563624" cy="329184"/>
          </a:xfrm>
          <a:prstGeom prst="rect">
            <a:avLst/>
          </a:prstGeom>
          <a:noFill/>
          <a:ln/>
        </p:spPr>
        <p:txBody>
          <a:bodyPr wrap="square" lIns="0" tIns="0" rIns="0" bIns="0" rtlCol="0" anchor="ctr"/>
          <a:lstStyle/>
          <a:p>
            <a:pPr algn="ctr" indent="0" marL="0">
              <a:buNone/>
            </a:pPr>
            <a:r>
              <a:rPr lang="en-US" sz="2100" b="1" dirty="0">
                <a:solidFill>
                  <a:srgbClr val="2A9D8F"/>
                </a:solidFill>
                <a:latin typeface="Aptos Display" pitchFamily="34" charset="0"/>
                <a:ea typeface="Aptos Display" pitchFamily="34" charset="-122"/>
                <a:cs typeface="Aptos Display" pitchFamily="34" charset="-120"/>
              </a:rPr>
              <a:t>91.14%</a:t>
            </a:r>
            <a:endParaRPr lang="en-US" sz="2100" dirty="0"/>
          </a:p>
        </p:txBody>
      </p:sp>
      <p:sp>
        <p:nvSpPr>
          <p:cNvPr id="18" name="Text 15"/>
          <p:cNvSpPr/>
          <p:nvPr/>
        </p:nvSpPr>
        <p:spPr>
          <a:xfrm>
            <a:off x="9802368" y="3721608"/>
            <a:ext cx="152704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gradient boosting precision</a:t>
            </a:r>
            <a:endParaRPr lang="en-US" sz="950" dirty="0"/>
          </a:p>
        </p:txBody>
      </p:sp>
      <p:sp>
        <p:nvSpPr>
          <p:cNvPr id="19" name="Text 16"/>
          <p:cNvSpPr/>
          <p:nvPr/>
        </p:nvSpPr>
        <p:spPr>
          <a:xfrm>
            <a:off x="7662672" y="4636008"/>
            <a:ext cx="3703320" cy="594360"/>
          </a:xfrm>
          <a:prstGeom prst="rect">
            <a:avLst/>
          </a:prstGeom>
          <a:noFill/>
          <a:ln/>
        </p:spPr>
        <p:txBody>
          <a:bodyPr wrap="square" lIns="254" tIns="254" rIns="254" bIns="254" rtlCol="0" anchor="ctr">
            <a:normAutofit/>
          </a:bodyPr>
          <a:lstStyle/>
          <a:p>
            <a:pPr indent="0" marL="0">
              <a:buNone/>
            </a:pPr>
            <a:r>
              <a:rPr lang="en-US" sz="1350" dirty="0">
                <a:solidFill>
                  <a:srgbClr val="1E293B"/>
                </a:solidFill>
                <a:latin typeface="Aptos" pitchFamily="34" charset="0"/>
                <a:ea typeface="Aptos" pitchFamily="34" charset="-122"/>
                <a:cs typeface="Aptos" pitchFamily="34" charset="-120"/>
              </a:rPr>
              <a:t>At the same threshold, gradient boosting detected more fraud and reduced false positives by 67,041 compared with logistic regression.</a:t>
            </a:r>
            <a:endParaRPr lang="en-US" sz="135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DECISION TRADEOFF</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Threshold Analysis: The Cutoff Is a Business Decision</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pic>
        <p:nvPicPr>
          <p:cNvPr id="5" name="Image 0" descr="/mnt/data/figure_5_classification_errors_by_threshold.png">    </p:cNvPr>
          <p:cNvPicPr>
            <a:picLocks noChangeAspect="1"/>
          </p:cNvPicPr>
          <p:nvPr/>
        </p:nvPicPr>
        <p:blipFill>
          <a:blip r:embed="rId1"/>
          <a:stretch>
            <a:fillRect/>
          </a:stretch>
        </p:blipFill>
        <p:spPr>
          <a:xfrm>
            <a:off x="713232" y="1639714"/>
            <a:ext cx="5623560" cy="3349972"/>
          </a:xfrm>
          <a:prstGeom prst="rect">
            <a:avLst/>
          </a:prstGeom>
        </p:spPr>
      </p:pic>
      <p:pic>
        <p:nvPicPr>
          <p:cNvPr id="6" name="Image 1" descr="/mnt/data/figure_4_total_cost_by_threshold.png">    </p:cNvPr>
          <p:cNvPicPr>
            <a:picLocks noChangeAspect="1"/>
          </p:cNvPicPr>
          <p:nvPr/>
        </p:nvPicPr>
        <p:blipFill>
          <a:blip r:embed="rId2"/>
          <a:stretch>
            <a:fillRect/>
          </a:stretch>
        </p:blipFill>
        <p:spPr>
          <a:xfrm>
            <a:off x="6510528" y="1775892"/>
            <a:ext cx="5166360" cy="3077617"/>
          </a:xfrm>
          <a:prstGeom prst="rect">
            <a:avLst/>
          </a:prstGeom>
        </p:spPr>
      </p:pic>
      <p:sp>
        <p:nvSpPr>
          <p:cNvPr id="7" name="Text 3"/>
          <p:cNvSpPr/>
          <p:nvPr/>
        </p:nvSpPr>
        <p:spPr>
          <a:xfrm>
            <a:off x="914400" y="5504688"/>
            <a:ext cx="10378440" cy="420624"/>
          </a:xfrm>
          <a:prstGeom prst="rect">
            <a:avLst/>
          </a:prstGeom>
          <a:noFill/>
          <a:ln/>
        </p:spPr>
        <p:txBody>
          <a:bodyPr wrap="square" lIns="254" tIns="254" rIns="254" bIns="254" rtlCol="0" anchor="ctr">
            <a:normAutofit/>
          </a:bodyPr>
          <a:lstStyle/>
          <a:p>
            <a:pPr algn="ctr" indent="0" marL="0">
              <a:buNone/>
            </a:pPr>
            <a:r>
              <a:rPr lang="en-US" sz="1380" dirty="0">
                <a:solidFill>
                  <a:srgbClr val="1E293B"/>
                </a:solidFill>
                <a:latin typeface="Aptos" pitchFamily="34" charset="0"/>
                <a:ea typeface="Aptos" pitchFamily="34" charset="-122"/>
                <a:cs typeface="Aptos" pitchFamily="34" charset="-120"/>
              </a:rPr>
              <a:t>Lower thresholds catch more fraud but can increase false positives. Higher thresholds reduce alerts but may miss more fraud. The preferred threshold depends on cost, customer friction, and review capacity.</a:t>
            </a:r>
            <a:endParaRPr lang="en-US" sz="138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FALSE-POSITIVE DEEP DIVE</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False-Positive Impact: The Burden Was Not Evenly Distributed</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pic>
        <p:nvPicPr>
          <p:cNvPr id="5" name="Image 0" descr="/mnt/data/figure_6_false_positive_rate_by_category.png">    </p:cNvPr>
          <p:cNvPicPr>
            <a:picLocks noChangeAspect="1"/>
          </p:cNvPicPr>
          <p:nvPr/>
        </p:nvPicPr>
        <p:blipFill>
          <a:blip r:embed="rId1"/>
          <a:stretch>
            <a:fillRect/>
          </a:stretch>
        </p:blipFill>
        <p:spPr>
          <a:xfrm>
            <a:off x="713232" y="1444890"/>
            <a:ext cx="5760720" cy="4013939"/>
          </a:xfrm>
          <a:prstGeom prst="rect">
            <a:avLst/>
          </a:prstGeom>
        </p:spPr>
      </p:pic>
      <p:pic>
        <p:nvPicPr>
          <p:cNvPr id="6" name="Image 1" descr="/mnt/data/figure_7_false_positive_rate_by_hour.png">    </p:cNvPr>
          <p:cNvPicPr>
            <a:picLocks noChangeAspect="1"/>
          </p:cNvPicPr>
          <p:nvPr/>
        </p:nvPicPr>
        <p:blipFill>
          <a:blip r:embed="rId2"/>
          <a:stretch>
            <a:fillRect/>
          </a:stretch>
        </p:blipFill>
        <p:spPr>
          <a:xfrm>
            <a:off x="6656832" y="2275909"/>
            <a:ext cx="4754880" cy="2351901"/>
          </a:xfrm>
          <a:prstGeom prst="rect">
            <a:avLst/>
          </a:prstGeom>
        </p:spPr>
      </p:pic>
      <p:sp>
        <p:nvSpPr>
          <p:cNvPr id="7" name="Text 3"/>
          <p:cNvSpPr/>
          <p:nvPr/>
        </p:nvSpPr>
        <p:spPr>
          <a:xfrm>
            <a:off x="914400" y="5715000"/>
            <a:ext cx="10149840" cy="420624"/>
          </a:xfrm>
          <a:prstGeom prst="rect">
            <a:avLst/>
          </a:prstGeom>
          <a:noFill/>
          <a:ln/>
        </p:spPr>
        <p:txBody>
          <a:bodyPr wrap="square" lIns="254" tIns="254" rIns="254" bIns="254" rtlCol="0" anchor="ctr">
            <a:normAutofit/>
          </a:bodyPr>
          <a:lstStyle/>
          <a:p>
            <a:pPr algn="ctr" indent="0" marL="0">
              <a:buNone/>
            </a:pPr>
            <a:r>
              <a:rPr lang="en-US" sz="1200" dirty="0">
                <a:solidFill>
                  <a:srgbClr val="1E293B"/>
                </a:solidFill>
                <a:latin typeface="Aptos" pitchFamily="34" charset="0"/>
                <a:ea typeface="Aptos" pitchFamily="34" charset="-122"/>
                <a:cs typeface="Aptos" pitchFamily="34" charset="-120"/>
              </a:rPr>
              <a:t>Operational takeaway: travel had the highest false-positive rate (13.02%), and 11 a.m. had the highest hourly false-positive rate (2.83%). High-impact segments may need step-up authentication instead of automatic decline.</a:t>
            </a:r>
            <a:endParaRPr lang="en-US" sz="120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BUSINESS RECOMMENDATION</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Cost Scenario Analysis: Recommended Model and Threshold</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pic>
        <p:nvPicPr>
          <p:cNvPr id="5" name="Image 0" descr="/mnt/data/figure_8_best_model_cost_comparison.png">    </p:cNvPr>
          <p:cNvPicPr>
            <a:picLocks noChangeAspect="1"/>
          </p:cNvPicPr>
          <p:nvPr/>
        </p:nvPicPr>
        <p:blipFill>
          <a:blip r:embed="rId1"/>
          <a:stretch>
            <a:fillRect/>
          </a:stretch>
        </p:blipFill>
        <p:spPr>
          <a:xfrm>
            <a:off x="685800" y="1536129"/>
            <a:ext cx="6355080" cy="3785741"/>
          </a:xfrm>
          <a:prstGeom prst="rect">
            <a:avLst/>
          </a:prstGeom>
        </p:spPr>
      </p:pic>
      <p:sp>
        <p:nvSpPr>
          <p:cNvPr id="6" name="Text 3"/>
          <p:cNvSpPr/>
          <p:nvPr/>
        </p:nvSpPr>
        <p:spPr>
          <a:xfrm>
            <a:off x="7360920" y="1417320"/>
            <a:ext cx="3749040" cy="292608"/>
          </a:xfrm>
          <a:prstGeom prst="rect">
            <a:avLst/>
          </a:prstGeom>
          <a:noFill/>
          <a:ln/>
        </p:spPr>
        <p:txBody>
          <a:bodyPr wrap="square" lIns="0" tIns="0" rIns="0" bIns="0" rtlCol="0" anchor="ctr"/>
          <a:lstStyle/>
          <a:p>
            <a:pPr indent="0" marL="0">
              <a:buNone/>
            </a:pPr>
            <a:r>
              <a:rPr lang="en-US" sz="1800" b="1" dirty="0">
                <a:solidFill>
                  <a:srgbClr val="0B1F3A"/>
                </a:solidFill>
                <a:latin typeface="Aptos Display" pitchFamily="34" charset="0"/>
                <a:ea typeface="Aptos Display" pitchFamily="34" charset="-122"/>
                <a:cs typeface="Aptos Display" pitchFamily="34" charset="-120"/>
              </a:rPr>
              <a:t>Moderate-cost recommendation</a:t>
            </a:r>
            <a:endParaRPr lang="en-US" sz="1800" dirty="0"/>
          </a:p>
        </p:txBody>
      </p:sp>
      <p:sp>
        <p:nvSpPr>
          <p:cNvPr id="7" name="Shape 4"/>
          <p:cNvSpPr/>
          <p:nvPr/>
        </p:nvSpPr>
        <p:spPr>
          <a:xfrm>
            <a:off x="7360920" y="1874520"/>
            <a:ext cx="1508760" cy="987552"/>
          </a:xfrm>
          <a:prstGeom prst="roundRect">
            <a:avLst>
              <a:gd name="adj" fmla="val 7407"/>
            </a:avLst>
          </a:prstGeom>
          <a:solidFill>
            <a:srgbClr val="E6F6F3"/>
          </a:solidFill>
          <a:ln w="10160">
            <a:solidFill>
              <a:srgbClr val="D8E2EE"/>
            </a:solidFill>
            <a:prstDash val="solid"/>
          </a:ln>
        </p:spPr>
      </p:sp>
      <p:sp>
        <p:nvSpPr>
          <p:cNvPr id="8" name="Text 5"/>
          <p:cNvSpPr/>
          <p:nvPr/>
        </p:nvSpPr>
        <p:spPr>
          <a:xfrm>
            <a:off x="7470648" y="2039112"/>
            <a:ext cx="1289304" cy="329184"/>
          </a:xfrm>
          <a:prstGeom prst="rect">
            <a:avLst/>
          </a:prstGeom>
          <a:noFill/>
          <a:ln/>
        </p:spPr>
        <p:txBody>
          <a:bodyPr wrap="square" lIns="0" tIns="0" rIns="0" bIns="0" rtlCol="0" anchor="ctr"/>
          <a:lstStyle/>
          <a:p>
            <a:pPr algn="ctr" indent="0" marL="0">
              <a:buNone/>
            </a:pPr>
            <a:r>
              <a:rPr lang="en-US" sz="2100" b="1" dirty="0">
                <a:solidFill>
                  <a:srgbClr val="2A9D8F"/>
                </a:solidFill>
                <a:latin typeface="Aptos Display" pitchFamily="34" charset="0"/>
                <a:ea typeface="Aptos Display" pitchFamily="34" charset="-122"/>
                <a:cs typeface="Aptos Display" pitchFamily="34" charset="-120"/>
              </a:rPr>
              <a:t>Gradient Boosting</a:t>
            </a:r>
            <a:endParaRPr lang="en-US" sz="2100" dirty="0"/>
          </a:p>
        </p:txBody>
      </p:sp>
      <p:sp>
        <p:nvSpPr>
          <p:cNvPr id="9" name="Text 6"/>
          <p:cNvSpPr/>
          <p:nvPr/>
        </p:nvSpPr>
        <p:spPr>
          <a:xfrm>
            <a:off x="7488936" y="2441448"/>
            <a:ext cx="125272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recommended model</a:t>
            </a:r>
            <a:endParaRPr lang="en-US" sz="950" dirty="0"/>
          </a:p>
        </p:txBody>
      </p:sp>
      <p:sp>
        <p:nvSpPr>
          <p:cNvPr id="10" name="Shape 7"/>
          <p:cNvSpPr/>
          <p:nvPr/>
        </p:nvSpPr>
        <p:spPr>
          <a:xfrm>
            <a:off x="9098280" y="1874520"/>
            <a:ext cx="1508760" cy="987552"/>
          </a:xfrm>
          <a:prstGeom prst="roundRect">
            <a:avLst>
              <a:gd name="adj" fmla="val 7407"/>
            </a:avLst>
          </a:prstGeom>
          <a:solidFill>
            <a:srgbClr val="EAF2F8"/>
          </a:solidFill>
          <a:ln w="10160">
            <a:solidFill>
              <a:srgbClr val="D8E2EE"/>
            </a:solidFill>
            <a:prstDash val="solid"/>
          </a:ln>
        </p:spPr>
      </p:sp>
      <p:sp>
        <p:nvSpPr>
          <p:cNvPr id="11" name="Text 8"/>
          <p:cNvSpPr/>
          <p:nvPr/>
        </p:nvSpPr>
        <p:spPr>
          <a:xfrm>
            <a:off x="9208008" y="2039112"/>
            <a:ext cx="1289304" cy="329184"/>
          </a:xfrm>
          <a:prstGeom prst="rect">
            <a:avLst/>
          </a:prstGeom>
          <a:noFill/>
          <a:ln/>
        </p:spPr>
        <p:txBody>
          <a:bodyPr wrap="square" lIns="0" tIns="0" rIns="0" bIns="0" rtlCol="0" anchor="ctr"/>
          <a:lstStyle/>
          <a:p>
            <a:pPr algn="ctr" indent="0" marL="0">
              <a:buNone/>
            </a:pPr>
            <a:r>
              <a:rPr lang="en-US" sz="2100" b="1" dirty="0">
                <a:solidFill>
                  <a:srgbClr val="1F4E79"/>
                </a:solidFill>
                <a:latin typeface="Aptos Display" pitchFamily="34" charset="0"/>
                <a:ea typeface="Aptos Display" pitchFamily="34" charset="-122"/>
                <a:cs typeface="Aptos Display" pitchFamily="34" charset="-120"/>
              </a:rPr>
              <a:t>0.10</a:t>
            </a:r>
            <a:endParaRPr lang="en-US" sz="2100" dirty="0"/>
          </a:p>
        </p:txBody>
      </p:sp>
      <p:sp>
        <p:nvSpPr>
          <p:cNvPr id="12" name="Text 9"/>
          <p:cNvSpPr/>
          <p:nvPr/>
        </p:nvSpPr>
        <p:spPr>
          <a:xfrm>
            <a:off x="9226296" y="2441448"/>
            <a:ext cx="125272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recommended threshold</a:t>
            </a:r>
            <a:endParaRPr lang="en-US" sz="950" dirty="0"/>
          </a:p>
        </p:txBody>
      </p:sp>
      <p:sp>
        <p:nvSpPr>
          <p:cNvPr id="13" name="Shape 10"/>
          <p:cNvSpPr/>
          <p:nvPr/>
        </p:nvSpPr>
        <p:spPr>
          <a:xfrm>
            <a:off x="7360920" y="3163824"/>
            <a:ext cx="1508760" cy="987552"/>
          </a:xfrm>
          <a:prstGeom prst="roundRect">
            <a:avLst>
              <a:gd name="adj" fmla="val 7407"/>
            </a:avLst>
          </a:prstGeom>
          <a:solidFill>
            <a:srgbClr val="FEF4E8"/>
          </a:solidFill>
          <a:ln w="10160">
            <a:solidFill>
              <a:srgbClr val="D8E2EE"/>
            </a:solidFill>
            <a:prstDash val="solid"/>
          </a:ln>
        </p:spPr>
      </p:sp>
      <p:sp>
        <p:nvSpPr>
          <p:cNvPr id="14" name="Text 11"/>
          <p:cNvSpPr/>
          <p:nvPr/>
        </p:nvSpPr>
        <p:spPr>
          <a:xfrm>
            <a:off x="7470648" y="3328416"/>
            <a:ext cx="1289304" cy="329184"/>
          </a:xfrm>
          <a:prstGeom prst="rect">
            <a:avLst/>
          </a:prstGeom>
          <a:noFill/>
          <a:ln/>
        </p:spPr>
        <p:txBody>
          <a:bodyPr wrap="square" lIns="0" tIns="0" rIns="0" bIns="0" rtlCol="0" anchor="ctr"/>
          <a:lstStyle/>
          <a:p>
            <a:pPr algn="ctr" indent="0" marL="0">
              <a:buNone/>
            </a:pPr>
            <a:r>
              <a:rPr lang="en-US" sz="2100" b="1" dirty="0">
                <a:solidFill>
                  <a:srgbClr val="F4A261"/>
                </a:solidFill>
                <a:latin typeface="Aptos Display" pitchFamily="34" charset="0"/>
                <a:ea typeface="Aptos Display" pitchFamily="34" charset="-122"/>
                <a:cs typeface="Aptos Display" pitchFamily="34" charset="-120"/>
              </a:rPr>
              <a:t>$93,392</a:t>
            </a:r>
            <a:endParaRPr lang="en-US" sz="2100" dirty="0"/>
          </a:p>
        </p:txBody>
      </p:sp>
      <p:sp>
        <p:nvSpPr>
          <p:cNvPr id="15" name="Text 12"/>
          <p:cNvSpPr/>
          <p:nvPr/>
        </p:nvSpPr>
        <p:spPr>
          <a:xfrm>
            <a:off x="7488936" y="3730752"/>
            <a:ext cx="125272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estimated total cost</a:t>
            </a:r>
            <a:endParaRPr lang="en-US" sz="950" dirty="0"/>
          </a:p>
        </p:txBody>
      </p:sp>
      <p:sp>
        <p:nvSpPr>
          <p:cNvPr id="16" name="Shape 13"/>
          <p:cNvSpPr/>
          <p:nvPr/>
        </p:nvSpPr>
        <p:spPr>
          <a:xfrm>
            <a:off x="9098280" y="3163824"/>
            <a:ext cx="1508760" cy="987552"/>
          </a:xfrm>
          <a:prstGeom prst="roundRect">
            <a:avLst>
              <a:gd name="adj" fmla="val 7407"/>
            </a:avLst>
          </a:prstGeom>
          <a:solidFill>
            <a:srgbClr val="FCEDE9"/>
          </a:solidFill>
          <a:ln w="10160">
            <a:solidFill>
              <a:srgbClr val="D8E2EE"/>
            </a:solidFill>
            <a:prstDash val="solid"/>
          </a:ln>
        </p:spPr>
      </p:sp>
      <p:sp>
        <p:nvSpPr>
          <p:cNvPr id="17" name="Text 14"/>
          <p:cNvSpPr/>
          <p:nvPr/>
        </p:nvSpPr>
        <p:spPr>
          <a:xfrm>
            <a:off x="9208008" y="3328416"/>
            <a:ext cx="1289304" cy="329184"/>
          </a:xfrm>
          <a:prstGeom prst="rect">
            <a:avLst/>
          </a:prstGeom>
          <a:noFill/>
          <a:ln/>
        </p:spPr>
        <p:txBody>
          <a:bodyPr wrap="square" lIns="0" tIns="0" rIns="0" bIns="0" rtlCol="0" anchor="ctr"/>
          <a:lstStyle/>
          <a:p>
            <a:pPr algn="ctr" indent="0" marL="0">
              <a:buNone/>
            </a:pPr>
            <a:r>
              <a:rPr lang="en-US" sz="2100" b="1" dirty="0">
                <a:solidFill>
                  <a:srgbClr val="E76F51"/>
                </a:solidFill>
                <a:latin typeface="Aptos Display" pitchFamily="34" charset="0"/>
                <a:ea typeface="Aptos Display" pitchFamily="34" charset="-122"/>
                <a:cs typeface="Aptos Display" pitchFamily="34" charset="-120"/>
              </a:rPr>
              <a:t>1,173</a:t>
            </a:r>
            <a:endParaRPr lang="en-US" sz="2100" dirty="0"/>
          </a:p>
        </p:txBody>
      </p:sp>
      <p:sp>
        <p:nvSpPr>
          <p:cNvPr id="18" name="Text 15"/>
          <p:cNvSpPr/>
          <p:nvPr/>
        </p:nvSpPr>
        <p:spPr>
          <a:xfrm>
            <a:off x="9226296" y="3730752"/>
            <a:ext cx="1252728" cy="256032"/>
          </a:xfrm>
          <a:prstGeom prst="rect">
            <a:avLst/>
          </a:prstGeom>
          <a:noFill/>
          <a:ln/>
        </p:spPr>
        <p:txBody>
          <a:bodyPr wrap="square" lIns="0" tIns="0" rIns="0" bIns="0" rtlCol="0" anchor="ctr">
            <a:normAutofit/>
          </a:bodyPr>
          <a:lstStyle/>
          <a:p>
            <a:pPr algn="ctr" indent="0" marL="0">
              <a:buNone/>
            </a:pPr>
            <a:r>
              <a:rPr lang="en-US" sz="950" dirty="0">
                <a:solidFill>
                  <a:srgbClr val="475569"/>
                </a:solidFill>
                <a:latin typeface="Aptos" pitchFamily="34" charset="0"/>
                <a:ea typeface="Aptos" pitchFamily="34" charset="-122"/>
                <a:cs typeface="Aptos" pitchFamily="34" charset="-120"/>
              </a:rPr>
              <a:t>false positives</a:t>
            </a:r>
            <a:endParaRPr lang="en-US" sz="950" dirty="0"/>
          </a:p>
        </p:txBody>
      </p:sp>
      <p:sp>
        <p:nvSpPr>
          <p:cNvPr id="19" name="Text 16"/>
          <p:cNvSpPr/>
          <p:nvPr/>
        </p:nvSpPr>
        <p:spPr>
          <a:xfrm>
            <a:off x="7360920" y="4599432"/>
            <a:ext cx="3566160" cy="621792"/>
          </a:xfrm>
          <a:prstGeom prst="rect">
            <a:avLst/>
          </a:prstGeom>
          <a:noFill/>
          <a:ln/>
        </p:spPr>
        <p:txBody>
          <a:bodyPr wrap="square" lIns="254" tIns="254" rIns="254" bIns="254" rtlCol="0" anchor="ctr">
            <a:normAutofit/>
          </a:bodyPr>
          <a:lstStyle/>
          <a:p>
            <a:pPr indent="0" marL="0">
              <a:buNone/>
            </a:pPr>
            <a:r>
              <a:rPr lang="en-US" sz="1320" dirty="0">
                <a:solidFill>
                  <a:srgbClr val="1E293B"/>
                </a:solidFill>
                <a:latin typeface="Aptos" pitchFamily="34" charset="0"/>
                <a:ea typeface="Aptos" pitchFamily="34" charset="-122"/>
                <a:cs typeface="Aptos" pitchFamily="34" charset="-120"/>
              </a:rPr>
              <a:t>This recommendation minimizes estimated total cost under the moderate scenario while retaining higher fraud capture than the 0.50 cutoff.</a:t>
            </a:r>
            <a:endParaRPr lang="en-US" sz="132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pPr indent="0" marL="0">
              <a:buNone/>
            </a:pPr>
            <a:r>
              <a:rPr lang="en-US" sz="850" b="1" dirty="0">
                <a:solidFill>
                  <a:srgbClr val="2A9D8F"/>
                </a:solidFill>
                <a:latin typeface="Aptos" pitchFamily="34" charset="0"/>
                <a:ea typeface="Aptos" pitchFamily="34" charset="-122"/>
                <a:cs typeface="Aptos" pitchFamily="34" charset="-120"/>
              </a:rPr>
              <a:t>DECISION SUPPORT</a:t>
            </a:r>
            <a:endParaRPr lang="en-US" sz="850" dirty="0"/>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Power BI Dashboard: Turning Model Outputs into Decisions</a:t>
            </a:r>
            <a:endParaRPr lang="en-US" sz="2700" dirty="0"/>
          </a:p>
        </p:txBody>
      </p:sp>
      <p:sp>
        <p:nvSpPr>
          <p:cNvPr id="4" name="Shape 2"/>
          <p:cNvSpPr/>
          <p:nvPr/>
        </p:nvSpPr>
        <p:spPr>
          <a:xfrm>
            <a:off x="658368" y="1161288"/>
            <a:ext cx="1097280" cy="0"/>
          </a:xfrm>
          <a:prstGeom prst="line">
            <a:avLst/>
          </a:prstGeom>
          <a:noFill/>
          <a:ln w="38100">
            <a:solidFill>
              <a:srgbClr val="2A9D8F"/>
            </a:solidFill>
            <a:prstDash val="solid"/>
          </a:ln>
        </p:spPr>
      </p:sp>
      <p:sp>
        <p:nvSpPr>
          <p:cNvPr id="5" name="Shape 3"/>
          <p:cNvSpPr/>
          <p:nvPr/>
        </p:nvSpPr>
        <p:spPr>
          <a:xfrm>
            <a:off x="658368" y="1298448"/>
            <a:ext cx="7635240" cy="4498848"/>
          </a:xfrm>
          <a:prstGeom prst="roundRect">
            <a:avLst>
              <a:gd name="adj" fmla="val 1220"/>
            </a:avLst>
          </a:prstGeom>
          <a:solidFill>
            <a:srgbClr val="FFFFFF"/>
          </a:solidFill>
          <a:ln w="10160">
            <a:solidFill>
              <a:srgbClr val="D8E2EE"/>
            </a:solidFill>
            <a:prstDash val="solid"/>
          </a:ln>
        </p:spPr>
      </p:sp>
      <p:pic>
        <p:nvPicPr>
          <p:cNvPr id="6" name="Image 0" descr="/mnt/data/dashboard_render/page-1.png">    </p:cNvPr>
          <p:cNvPicPr>
            <a:picLocks noChangeAspect="1"/>
          </p:cNvPicPr>
          <p:nvPr/>
        </p:nvPicPr>
        <p:blipFill>
          <a:blip r:embed="rId1"/>
          <a:stretch>
            <a:fillRect/>
          </a:stretch>
        </p:blipFill>
        <p:spPr>
          <a:xfrm>
            <a:off x="877788" y="1444752"/>
            <a:ext cx="7196399" cy="4160520"/>
          </a:xfrm>
          <a:prstGeom prst="rect">
            <a:avLst/>
          </a:prstGeom>
        </p:spPr>
      </p:pic>
      <p:sp>
        <p:nvSpPr>
          <p:cNvPr id="7" name="Text 4"/>
          <p:cNvSpPr/>
          <p:nvPr/>
        </p:nvSpPr>
        <p:spPr>
          <a:xfrm>
            <a:off x="8531352" y="1417320"/>
            <a:ext cx="3017520" cy="274320"/>
          </a:xfrm>
          <a:prstGeom prst="rect">
            <a:avLst/>
          </a:prstGeom>
          <a:noFill/>
          <a:ln/>
        </p:spPr>
        <p:txBody>
          <a:bodyPr wrap="square" lIns="0" tIns="0" rIns="0" bIns="0" rtlCol="0" anchor="ctr">
            <a:normAutofit/>
          </a:bodyPr>
          <a:lstStyle/>
          <a:p>
            <a:pPr indent="0" marL="0">
              <a:buNone/>
            </a:pPr>
            <a:r>
              <a:rPr lang="en-US" sz="1640" b="1" dirty="0">
                <a:solidFill>
                  <a:srgbClr val="0B1F3A"/>
                </a:solidFill>
                <a:latin typeface="Aptos Display" pitchFamily="34" charset="0"/>
                <a:ea typeface="Aptos Display" pitchFamily="34" charset="-122"/>
                <a:cs typeface="Aptos Display" pitchFamily="34" charset="-120"/>
              </a:rPr>
              <a:t>Four-page decision-support report</a:t>
            </a:r>
            <a:endParaRPr lang="en-US" sz="1640" dirty="0"/>
          </a:p>
        </p:txBody>
      </p:sp>
      <p:sp>
        <p:nvSpPr>
          <p:cNvPr id="8" name="Shape 5"/>
          <p:cNvSpPr/>
          <p:nvPr/>
        </p:nvSpPr>
        <p:spPr>
          <a:xfrm>
            <a:off x="8531352" y="1883664"/>
            <a:ext cx="2999232" cy="758952"/>
          </a:xfrm>
          <a:prstGeom prst="roundRect">
            <a:avLst>
              <a:gd name="adj" fmla="val 7229"/>
            </a:avLst>
          </a:prstGeom>
          <a:solidFill>
            <a:srgbClr val="EAF2F8"/>
          </a:solidFill>
          <a:ln w="8890">
            <a:solidFill>
              <a:srgbClr val="E2E8F0"/>
            </a:solidFill>
            <a:prstDash val="solid"/>
          </a:ln>
        </p:spPr>
      </p:sp>
      <p:sp>
        <p:nvSpPr>
          <p:cNvPr id="9" name="Shape 6"/>
          <p:cNvSpPr/>
          <p:nvPr/>
        </p:nvSpPr>
        <p:spPr>
          <a:xfrm>
            <a:off x="8695944" y="2057400"/>
            <a:ext cx="384048" cy="384048"/>
          </a:xfrm>
          <a:prstGeom prst="ellipse">
            <a:avLst/>
          </a:prstGeom>
          <a:solidFill>
            <a:srgbClr val="1F4E79"/>
          </a:solidFill>
          <a:ln w="12700">
            <a:solidFill>
              <a:srgbClr val="1F4E79"/>
            </a:solidFill>
            <a:prstDash val="solid"/>
          </a:ln>
        </p:spPr>
      </p:sp>
      <p:sp>
        <p:nvSpPr>
          <p:cNvPr id="10" name="Text 7"/>
          <p:cNvSpPr/>
          <p:nvPr/>
        </p:nvSpPr>
        <p:spPr>
          <a:xfrm>
            <a:off x="8787384" y="2130552"/>
            <a:ext cx="201168" cy="118872"/>
          </a:xfrm>
          <a:prstGeom prst="rect">
            <a:avLst/>
          </a:prstGeom>
          <a:noFill/>
          <a:ln/>
        </p:spPr>
        <p:txBody>
          <a:bodyPr wrap="square" lIns="0" tIns="0" rIns="0" bIns="0" rtlCol="0" anchor="ctr"/>
          <a:lstStyle/>
          <a:p>
            <a:pPr algn="ctr" indent="0" marL="0">
              <a:buNone/>
            </a:pPr>
            <a:r>
              <a:rPr lang="en-US" sz="840" b="1" dirty="0">
                <a:solidFill>
                  <a:srgbClr val="FFFFFF"/>
                </a:solidFill>
                <a:latin typeface="Aptos" pitchFamily="34" charset="0"/>
                <a:ea typeface="Aptos" pitchFamily="34" charset="-122"/>
                <a:cs typeface="Aptos" pitchFamily="34" charset="-120"/>
              </a:rPr>
              <a:t>1</a:t>
            </a:r>
            <a:endParaRPr lang="en-US" sz="840" dirty="0"/>
          </a:p>
        </p:txBody>
      </p:sp>
      <p:sp>
        <p:nvSpPr>
          <p:cNvPr id="11" name="Text 8"/>
          <p:cNvSpPr/>
          <p:nvPr/>
        </p:nvSpPr>
        <p:spPr>
          <a:xfrm>
            <a:off x="9217152" y="1993392"/>
            <a:ext cx="2075688" cy="201168"/>
          </a:xfrm>
          <a:prstGeom prst="rect">
            <a:avLst/>
          </a:prstGeom>
          <a:noFill/>
          <a:ln/>
        </p:spPr>
        <p:txBody>
          <a:bodyPr wrap="square" lIns="0" tIns="0" rIns="0" bIns="0" rtlCol="0" anchor="ctr">
            <a:normAutofit/>
          </a:bodyPr>
          <a:lstStyle/>
          <a:p>
            <a:pPr indent="0" marL="0">
              <a:buNone/>
            </a:pPr>
            <a:r>
              <a:rPr lang="en-US" sz="1330" b="1" dirty="0">
                <a:solidFill>
                  <a:srgbClr val="1F4E79"/>
                </a:solidFill>
                <a:latin typeface="Aptos Display" pitchFamily="34" charset="0"/>
                <a:ea typeface="Aptos Display" pitchFamily="34" charset="-122"/>
                <a:cs typeface="Aptos Display" pitchFamily="34" charset="-120"/>
              </a:rPr>
              <a:t>Executive Overview</a:t>
            </a:r>
            <a:endParaRPr lang="en-US" sz="1330" dirty="0"/>
          </a:p>
        </p:txBody>
      </p:sp>
      <p:sp>
        <p:nvSpPr>
          <p:cNvPr id="12" name="Text 9"/>
          <p:cNvSpPr/>
          <p:nvPr/>
        </p:nvSpPr>
        <p:spPr>
          <a:xfrm>
            <a:off x="9217152" y="2276856"/>
            <a:ext cx="2084832" cy="201168"/>
          </a:xfrm>
          <a:prstGeom prst="rect">
            <a:avLst/>
          </a:prstGeom>
          <a:noFill/>
          <a:ln/>
        </p:spPr>
        <p:txBody>
          <a:bodyPr wrap="square" lIns="0" tIns="0" rIns="0" bIns="0" rtlCol="0" anchor="ctr">
            <a:normAutofit/>
          </a:bodyPr>
          <a:lstStyle/>
          <a:p>
            <a:pPr indent="0" marL="0">
              <a:buNone/>
            </a:pPr>
            <a:r>
              <a:rPr lang="en-US" sz="870" dirty="0">
                <a:solidFill>
                  <a:srgbClr val="1E293B"/>
                </a:solidFill>
                <a:latin typeface="Aptos" pitchFamily="34" charset="0"/>
                <a:ea typeface="Aptos" pitchFamily="34" charset="-122"/>
                <a:cs typeface="Aptos" pitchFamily="34" charset="-120"/>
              </a:rPr>
              <a:t>Model comparison and headline KPIs</a:t>
            </a:r>
            <a:endParaRPr lang="en-US" sz="870" dirty="0"/>
          </a:p>
        </p:txBody>
      </p:sp>
      <p:sp>
        <p:nvSpPr>
          <p:cNvPr id="13" name="Shape 10"/>
          <p:cNvSpPr/>
          <p:nvPr/>
        </p:nvSpPr>
        <p:spPr>
          <a:xfrm>
            <a:off x="8531352" y="2770632"/>
            <a:ext cx="2999232" cy="758952"/>
          </a:xfrm>
          <a:prstGeom prst="roundRect">
            <a:avLst>
              <a:gd name="adj" fmla="val 7229"/>
            </a:avLst>
          </a:prstGeom>
          <a:solidFill>
            <a:srgbClr val="E6F6F3"/>
          </a:solidFill>
          <a:ln w="8890">
            <a:solidFill>
              <a:srgbClr val="E2E8F0"/>
            </a:solidFill>
            <a:prstDash val="solid"/>
          </a:ln>
        </p:spPr>
      </p:sp>
      <p:sp>
        <p:nvSpPr>
          <p:cNvPr id="14" name="Shape 11"/>
          <p:cNvSpPr/>
          <p:nvPr/>
        </p:nvSpPr>
        <p:spPr>
          <a:xfrm>
            <a:off x="8695944" y="2944368"/>
            <a:ext cx="384048" cy="384048"/>
          </a:xfrm>
          <a:prstGeom prst="ellipse">
            <a:avLst/>
          </a:prstGeom>
          <a:solidFill>
            <a:srgbClr val="2A9D8F"/>
          </a:solidFill>
          <a:ln w="12700">
            <a:solidFill>
              <a:srgbClr val="2A9D8F"/>
            </a:solidFill>
            <a:prstDash val="solid"/>
          </a:ln>
        </p:spPr>
      </p:sp>
      <p:sp>
        <p:nvSpPr>
          <p:cNvPr id="15" name="Text 12"/>
          <p:cNvSpPr/>
          <p:nvPr/>
        </p:nvSpPr>
        <p:spPr>
          <a:xfrm>
            <a:off x="8787384" y="3017520"/>
            <a:ext cx="201168" cy="118872"/>
          </a:xfrm>
          <a:prstGeom prst="rect">
            <a:avLst/>
          </a:prstGeom>
          <a:noFill/>
          <a:ln/>
        </p:spPr>
        <p:txBody>
          <a:bodyPr wrap="square" lIns="0" tIns="0" rIns="0" bIns="0" rtlCol="0" anchor="ctr"/>
          <a:lstStyle/>
          <a:p>
            <a:pPr algn="ctr" indent="0" marL="0">
              <a:buNone/>
            </a:pPr>
            <a:r>
              <a:rPr lang="en-US" sz="840" b="1" dirty="0">
                <a:solidFill>
                  <a:srgbClr val="FFFFFF"/>
                </a:solidFill>
                <a:latin typeface="Aptos" pitchFamily="34" charset="0"/>
                <a:ea typeface="Aptos" pitchFamily="34" charset="-122"/>
                <a:cs typeface="Aptos" pitchFamily="34" charset="-120"/>
              </a:rPr>
              <a:t>2</a:t>
            </a:r>
            <a:endParaRPr lang="en-US" sz="840" dirty="0"/>
          </a:p>
        </p:txBody>
      </p:sp>
      <p:sp>
        <p:nvSpPr>
          <p:cNvPr id="16" name="Text 13"/>
          <p:cNvSpPr/>
          <p:nvPr/>
        </p:nvSpPr>
        <p:spPr>
          <a:xfrm>
            <a:off x="9217152" y="2880360"/>
            <a:ext cx="2075688" cy="201168"/>
          </a:xfrm>
          <a:prstGeom prst="rect">
            <a:avLst/>
          </a:prstGeom>
          <a:noFill/>
          <a:ln/>
        </p:spPr>
        <p:txBody>
          <a:bodyPr wrap="square" lIns="0" tIns="0" rIns="0" bIns="0" rtlCol="0" anchor="ctr">
            <a:normAutofit/>
          </a:bodyPr>
          <a:lstStyle/>
          <a:p>
            <a:pPr indent="0" marL="0">
              <a:buNone/>
            </a:pPr>
            <a:r>
              <a:rPr lang="en-US" sz="1330" b="1" dirty="0">
                <a:solidFill>
                  <a:srgbClr val="2A9D8F"/>
                </a:solidFill>
                <a:latin typeface="Aptos Display" pitchFamily="34" charset="0"/>
                <a:ea typeface="Aptos Display" pitchFamily="34" charset="-122"/>
                <a:cs typeface="Aptos Display" pitchFamily="34" charset="-120"/>
              </a:rPr>
              <a:t>Threshold Decision Lab</a:t>
            </a:r>
            <a:endParaRPr lang="en-US" sz="1330" dirty="0"/>
          </a:p>
        </p:txBody>
      </p:sp>
      <p:sp>
        <p:nvSpPr>
          <p:cNvPr id="17" name="Text 14"/>
          <p:cNvSpPr/>
          <p:nvPr/>
        </p:nvSpPr>
        <p:spPr>
          <a:xfrm>
            <a:off x="9217152" y="3163824"/>
            <a:ext cx="2084832" cy="201168"/>
          </a:xfrm>
          <a:prstGeom prst="rect">
            <a:avLst/>
          </a:prstGeom>
          <a:noFill/>
          <a:ln/>
        </p:spPr>
        <p:txBody>
          <a:bodyPr wrap="square" lIns="0" tIns="0" rIns="0" bIns="0" rtlCol="0" anchor="ctr">
            <a:normAutofit/>
          </a:bodyPr>
          <a:lstStyle/>
          <a:p>
            <a:pPr indent="0" marL="0">
              <a:buNone/>
            </a:pPr>
            <a:r>
              <a:rPr lang="en-US" sz="870" dirty="0">
                <a:solidFill>
                  <a:srgbClr val="1E293B"/>
                </a:solidFill>
                <a:latin typeface="Aptos" pitchFamily="34" charset="0"/>
                <a:ea typeface="Aptos" pitchFamily="34" charset="-122"/>
                <a:cs typeface="Aptos" pitchFamily="34" charset="-120"/>
              </a:rPr>
              <a:t>Precision, recall, F1, alerts, and review volume</a:t>
            </a:r>
            <a:endParaRPr lang="en-US" sz="870" dirty="0"/>
          </a:p>
        </p:txBody>
      </p:sp>
      <p:sp>
        <p:nvSpPr>
          <p:cNvPr id="18" name="Shape 15"/>
          <p:cNvSpPr/>
          <p:nvPr/>
        </p:nvSpPr>
        <p:spPr>
          <a:xfrm>
            <a:off x="8531352" y="3657600"/>
            <a:ext cx="2999232" cy="758952"/>
          </a:xfrm>
          <a:prstGeom prst="roundRect">
            <a:avLst>
              <a:gd name="adj" fmla="val 7229"/>
            </a:avLst>
          </a:prstGeom>
          <a:solidFill>
            <a:srgbClr val="FEF4E8"/>
          </a:solidFill>
          <a:ln w="8890">
            <a:solidFill>
              <a:srgbClr val="E2E8F0"/>
            </a:solidFill>
            <a:prstDash val="solid"/>
          </a:ln>
        </p:spPr>
      </p:sp>
      <p:sp>
        <p:nvSpPr>
          <p:cNvPr id="19" name="Shape 16"/>
          <p:cNvSpPr/>
          <p:nvPr/>
        </p:nvSpPr>
        <p:spPr>
          <a:xfrm>
            <a:off x="8695944" y="3831336"/>
            <a:ext cx="384048" cy="384048"/>
          </a:xfrm>
          <a:prstGeom prst="ellipse">
            <a:avLst/>
          </a:prstGeom>
          <a:solidFill>
            <a:srgbClr val="F4A261"/>
          </a:solidFill>
          <a:ln w="12700">
            <a:solidFill>
              <a:srgbClr val="F4A261"/>
            </a:solidFill>
            <a:prstDash val="solid"/>
          </a:ln>
        </p:spPr>
      </p:sp>
      <p:sp>
        <p:nvSpPr>
          <p:cNvPr id="20" name="Text 17"/>
          <p:cNvSpPr/>
          <p:nvPr/>
        </p:nvSpPr>
        <p:spPr>
          <a:xfrm>
            <a:off x="8787384" y="3904488"/>
            <a:ext cx="201168" cy="118872"/>
          </a:xfrm>
          <a:prstGeom prst="rect">
            <a:avLst/>
          </a:prstGeom>
          <a:noFill/>
          <a:ln/>
        </p:spPr>
        <p:txBody>
          <a:bodyPr wrap="square" lIns="0" tIns="0" rIns="0" bIns="0" rtlCol="0" anchor="ctr"/>
          <a:lstStyle/>
          <a:p>
            <a:pPr algn="ctr" indent="0" marL="0">
              <a:buNone/>
            </a:pPr>
            <a:r>
              <a:rPr lang="en-US" sz="840" b="1" dirty="0">
                <a:solidFill>
                  <a:srgbClr val="FFFFFF"/>
                </a:solidFill>
                <a:latin typeface="Aptos" pitchFamily="34" charset="0"/>
                <a:ea typeface="Aptos" pitchFamily="34" charset="-122"/>
                <a:cs typeface="Aptos" pitchFamily="34" charset="-120"/>
              </a:rPr>
              <a:t>3</a:t>
            </a:r>
            <a:endParaRPr lang="en-US" sz="840" dirty="0"/>
          </a:p>
        </p:txBody>
      </p:sp>
      <p:sp>
        <p:nvSpPr>
          <p:cNvPr id="21" name="Text 18"/>
          <p:cNvSpPr/>
          <p:nvPr/>
        </p:nvSpPr>
        <p:spPr>
          <a:xfrm>
            <a:off x="9217152" y="3767328"/>
            <a:ext cx="2075688" cy="201168"/>
          </a:xfrm>
          <a:prstGeom prst="rect">
            <a:avLst/>
          </a:prstGeom>
          <a:noFill/>
          <a:ln/>
        </p:spPr>
        <p:txBody>
          <a:bodyPr wrap="square" lIns="0" tIns="0" rIns="0" bIns="0" rtlCol="0" anchor="ctr">
            <a:normAutofit/>
          </a:bodyPr>
          <a:lstStyle/>
          <a:p>
            <a:pPr indent="0" marL="0">
              <a:buNone/>
            </a:pPr>
            <a:r>
              <a:rPr lang="en-US" sz="1330" b="1" dirty="0">
                <a:solidFill>
                  <a:srgbClr val="F4A261"/>
                </a:solidFill>
                <a:latin typeface="Aptos Display" pitchFamily="34" charset="0"/>
                <a:ea typeface="Aptos Display" pitchFamily="34" charset="-122"/>
                <a:cs typeface="Aptos Display" pitchFamily="34" charset="-120"/>
              </a:rPr>
              <a:t>Cost &amp; Recommendation</a:t>
            </a:r>
            <a:endParaRPr lang="en-US" sz="1330" dirty="0"/>
          </a:p>
        </p:txBody>
      </p:sp>
      <p:sp>
        <p:nvSpPr>
          <p:cNvPr id="22" name="Text 19"/>
          <p:cNvSpPr/>
          <p:nvPr/>
        </p:nvSpPr>
        <p:spPr>
          <a:xfrm>
            <a:off x="9217152" y="4050792"/>
            <a:ext cx="2084832" cy="201168"/>
          </a:xfrm>
          <a:prstGeom prst="rect">
            <a:avLst/>
          </a:prstGeom>
          <a:noFill/>
          <a:ln/>
        </p:spPr>
        <p:txBody>
          <a:bodyPr wrap="square" lIns="0" tIns="0" rIns="0" bIns="0" rtlCol="0" anchor="ctr">
            <a:normAutofit/>
          </a:bodyPr>
          <a:lstStyle/>
          <a:p>
            <a:pPr indent="0" marL="0">
              <a:buNone/>
            </a:pPr>
            <a:r>
              <a:rPr lang="en-US" sz="870" dirty="0">
                <a:solidFill>
                  <a:srgbClr val="1E293B"/>
                </a:solidFill>
                <a:latin typeface="Aptos" pitchFamily="34" charset="0"/>
                <a:ea typeface="Aptos" pitchFamily="34" charset="-122"/>
                <a:cs typeface="Aptos" pitchFamily="34" charset="-120"/>
              </a:rPr>
              <a:t>Low, moderate, and high cost scenarios</a:t>
            </a:r>
            <a:endParaRPr lang="en-US" sz="870" dirty="0"/>
          </a:p>
        </p:txBody>
      </p:sp>
      <p:sp>
        <p:nvSpPr>
          <p:cNvPr id="23" name="Shape 20"/>
          <p:cNvSpPr/>
          <p:nvPr/>
        </p:nvSpPr>
        <p:spPr>
          <a:xfrm>
            <a:off x="8531352" y="4544568"/>
            <a:ext cx="2999232" cy="758952"/>
          </a:xfrm>
          <a:prstGeom prst="roundRect">
            <a:avLst>
              <a:gd name="adj" fmla="val 7229"/>
            </a:avLst>
          </a:prstGeom>
          <a:solidFill>
            <a:srgbClr val="FCEDE9"/>
          </a:solidFill>
          <a:ln w="8890">
            <a:solidFill>
              <a:srgbClr val="E2E8F0"/>
            </a:solidFill>
            <a:prstDash val="solid"/>
          </a:ln>
        </p:spPr>
      </p:sp>
      <p:sp>
        <p:nvSpPr>
          <p:cNvPr id="24" name="Shape 21"/>
          <p:cNvSpPr/>
          <p:nvPr/>
        </p:nvSpPr>
        <p:spPr>
          <a:xfrm>
            <a:off x="8695944" y="4718304"/>
            <a:ext cx="384048" cy="384048"/>
          </a:xfrm>
          <a:prstGeom prst="ellipse">
            <a:avLst/>
          </a:prstGeom>
          <a:solidFill>
            <a:srgbClr val="E76F51"/>
          </a:solidFill>
          <a:ln w="12700">
            <a:solidFill>
              <a:srgbClr val="E76F51"/>
            </a:solidFill>
            <a:prstDash val="solid"/>
          </a:ln>
        </p:spPr>
      </p:sp>
      <p:sp>
        <p:nvSpPr>
          <p:cNvPr id="25" name="Text 22"/>
          <p:cNvSpPr/>
          <p:nvPr/>
        </p:nvSpPr>
        <p:spPr>
          <a:xfrm>
            <a:off x="8787384" y="4791456"/>
            <a:ext cx="201168" cy="118872"/>
          </a:xfrm>
          <a:prstGeom prst="rect">
            <a:avLst/>
          </a:prstGeom>
          <a:noFill/>
          <a:ln/>
        </p:spPr>
        <p:txBody>
          <a:bodyPr wrap="square" lIns="0" tIns="0" rIns="0" bIns="0" rtlCol="0" anchor="ctr"/>
          <a:lstStyle/>
          <a:p>
            <a:pPr algn="ctr" indent="0" marL="0">
              <a:buNone/>
            </a:pPr>
            <a:r>
              <a:rPr lang="en-US" sz="840" b="1" dirty="0">
                <a:solidFill>
                  <a:srgbClr val="FFFFFF"/>
                </a:solidFill>
                <a:latin typeface="Aptos" pitchFamily="34" charset="0"/>
                <a:ea typeface="Aptos" pitchFamily="34" charset="-122"/>
                <a:cs typeface="Aptos" pitchFamily="34" charset="-120"/>
              </a:rPr>
              <a:t>4</a:t>
            </a:r>
            <a:endParaRPr lang="en-US" sz="840" dirty="0"/>
          </a:p>
        </p:txBody>
      </p:sp>
      <p:sp>
        <p:nvSpPr>
          <p:cNvPr id="26" name="Text 23"/>
          <p:cNvSpPr/>
          <p:nvPr/>
        </p:nvSpPr>
        <p:spPr>
          <a:xfrm>
            <a:off x="9217152" y="4654296"/>
            <a:ext cx="2075688" cy="201168"/>
          </a:xfrm>
          <a:prstGeom prst="rect">
            <a:avLst/>
          </a:prstGeom>
          <a:noFill/>
          <a:ln/>
        </p:spPr>
        <p:txBody>
          <a:bodyPr wrap="square" lIns="0" tIns="0" rIns="0" bIns="0" rtlCol="0" anchor="ctr">
            <a:normAutofit/>
          </a:bodyPr>
          <a:lstStyle/>
          <a:p>
            <a:pPr indent="0" marL="0">
              <a:buNone/>
            </a:pPr>
            <a:r>
              <a:rPr lang="en-US" sz="1330" b="1" dirty="0">
                <a:solidFill>
                  <a:srgbClr val="E76F51"/>
                </a:solidFill>
                <a:latin typeface="Aptos Display" pitchFamily="34" charset="0"/>
                <a:ea typeface="Aptos Display" pitchFamily="34" charset="-122"/>
                <a:cs typeface="Aptos Display" pitchFamily="34" charset="-120"/>
              </a:rPr>
              <a:t>False-Positive Deep Dive</a:t>
            </a:r>
            <a:endParaRPr lang="en-US" sz="1330" dirty="0"/>
          </a:p>
        </p:txBody>
      </p:sp>
      <p:sp>
        <p:nvSpPr>
          <p:cNvPr id="27" name="Text 24"/>
          <p:cNvSpPr/>
          <p:nvPr/>
        </p:nvSpPr>
        <p:spPr>
          <a:xfrm>
            <a:off x="9217152" y="4937760"/>
            <a:ext cx="2084832" cy="201168"/>
          </a:xfrm>
          <a:prstGeom prst="rect">
            <a:avLst/>
          </a:prstGeom>
          <a:noFill/>
          <a:ln/>
        </p:spPr>
        <p:txBody>
          <a:bodyPr wrap="square" lIns="0" tIns="0" rIns="0" bIns="0" rtlCol="0" anchor="ctr">
            <a:normAutofit/>
          </a:bodyPr>
          <a:lstStyle/>
          <a:p>
            <a:pPr indent="0" marL="0">
              <a:buNone/>
            </a:pPr>
            <a:r>
              <a:rPr lang="en-US" sz="870" dirty="0">
                <a:solidFill>
                  <a:srgbClr val="1E293B"/>
                </a:solidFill>
                <a:latin typeface="Aptos" pitchFamily="34" charset="0"/>
                <a:ea typeface="Aptos" pitchFamily="34" charset="-122"/>
                <a:cs typeface="Aptos" pitchFamily="34" charset="-120"/>
              </a:rPr>
              <a:t>Category and hourly concentration patterns</a:t>
            </a:r>
            <a:endParaRPr lang="en-US" sz="870" dirty="0"/>
          </a:p>
        </p:txBody>
      </p:sp>
      <p:sp>
        <p:nvSpPr>
          <p:cNvPr id="28" name="Shape 25"/>
          <p:cNvSpPr/>
          <p:nvPr/>
        </p:nvSpPr>
        <p:spPr>
          <a:xfrm>
            <a:off x="8531352" y="5468112"/>
            <a:ext cx="2999232" cy="420624"/>
          </a:xfrm>
          <a:prstGeom prst="roundRect">
            <a:avLst>
              <a:gd name="adj" fmla="val 10870"/>
            </a:avLst>
          </a:prstGeom>
          <a:solidFill>
            <a:srgbClr val="0B1F3A"/>
          </a:solidFill>
          <a:ln w="12700">
            <a:solidFill>
              <a:srgbClr val="0B1F3A"/>
            </a:solidFill>
            <a:prstDash val="solid"/>
          </a:ln>
        </p:spPr>
      </p:sp>
      <p:sp>
        <p:nvSpPr>
          <p:cNvPr id="29" name="Text 26"/>
          <p:cNvSpPr/>
          <p:nvPr/>
        </p:nvSpPr>
        <p:spPr>
          <a:xfrm>
            <a:off x="8695944" y="5577840"/>
            <a:ext cx="2670048" cy="146304"/>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Editable PBIX and PDF included in the project package</a:t>
            </a:r>
            <a:endParaRPr lang="en-US" sz="920" dirty="0"/>
          </a:p>
        </p:txBody>
      </p:sp>
      <p:sp>
        <p:nvSpPr>
          <p:cNvPr id="30" name="Text 27"/>
          <p:cNvSpPr/>
          <p:nvPr/>
        </p:nvSpPr>
        <p:spPr>
          <a:xfrm>
            <a:off x="868680" y="5925312"/>
            <a:ext cx="7315200" cy="228600"/>
          </a:xfrm>
          <a:prstGeom prst="rect">
            <a:avLst/>
          </a:prstGeom>
          <a:noFill/>
          <a:ln/>
        </p:spPr>
        <p:txBody>
          <a:bodyPr wrap="square" lIns="254" tIns="254" rIns="254" bIns="254" rtlCol="0" anchor="ctr"/>
          <a:lstStyle/>
          <a:p>
            <a:pPr algn="ctr" indent="0" marL="0">
              <a:buNone/>
            </a:pPr>
            <a:r>
              <a:rPr lang="en-US" sz="1120" b="1" dirty="0">
                <a:solidFill>
                  <a:srgbClr val="0B1F3A"/>
                </a:solidFill>
                <a:latin typeface="Aptos" pitchFamily="34" charset="0"/>
                <a:ea typeface="Aptos" pitchFamily="34" charset="-122"/>
                <a:cs typeface="Aptos" pitchFamily="34" charset="-120"/>
              </a:rPr>
              <a:t>Dashboard values were validated against the Python exports before final reporting.</a:t>
            </a:r>
            <a:endParaRPr lang="en-US" sz="1120" dirty="0"/>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58368" y="320040"/>
            <a:ext cx="10881360" cy="201168"/>
          </a:xfrm>
          <a:prstGeom prst="rect">
            <a:avLst/>
          </a:prstGeom>
          <a:noFill/>
          <a:ln/>
        </p:spPr>
        <p:txBody>
          <a:bodyPr wrap="square" lIns="0" tIns="0" rIns="0" bIns="0" rtlCol="0" anchor="ctr"/>
          <a:lstStyle/>
          <a:p>
            <a:r>
              <a:t>FINAL DELIVERABLES &amp; NEXT STEPS</a:t>
            </a:r>
          </a:p>
        </p:txBody>
      </p:sp>
      <p:sp>
        <p:nvSpPr>
          <p:cNvPr id="3" name="Text 1"/>
          <p:cNvSpPr/>
          <p:nvPr/>
        </p:nvSpPr>
        <p:spPr>
          <a:xfrm>
            <a:off x="640080" y="566928"/>
            <a:ext cx="10835640" cy="475488"/>
          </a:xfrm>
          <a:prstGeom prst="rect">
            <a:avLst/>
          </a:prstGeom>
          <a:noFill/>
          <a:ln/>
        </p:spPr>
        <p:txBody>
          <a:bodyPr wrap="square" lIns="0" tIns="0" rIns="0" bIns="0" rtlCol="0" anchor="ctr">
            <a:normAutofit/>
          </a:bodyPr>
          <a:lstStyle/>
          <a:p>
            <a:r>
              <a:t>Conclusion, Validation Notes, and Project Closure</a:t>
            </a:r>
          </a:p>
        </p:txBody>
      </p:sp>
      <p:sp>
        <p:nvSpPr>
          <p:cNvPr id="4" name="Shape 2"/>
          <p:cNvSpPr/>
          <p:nvPr/>
        </p:nvSpPr>
        <p:spPr>
          <a:xfrm>
            <a:off x="658368" y="1161288"/>
            <a:ext cx="1097280" cy="0"/>
          </a:xfrm>
          <a:prstGeom prst="line">
            <a:avLst/>
          </a:prstGeom>
          <a:noFill/>
          <a:ln w="38100">
            <a:solidFill>
              <a:srgbClr val="2A9D8F"/>
            </a:solidFill>
            <a:prstDash val="solid"/>
          </a:ln>
        </p:spPr>
        <p:txBody>
          <a:bodyPr/>
          <a:p/>
        </p:txBody>
      </p:sp>
      <p:sp>
        <p:nvSpPr>
          <p:cNvPr id="5" name="Text 3"/>
          <p:cNvSpPr/>
          <p:nvPr/>
        </p:nvSpPr>
        <p:spPr>
          <a:xfrm>
            <a:off x="749808" y="1417320"/>
            <a:ext cx="3840480" cy="274320"/>
          </a:xfrm>
          <a:prstGeom prst="rect">
            <a:avLst/>
          </a:prstGeom>
          <a:noFill/>
          <a:ln/>
        </p:spPr>
        <p:txBody>
          <a:bodyPr wrap="square" lIns="0" tIns="0" rIns="0" bIns="0" rtlCol="0" anchor="ctr"/>
          <a:lstStyle/>
          <a:p>
            <a:pPr indent="0" marL="0">
              <a:buNone/>
            </a:pPr>
            <a:r>
              <a:rPr lang="en-US" sz="2100" b="1" dirty="0">
                <a:solidFill>
                  <a:srgbClr val="0B1F3A"/>
                </a:solidFill>
                <a:latin typeface="Aptos Display" pitchFamily="34" charset="0"/>
                <a:ea typeface="Aptos Display" pitchFamily="34" charset="-122"/>
                <a:cs typeface="Aptos Display" pitchFamily="34" charset="-120"/>
              </a:rPr>
              <a:t>What the project showed</a:t>
            </a:r>
            <a:endParaRPr lang="en-US" sz="2100" dirty="0"/>
          </a:p>
        </p:txBody>
      </p:sp>
      <p:sp>
        <p:nvSpPr>
          <p:cNvPr id="6" name="Text 4"/>
          <p:cNvSpPr/>
          <p:nvPr/>
        </p:nvSpPr>
        <p:spPr>
          <a:xfrm>
            <a:off x="804672" y="1810512"/>
            <a:ext cx="5257800" cy="2331720"/>
          </a:xfrm>
          <a:prstGeom prst="rect">
            <a:avLst/>
          </a:prstGeom>
          <a:noFill/>
          <a:ln/>
        </p:spPr>
        <p:txBody>
          <a:bodyPr wrap="square" lIns="381" tIns="381" rIns="381" bIns="381" rtlCol="0" anchor="ctr">
            <a:normAutofit/>
          </a:bodyPr>
          <a:lstStyle/>
          <a:p>
            <a:pPr>
              <a:defRPr sz="1350">
                <a:solidFill>
                  <a:srgbClr val="1C2D3B"/>
                </a:solidFill>
              </a:defRPr>
            </a:pPr>
            <a:r>
              <a:t>Class imbalance makes accuracy alone misleading.</a:t>
            </a:r>
            <a:endParaRPr lang="en-US" sz="1450" dirty="0"/>
          </a:p>
          <a:p>
            <a:pPr>
              <a:defRPr sz="1350">
                <a:solidFill>
                  <a:srgbClr val="1C2D3B"/>
                </a:solidFill>
              </a:defRPr>
            </a:pPr>
            <a:r>
              <a:t>Gradient boosting outperformed logistic regression.</a:t>
            </a:r>
          </a:p>
          <a:p>
            <a:pPr>
              <a:defRPr sz="1350">
                <a:solidFill>
                  <a:srgbClr val="1C2D3B"/>
                </a:solidFill>
              </a:defRPr>
            </a:pPr>
            <a:r>
              <a:t>Threshold selection changed fraud capture, workload, and cost.</a:t>
            </a:r>
          </a:p>
          <a:p>
            <a:pPr>
              <a:defRPr sz="1350">
                <a:solidFill>
                  <a:srgbClr val="1C2D3B"/>
                </a:solidFill>
              </a:defRPr>
            </a:pPr>
            <a:r>
              <a:t>Power BI made fraud tradeoffs clear for business stakeholders.</a:t>
            </a:r>
          </a:p>
          <a:p>
            <a:pPr>
              <a:spcBef>
                <a:spcPts val="800"/>
              </a:spcBef>
              <a:defRPr b="1" sz="1400">
                <a:solidFill>
                  <a:srgbClr val="0B2C48"/>
                </a:solidFill>
              </a:defRPr>
            </a:pPr>
            <a:r>
              <a:t>Future validation notes</a:t>
            </a:r>
          </a:p>
          <a:p>
            <a:pPr>
              <a:defRPr sz="1350">
                <a:solidFill>
                  <a:srgbClr val="1C2D3B"/>
                </a:solidFill>
              </a:defRPr>
            </a:pPr>
            <a:r>
              <a:t>Use validation and untouched holdout samples for threshold selection.</a:t>
            </a:r>
          </a:p>
          <a:p>
            <a:pPr>
              <a:defRPr sz="1350">
                <a:solidFill>
                  <a:srgbClr val="1C2D3B"/>
                </a:solidFill>
              </a:defRPr>
            </a:pPr>
            <a:r>
              <a:t>Expand false-positive costs beyond a fixed per-alert amount.</a:t>
            </a:r>
          </a:p>
          <a:p>
            <a:pPr>
              <a:defRPr sz="1350">
                <a:solidFill>
                  <a:srgbClr val="1C2D3B"/>
                </a:solidFill>
              </a:defRPr>
            </a:pPr>
            <a:r>
              <a:t>Recheck segmentation and fairness using the selected model.</a:t>
            </a:r>
          </a:p>
        </p:txBody>
      </p:sp>
      <p:sp>
        <p:nvSpPr>
          <p:cNvPr id="7" name="Text 5"/>
          <p:cNvSpPr/>
          <p:nvPr/>
        </p:nvSpPr>
        <p:spPr>
          <a:xfrm>
            <a:off x="6537960" y="1417320"/>
            <a:ext cx="3474720" cy="274320"/>
          </a:xfrm>
          <a:prstGeom prst="rect">
            <a:avLst/>
          </a:prstGeom>
          <a:noFill/>
          <a:ln/>
        </p:spPr>
        <p:txBody>
          <a:bodyPr wrap="square" lIns="0" tIns="0" rIns="0" bIns="0" rtlCol="0" anchor="ctr"/>
          <a:lstStyle/>
          <a:p>
            <a:pPr indent="0" marL="0">
              <a:buNone/>
            </a:pPr>
            <a:r>
              <a:rPr lang="en-US" sz="2100" b="1" dirty="0">
                <a:solidFill>
                  <a:srgbClr val="0B1F3A"/>
                </a:solidFill>
                <a:latin typeface="Aptos Display" pitchFamily="34" charset="0"/>
                <a:ea typeface="Aptos Display" pitchFamily="34" charset="-122"/>
                <a:cs typeface="Aptos Display" pitchFamily="34" charset="-120"/>
              </a:rPr>
              <a:t>GitHub-ready package</a:t>
            </a:r>
            <a:endParaRPr lang="en-US" sz="2100" dirty="0"/>
          </a:p>
        </p:txBody>
      </p:sp>
      <p:sp>
        <p:nvSpPr>
          <p:cNvPr id="8" name="Shape 6"/>
          <p:cNvSpPr/>
          <p:nvPr/>
        </p:nvSpPr>
        <p:spPr>
          <a:xfrm>
            <a:off x="6565392" y="1792224"/>
            <a:ext cx="4315968" cy="438912"/>
          </a:xfrm>
          <a:prstGeom prst="roundRect">
            <a:avLst>
              <a:gd name="adj" fmla="val 12500"/>
            </a:avLst>
          </a:prstGeom>
          <a:solidFill>
            <a:srgbClr val="FFFFFF"/>
          </a:solidFill>
          <a:ln w="12700">
            <a:solidFill>
              <a:srgbClr val="D8E2EE"/>
            </a:solidFill>
            <a:prstDash val="solid"/>
          </a:ln>
        </p:spPr>
        <p:txBody>
          <a:bodyPr/>
          <a:p/>
        </p:txBody>
      </p:sp>
      <p:sp>
        <p:nvSpPr>
          <p:cNvPr id="9" name="Text 7"/>
          <p:cNvSpPr/>
          <p:nvPr/>
        </p:nvSpPr>
        <p:spPr>
          <a:xfrm>
            <a:off x="6729984" y="1901952"/>
            <a:ext cx="1463040" cy="146304"/>
          </a:xfrm>
          <a:prstGeom prst="rect">
            <a:avLst/>
          </a:prstGeom>
          <a:noFill/>
          <a:ln/>
        </p:spPr>
        <p:txBody>
          <a:bodyPr wrap="square" lIns="0" tIns="0" rIns="0" bIns="0" rtlCol="0" anchor="ctr"/>
          <a:lstStyle/>
          <a:p>
            <a:pPr indent="0" marL="0">
              <a:buNone/>
            </a:pPr>
            <a:r>
              <a:rPr lang="en-US" sz="1080" b="1" dirty="0">
                <a:solidFill>
                  <a:srgbClr val="2A9D8F"/>
                </a:solidFill>
                <a:latin typeface="Aptos" pitchFamily="34" charset="0"/>
                <a:ea typeface="Aptos" pitchFamily="34" charset="-122"/>
                <a:cs typeface="Aptos" pitchFamily="34" charset="-120"/>
              </a:rPr>
              <a:t>README.md</a:t>
            </a:r>
            <a:endParaRPr lang="en-US" sz="1080" dirty="0"/>
          </a:p>
        </p:txBody>
      </p:sp>
      <p:sp>
        <p:nvSpPr>
          <p:cNvPr id="10" name="Text 8"/>
          <p:cNvSpPr/>
          <p:nvPr/>
        </p:nvSpPr>
        <p:spPr>
          <a:xfrm>
            <a:off x="8229600" y="1901952"/>
            <a:ext cx="2514600" cy="146304"/>
          </a:xfrm>
          <a:prstGeom prst="rect">
            <a:avLst/>
          </a:prstGeom>
          <a:noFill/>
          <a:ln/>
        </p:spPr>
        <p:txBody>
          <a:bodyPr wrap="square" lIns="0" tIns="0" rIns="0" bIns="0" rtlCol="0" anchor="ctr">
            <a:normAutofit/>
          </a:bodyPr>
          <a:lstStyle/>
          <a:p>
            <a:pPr indent="0" marL="0">
              <a:buNone/>
            </a:pPr>
            <a:r>
              <a:rPr lang="en-US" sz="1050" dirty="0">
                <a:solidFill>
                  <a:srgbClr val="1E293B"/>
                </a:solidFill>
                <a:latin typeface="Aptos" pitchFamily="34" charset="0"/>
                <a:ea typeface="Aptos" pitchFamily="34" charset="-122"/>
                <a:cs typeface="Aptos" pitchFamily="34" charset="-120"/>
              </a:rPr>
              <a:t>project overview and run instructions</a:t>
            </a:r>
            <a:endParaRPr lang="en-US" sz="1050" dirty="0"/>
          </a:p>
        </p:txBody>
      </p:sp>
      <p:sp>
        <p:nvSpPr>
          <p:cNvPr id="11" name="Shape 9"/>
          <p:cNvSpPr/>
          <p:nvPr/>
        </p:nvSpPr>
        <p:spPr>
          <a:xfrm>
            <a:off x="6565392" y="2286000"/>
            <a:ext cx="4315968" cy="438912"/>
          </a:xfrm>
          <a:prstGeom prst="roundRect">
            <a:avLst>
              <a:gd name="adj" fmla="val 12500"/>
            </a:avLst>
          </a:prstGeom>
          <a:solidFill>
            <a:srgbClr val="FFFFFF"/>
          </a:solidFill>
          <a:ln w="12700">
            <a:solidFill>
              <a:srgbClr val="D8E2EE"/>
            </a:solidFill>
            <a:prstDash val="solid"/>
          </a:ln>
        </p:spPr>
        <p:txBody>
          <a:bodyPr/>
          <a:p/>
        </p:txBody>
      </p:sp>
      <p:sp>
        <p:nvSpPr>
          <p:cNvPr id="12" name="Text 10"/>
          <p:cNvSpPr/>
          <p:nvPr/>
        </p:nvSpPr>
        <p:spPr>
          <a:xfrm>
            <a:off x="6729984" y="2395728"/>
            <a:ext cx="1463040" cy="146304"/>
          </a:xfrm>
          <a:prstGeom prst="rect">
            <a:avLst/>
          </a:prstGeom>
          <a:noFill/>
          <a:ln/>
        </p:spPr>
        <p:txBody>
          <a:bodyPr wrap="square" lIns="0" tIns="0" rIns="0" bIns="0" rtlCol="0" anchor="ctr"/>
          <a:lstStyle/>
          <a:p>
            <a:pPr indent="0" marL="0">
              <a:buNone/>
            </a:pPr>
            <a:r>
              <a:rPr lang="en-US" sz="1080" b="1" dirty="0">
                <a:solidFill>
                  <a:srgbClr val="2A9D8F"/>
                </a:solidFill>
                <a:latin typeface="Aptos" pitchFamily="34" charset="0"/>
                <a:ea typeface="Aptos" pitchFamily="34" charset="-122"/>
                <a:cs typeface="Aptos" pitchFamily="34" charset="-120"/>
              </a:rPr>
              <a:t>outputs/</a:t>
            </a:r>
            <a:endParaRPr lang="en-US" sz="1080" dirty="0"/>
          </a:p>
        </p:txBody>
      </p:sp>
      <p:sp>
        <p:nvSpPr>
          <p:cNvPr id="13" name="Text 11"/>
          <p:cNvSpPr/>
          <p:nvPr/>
        </p:nvSpPr>
        <p:spPr>
          <a:xfrm>
            <a:off x="8229600" y="2395728"/>
            <a:ext cx="2514600" cy="146304"/>
          </a:xfrm>
          <a:prstGeom prst="rect">
            <a:avLst/>
          </a:prstGeom>
          <a:noFill/>
          <a:ln/>
        </p:spPr>
        <p:txBody>
          <a:bodyPr wrap="square" lIns="0" tIns="0" rIns="0" bIns="0" rtlCol="0" anchor="ctr">
            <a:normAutofit/>
          </a:bodyPr>
          <a:lstStyle/>
          <a:p>
            <a:pPr indent="0" marL="0">
              <a:buNone/>
            </a:pPr>
            <a:r>
              <a:rPr lang="en-US" sz="1050" dirty="0">
                <a:solidFill>
                  <a:srgbClr val="1E293B"/>
                </a:solidFill>
                <a:latin typeface="Aptos" pitchFamily="34" charset="0"/>
                <a:ea typeface="Aptos" pitchFamily="34" charset="-122"/>
                <a:cs typeface="Aptos" pitchFamily="34" charset="-120"/>
              </a:rPr>
              <a:t>validated CSV exports</a:t>
            </a:r>
            <a:endParaRPr lang="en-US" sz="1050" dirty="0"/>
          </a:p>
        </p:txBody>
      </p:sp>
      <p:sp>
        <p:nvSpPr>
          <p:cNvPr id="14" name="Shape 12"/>
          <p:cNvSpPr/>
          <p:nvPr/>
        </p:nvSpPr>
        <p:spPr>
          <a:xfrm>
            <a:off x="6565392" y="2779776"/>
            <a:ext cx="4315968" cy="438912"/>
          </a:xfrm>
          <a:prstGeom prst="roundRect">
            <a:avLst>
              <a:gd name="adj" fmla="val 12500"/>
            </a:avLst>
          </a:prstGeom>
          <a:solidFill>
            <a:srgbClr val="FFFFFF"/>
          </a:solidFill>
          <a:ln w="12700">
            <a:solidFill>
              <a:srgbClr val="D8E2EE"/>
            </a:solidFill>
            <a:prstDash val="solid"/>
          </a:ln>
        </p:spPr>
        <p:txBody>
          <a:bodyPr/>
          <a:p/>
        </p:txBody>
      </p:sp>
      <p:sp>
        <p:nvSpPr>
          <p:cNvPr id="15" name="Text 13"/>
          <p:cNvSpPr/>
          <p:nvPr/>
        </p:nvSpPr>
        <p:spPr>
          <a:xfrm>
            <a:off x="6729984" y="2889504"/>
            <a:ext cx="1463040" cy="146304"/>
          </a:xfrm>
          <a:prstGeom prst="rect">
            <a:avLst/>
          </a:prstGeom>
          <a:noFill/>
          <a:ln/>
        </p:spPr>
        <p:txBody>
          <a:bodyPr wrap="square" lIns="0" tIns="0" rIns="0" bIns="0" rtlCol="0" anchor="ctr"/>
          <a:lstStyle/>
          <a:p>
            <a:pPr indent="0" marL="0">
              <a:buNone/>
            </a:pPr>
            <a:r>
              <a:rPr lang="en-US" sz="1050" b="1" dirty="0">
                <a:solidFill>
                  <a:srgbClr val="2A9D8F"/>
                </a:solidFill>
                <a:latin typeface="Aptos" pitchFamily="34" charset="0"/>
                <a:ea typeface="Aptos" pitchFamily="34" charset="-122"/>
                <a:cs typeface="Aptos" pitchFamily="34" charset="-120"/>
              </a:rPr>
              <a:t>outputs/charts/</a:t>
            </a:r>
            <a:endParaRPr lang="en-US" sz="1080" dirty="0"/>
          </a:p>
        </p:txBody>
      </p:sp>
      <p:sp>
        <p:nvSpPr>
          <p:cNvPr id="16" name="Text 14"/>
          <p:cNvSpPr/>
          <p:nvPr/>
        </p:nvSpPr>
        <p:spPr>
          <a:xfrm>
            <a:off x="8229600" y="2889504"/>
            <a:ext cx="2514600" cy="146304"/>
          </a:xfrm>
          <a:prstGeom prst="rect">
            <a:avLst/>
          </a:prstGeom>
          <a:noFill/>
          <a:ln/>
        </p:spPr>
        <p:txBody>
          <a:bodyPr wrap="square" lIns="0" tIns="0" rIns="0" bIns="0" rtlCol="0" anchor="ctr">
            <a:normAutofit/>
          </a:bodyPr>
          <a:lstStyle/>
          <a:p>
            <a:pPr indent="0" marL="0">
              <a:buNone/>
            </a:pPr>
            <a:r>
              <a:rPr lang="en-US" sz="1050" dirty="0">
                <a:solidFill>
                  <a:srgbClr val="1E293B"/>
                </a:solidFill>
                <a:latin typeface="Aptos" pitchFamily="34" charset="0"/>
                <a:ea typeface="Aptos" pitchFamily="34" charset="-122"/>
                <a:cs typeface="Aptos" pitchFamily="34" charset="-120"/>
              </a:rPr>
              <a:t>figures used in findings and presentation</a:t>
            </a:r>
            <a:endParaRPr lang="en-US" sz="1050" dirty="0"/>
          </a:p>
        </p:txBody>
      </p:sp>
      <p:sp>
        <p:nvSpPr>
          <p:cNvPr id="17" name="Shape 15"/>
          <p:cNvSpPr/>
          <p:nvPr/>
        </p:nvSpPr>
        <p:spPr>
          <a:xfrm>
            <a:off x="6565392" y="3273552"/>
            <a:ext cx="4315968" cy="438912"/>
          </a:xfrm>
          <a:prstGeom prst="roundRect">
            <a:avLst>
              <a:gd name="adj" fmla="val 12500"/>
            </a:avLst>
          </a:prstGeom>
          <a:solidFill>
            <a:srgbClr val="FFFFFF"/>
          </a:solidFill>
          <a:ln w="12700">
            <a:solidFill>
              <a:srgbClr val="D8E2EE"/>
            </a:solidFill>
            <a:prstDash val="solid"/>
          </a:ln>
        </p:spPr>
        <p:txBody>
          <a:bodyPr/>
          <a:p/>
        </p:txBody>
      </p:sp>
      <p:sp>
        <p:nvSpPr>
          <p:cNvPr id="18" name="Text 16"/>
          <p:cNvSpPr/>
          <p:nvPr/>
        </p:nvSpPr>
        <p:spPr>
          <a:xfrm>
            <a:off x="6729984" y="3383280"/>
            <a:ext cx="1463040" cy="146304"/>
          </a:xfrm>
          <a:prstGeom prst="rect">
            <a:avLst/>
          </a:prstGeom>
          <a:noFill/>
          <a:ln/>
        </p:spPr>
        <p:txBody>
          <a:bodyPr wrap="square" lIns="0" tIns="0" rIns="0" bIns="0" rtlCol="0" anchor="ctr"/>
          <a:lstStyle/>
          <a:p>
            <a:pPr indent="0" marL="0">
              <a:buNone/>
            </a:pPr>
            <a:r>
              <a:rPr lang="en-US" sz="1050" b="1" dirty="0">
                <a:solidFill>
                  <a:srgbClr val="2A9D8F"/>
                </a:solidFill>
                <a:latin typeface="Aptos" pitchFamily="34" charset="0"/>
                <a:ea typeface="Aptos" pitchFamily="34" charset="-122"/>
                <a:cs typeface="Aptos" pitchFamily="34" charset="-120"/>
              </a:rPr>
              <a:t>reports + presentation/</a:t>
            </a:r>
            <a:endParaRPr lang="en-US" sz="1080" dirty="0"/>
          </a:p>
        </p:txBody>
      </p:sp>
      <p:sp>
        <p:nvSpPr>
          <p:cNvPr id="19" name="Text 17"/>
          <p:cNvSpPr/>
          <p:nvPr/>
        </p:nvSpPr>
        <p:spPr>
          <a:xfrm>
            <a:off x="8229600" y="3383280"/>
            <a:ext cx="2514600" cy="146304"/>
          </a:xfrm>
          <a:prstGeom prst="rect">
            <a:avLst/>
          </a:prstGeom>
          <a:noFill/>
          <a:ln/>
        </p:spPr>
        <p:txBody>
          <a:bodyPr wrap="square" lIns="0" tIns="0" rIns="0" bIns="0" rtlCol="0" anchor="ctr">
            <a:normAutofit/>
          </a:bodyPr>
          <a:lstStyle/>
          <a:p>
            <a:pPr indent="0" marL="0">
              <a:buNone/>
            </a:pPr>
            <a:r>
              <a:rPr lang="en-US" sz="1050" dirty="0">
                <a:solidFill>
                  <a:srgbClr val="1E293B"/>
                </a:solidFill>
                <a:latin typeface="Aptos" pitchFamily="34" charset="0"/>
                <a:ea typeface="Aptos" pitchFamily="34" charset="-122"/>
                <a:cs typeface="Aptos" pitchFamily="34" charset="-120"/>
              </a:rPr>
              <a:t>final paper, slides, PDF, and speaker script</a:t>
            </a:r>
            <a:endParaRPr lang="en-US" sz="1050" dirty="0"/>
          </a:p>
        </p:txBody>
      </p:sp>
      <p:sp>
        <p:nvSpPr>
          <p:cNvPr id="20" name="Shape 18"/>
          <p:cNvSpPr/>
          <p:nvPr/>
        </p:nvSpPr>
        <p:spPr>
          <a:xfrm>
            <a:off x="6565392" y="3767328"/>
            <a:ext cx="4315968" cy="438912"/>
          </a:xfrm>
          <a:prstGeom prst="roundRect">
            <a:avLst>
              <a:gd name="adj" fmla="val 12500"/>
            </a:avLst>
          </a:prstGeom>
          <a:solidFill>
            <a:srgbClr val="FFFFFF"/>
          </a:solidFill>
          <a:ln w="12700">
            <a:solidFill>
              <a:srgbClr val="D8E2EE"/>
            </a:solidFill>
            <a:prstDash val="solid"/>
          </a:ln>
        </p:spPr>
        <p:txBody>
          <a:bodyPr/>
          <a:p/>
        </p:txBody>
      </p:sp>
      <p:sp>
        <p:nvSpPr>
          <p:cNvPr id="21" name="Text 19"/>
          <p:cNvSpPr/>
          <p:nvPr/>
        </p:nvSpPr>
        <p:spPr>
          <a:xfrm>
            <a:off x="6729984" y="3877056"/>
            <a:ext cx="1463040" cy="146304"/>
          </a:xfrm>
          <a:prstGeom prst="rect">
            <a:avLst/>
          </a:prstGeom>
          <a:noFill/>
          <a:ln/>
        </p:spPr>
        <p:txBody>
          <a:bodyPr wrap="square" lIns="0" tIns="0" rIns="0" bIns="0" rtlCol="0" anchor="ctr"/>
          <a:lstStyle/>
          <a:p>
            <a:pPr indent="0" marL="0">
              <a:buNone/>
            </a:pPr>
            <a:r>
              <a:rPr lang="en-US" sz="1080" b="1" dirty="0">
                <a:solidFill>
                  <a:srgbClr val="2A9D8F"/>
                </a:solidFill>
                <a:latin typeface="Aptos" pitchFamily="34" charset="0"/>
                <a:ea typeface="Aptos" pitchFamily="34" charset="-122"/>
                <a:cs typeface="Aptos" pitchFamily="34" charset="-120"/>
              </a:rPr>
              <a:t>dashboard/</a:t>
            </a:r>
            <a:endParaRPr lang="en-US" sz="1080" dirty="0"/>
          </a:p>
        </p:txBody>
      </p:sp>
      <p:sp>
        <p:nvSpPr>
          <p:cNvPr id="22" name="Text 20"/>
          <p:cNvSpPr/>
          <p:nvPr/>
        </p:nvSpPr>
        <p:spPr>
          <a:xfrm>
            <a:off x="8229600" y="3877056"/>
            <a:ext cx="2514600" cy="146304"/>
          </a:xfrm>
          <a:prstGeom prst="rect">
            <a:avLst/>
          </a:prstGeom>
          <a:noFill/>
          <a:ln/>
        </p:spPr>
        <p:txBody>
          <a:bodyPr wrap="square" lIns="0" tIns="0" rIns="0" bIns="0" rtlCol="0" anchor="ctr">
            <a:normAutofit/>
          </a:bodyPr>
          <a:lstStyle/>
          <a:p>
            <a:pPr indent="0" marL="0">
              <a:buNone/>
            </a:pPr>
            <a:r>
              <a:rPr lang="en-US" sz="1050" dirty="0">
                <a:solidFill>
                  <a:srgbClr val="1E293B"/>
                </a:solidFill>
                <a:latin typeface="Aptos" pitchFamily="34" charset="0"/>
                <a:ea typeface="Aptos" pitchFamily="34" charset="-122"/>
                <a:cs typeface="Aptos" pitchFamily="34" charset="-120"/>
              </a:rPr>
              <a:t>editable PBIX, PDF export, and page previews</a:t>
            </a:r>
            <a:endParaRPr lang="en-US" sz="1050" dirty="0"/>
          </a:p>
        </p:txBody>
      </p:sp>
      <p:sp>
        <p:nvSpPr>
          <p:cNvPr id="23" name="Shape 21"/>
          <p:cNvSpPr/>
          <p:nvPr/>
        </p:nvSpPr>
        <p:spPr>
          <a:xfrm>
            <a:off x="6565392" y="4261104"/>
            <a:ext cx="4315968" cy="438912"/>
          </a:xfrm>
          <a:prstGeom prst="roundRect">
            <a:avLst>
              <a:gd name="adj" fmla="val 12500"/>
            </a:avLst>
          </a:prstGeom>
          <a:solidFill>
            <a:srgbClr val="FFFFFF"/>
          </a:solidFill>
          <a:ln w="12700">
            <a:solidFill>
              <a:srgbClr val="D8E2EE"/>
            </a:solidFill>
            <a:prstDash val="solid"/>
          </a:ln>
        </p:spPr>
        <p:txBody>
          <a:bodyPr/>
          <a:p/>
        </p:txBody>
      </p:sp>
      <p:sp>
        <p:nvSpPr>
          <p:cNvPr id="24" name="Text 22"/>
          <p:cNvSpPr/>
          <p:nvPr/>
        </p:nvSpPr>
        <p:spPr>
          <a:xfrm>
            <a:off x="6729984" y="4370832"/>
            <a:ext cx="1463040" cy="146304"/>
          </a:xfrm>
          <a:prstGeom prst="rect">
            <a:avLst/>
          </a:prstGeom>
          <a:noFill/>
          <a:ln/>
        </p:spPr>
        <p:txBody>
          <a:bodyPr wrap="square" lIns="0" tIns="0" rIns="0" bIns="0" rtlCol="0" anchor="ctr"/>
          <a:lstStyle/>
          <a:p>
            <a:pPr indent="0" marL="0">
              <a:buNone/>
            </a:pPr>
            <a:r>
              <a:rPr lang="en-US" sz="1080" b="1" dirty="0">
                <a:solidFill>
                  <a:srgbClr val="2A9D8F"/>
                </a:solidFill>
                <a:latin typeface="Aptos" pitchFamily="34" charset="0"/>
                <a:ea typeface="Aptos" pitchFamily="34" charset="-122"/>
                <a:cs typeface="Aptos" pitchFamily="34" charset="-120"/>
              </a:rPr>
              <a:t>data/README.md</a:t>
            </a:r>
            <a:endParaRPr lang="en-US" sz="1080" dirty="0"/>
          </a:p>
        </p:txBody>
      </p:sp>
      <p:sp>
        <p:nvSpPr>
          <p:cNvPr id="25" name="Text 23"/>
          <p:cNvSpPr/>
          <p:nvPr/>
        </p:nvSpPr>
        <p:spPr>
          <a:xfrm>
            <a:off x="8229600" y="4370832"/>
            <a:ext cx="2514600" cy="146304"/>
          </a:xfrm>
          <a:prstGeom prst="rect">
            <a:avLst/>
          </a:prstGeom>
          <a:noFill/>
          <a:ln/>
        </p:spPr>
        <p:txBody>
          <a:bodyPr wrap="square" lIns="0" tIns="0" rIns="0" bIns="0" rtlCol="0" anchor="ctr">
            <a:normAutofit/>
          </a:bodyPr>
          <a:lstStyle/>
          <a:p>
            <a:pPr indent="0" marL="0">
              <a:buNone/>
            </a:pPr>
            <a:r>
              <a:rPr lang="en-US" sz="1050" dirty="0">
                <a:solidFill>
                  <a:srgbClr val="1E293B"/>
                </a:solidFill>
                <a:latin typeface="Aptos" pitchFamily="34" charset="0"/>
                <a:ea typeface="Aptos" pitchFamily="34" charset="-122"/>
                <a:cs typeface="Aptos" pitchFamily="34" charset="-120"/>
              </a:rPr>
              <a:t>dataset source; raw Kaggle files excluded</a:t>
            </a:r>
            <a:endParaRPr lang="en-US" sz="1050" dirty="0"/>
          </a:p>
        </p:txBody>
      </p:sp>
      <p:sp>
        <p:nvSpPr>
          <p:cNvPr id="26" name="Shape 24"/>
          <p:cNvSpPr/>
          <p:nvPr/>
        </p:nvSpPr>
        <p:spPr>
          <a:xfrm>
            <a:off x="960120" y="5138928"/>
            <a:ext cx="10195560" cy="621792"/>
          </a:xfrm>
          <a:prstGeom prst="roundRect">
            <a:avLst>
              <a:gd name="adj" fmla="val 11765"/>
            </a:avLst>
          </a:prstGeom>
          <a:solidFill>
            <a:srgbClr val="0B1F3A"/>
          </a:solidFill>
          <a:ln w="12700">
            <a:solidFill>
              <a:srgbClr val="0B1F3A"/>
            </a:solidFill>
            <a:prstDash val="solid"/>
          </a:ln>
        </p:spPr>
        <p:txBody>
          <a:bodyPr/>
          <a:p/>
        </p:txBody>
      </p:sp>
      <p:sp>
        <p:nvSpPr>
          <p:cNvPr id="27" name="Text 25"/>
          <p:cNvSpPr/>
          <p:nvPr/>
        </p:nvSpPr>
        <p:spPr>
          <a:xfrm>
            <a:off x="1170432" y="5321808"/>
            <a:ext cx="9784080" cy="228600"/>
          </a:xfrm>
          <a:prstGeom prst="rect">
            <a:avLst/>
          </a:prstGeom>
          <a:noFill/>
          <a:ln/>
        </p:spPr>
        <p:txBody>
          <a:bodyPr wrap="square" lIns="0" tIns="0" rIns="0" bIns="0" rtlCol="0" anchor="ctr">
            <a:normAutofit/>
          </a:bodyPr>
          <a:lstStyle/>
          <a:p>
            <a:r>
              <a:rPr sz="1400">
                <a:solidFill>
                  <a:srgbClr val="FFFFFF"/>
                </a:solidFill>
              </a:rPr>
              <a:t>Final recommendation: govern model and threshold choices with fraud loss, customer friction, operational capacity, and fairness in view.</a:t>
            </a:r>
          </a:p>
        </p:txBody>
      </p:sp>
      <p:sp>
        <p:nvSpPr>
          <p:cNvPr id="25" name="Slide Number Placeholder 0"/>
          <p:cNvSpPr>
            <a:spLocks noGrp="1"/>
          </p:cNvSpPr>
          <p:nvPr>
            <p:ph type="sldNum" sz="quarter" idx="4294967295"/>
          </p:nvPr>
        </p:nvSpPr>
        <p:spPr>
          <a:xfrm>
            <a:off x="11356848" y="6556248"/>
            <a:ext cx="320040" cy="146304"/>
          </a:xfrm>
          <a:prstGeom prst="rect">
            <a:avLst/>
          </a:prstGeom>
          <a:extLst>
            <a:ext uri="{C572A759-6A51-4108-AA02-DFA0A04FC94B}">
              <ma14:wrappingTextBoxFlag xmlns:ma14="http://schemas.microsoft.com/office/mac/drawingml/2011/main" val="0"/>
            </a:ext>
          </a:extLst>
        </p:spPr>
        <p:txBody>
          <a:bodyPr/>
          <a:lstStyle>
            <a:lvl1pPr>
              <a:defRPr sz="65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Colorado State University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FraudShield BI: Quantifying the Impact of False Positives in Credit Card Fraud Detection</dc:title>
  <dc:subject>MIS581 Capstone Presentation</dc:subject>
  <dc:creator>Atta Febri-Yeboah</dc:creator>
  <cp:lastModifiedBy>Atta Febri-Yeboah</cp:lastModifiedBy>
  <cp:revision>1</cp:revision>
  <dcterms:created xsi:type="dcterms:W3CDTF">2026-07-05T20:32:12Z</dcterms:created>
  <dcterms:modified xsi:type="dcterms:W3CDTF">2026-07-05T20:32:12Z</dcterms:modified>
</cp:coreProperties>
</file>