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day, my name is Atta Febri-Yeboah. My capstone project is FraudShield BI: Quantifying the Impact of False Positives in Credit Card Fraud Detection. The main idea behind this project is that fraud prevention should not only be judged by how much fraud it catches. It also needs to be judged by how much unnecessary disruption it creates for legitimate customers. In this presentation, I will summarize the business problem, the dataset, the methods, the model results, the threshold and cost analysis, and how the Power BI dashboard turns the findings into a decision-support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problem I studied is the tension between fraud protection and customer experience. A fraud model can look effective if it catches suspicious activity, but if it creates too many false positives, it can also create a hidden cost. Those costs may include manual review, customer service contact, declined purchases, and reduced customer trust. My project calls this the False Positive Tax because it is a cost that may not be visible if the organization only focuses on model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was guided by three research questions. First, I studied how changing the classification threshold affected false positives, fraud detection, and estimated cost. Second, I examined which transaction characteristics were associated with false positives. Third, I evaluated how a dashboard and scenario analysis could help decision-makers compare fraud prevention with customer friction. The analysis led to rejection of all three null hypotheses because the data showed meaningful changes across thresholds, transaction segments, and cost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dataset came from the Kaggle credit card transactions fraud detection dataset, which was generated using Sparkov and contains simulated transaction records. I used the training file with 1,296,675 records and the testing file with 555,719 records. The fraud rate in the training data was only about 0.579 percent, which confirmed that this was a highly imbalanced classification problem. The supplied train/test files were practical for the capstone, but a production version should also use a validation sample and an untouched holdout sample for threshold selection and final confirmation. Ethically, I did not use employer data, real customer data, or internal fraud procedures. I also excluded direct identifiers such as credit card number, names, transaction number, street address, and merchant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exploratory analysis showed that fraud was not evenly distributed. Some transaction categories had much higher fraud rates than others. Online shopping, miscellaneous online transactions, and grocery point-of-sale transactions were among the highest categories. Time of day also mattered. The fraud rate increased sharply around 10:00 p.m. and 11:00 p.m., while most daytime hours were much lower. These patterns helped support the idea that transaction characteristics are important when evaluating fraud and false-positive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compared class-weighted logistic regression with histogram-based gradient boosting. Logistic regression was useful as an interpretable baseline, but at the default 0.50 threshold it produced 67,204 false positives and only 2.31 percent precision. Gradient boosting performed much better. It produced only 163 false positives, with 91.14 percent precision, 78.18 percent recall, and an F1-score of 84.17 percent. This was one of the strongest findings in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Threshold analysis was important because the default 0.50 cutoff is not automatically the best business choice. For logistic regression, increasing the threshold from 0.50 to 0.70 reduced false positives from 67,204 to 10,062, while true positives declined from 1,589 to 1,546. Gradient boosting had better separation, so it could use a lower threshold to catch more fraud without producing the same level of false-positive burden. This shows that threshold selection is not a minor technical detail. It directly affects review workload, customer friction, fraud capture, and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false-positive analysis showed that false positives were not evenly distributed across legitimate transactions. Travel transactions had the highest false-positive rate, at about 13.02 percent. Miscellaneous point-of-sale transactions were also high. False-positive transactions had a much higher average amount than correctly approved transactions. This matters because a false positive on a travel purchase may create more customer frustration than a routine transaction. The recommendation is not simply to flag fewer transactions, but to manage high-impact segments more carefully using step-up authentication, customer confirmation, or manual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cost scenario analysis applied low, moderate, and high assumptions to false-positive cost and missed fraud cost. Gradient boosting produced the lowest estimated total cost in every scenario. Under the moderate-cost scenario, the recommendation was gradient boosting at a 0.10 threshold, with an estimated total cost of 93,392 dollars and 28 cents. This result had 1,173 false positives, 258 false negatives, and 1,887 true positives. This threshold was not the highest F1-score threshold, but it was the lowest-cost threshold under the business assumptions. That is the main lesson: the best statistical threshold and the best business threshold may not always be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STER">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502920" y="6510528"/>
            <a:ext cx="11183112" cy="0"/>
          </a:xfrm>
          <a:prstGeom prst="line">
            <a:avLst/>
          </a:prstGeom>
          <a:noFill/>
          <a:ln w="8890">
            <a:solidFill>
              <a:srgbClr val="CAD6E2"/>
            </a:solidFill>
            <a:prstDash val="solid"/>
          </a:ln>
        </p:spPr>
      </p:sp>
      <p:sp>
        <p:nvSpPr>
          <p:cNvPr id="3" name="Text 1"/>
          <p:cNvSpPr/>
          <p:nvPr/>
        </p:nvSpPr>
        <p:spPr>
          <a:xfrm>
            <a:off x="530352" y="6565392"/>
            <a:ext cx="4754880" cy="164592"/>
          </a:xfrm>
          <a:prstGeom prst="rect">
            <a:avLst/>
          </a:prstGeom>
          <a:noFill/>
          <a:ln/>
        </p:spPr>
        <p:txBody>
          <a:bodyPr wrap="square" lIns="0" tIns="0" rIns="0" bIns="0" rtlCol="0" anchor="ctr"/>
          <a:lstStyle/>
          <a:p>
            <a:pPr indent="0" marL="0">
              <a:buNone/>
            </a:pPr>
            <a:r>
              <a:rPr lang="en-US" sz="660" dirty="0">
                <a:solidFill>
                  <a:srgbClr val="64748B"/>
                </a:solidFill>
                <a:latin typeface="Aptos" pitchFamily="34" charset="0"/>
                <a:ea typeface="Aptos" pitchFamily="34" charset="-122"/>
                <a:cs typeface="Aptos" pitchFamily="34" charset="-120"/>
              </a:rPr>
              <a:t>FraudShield BI | MIS581 Capstone</a:t>
            </a:r>
            <a:endParaRPr lang="en-US" sz="660" dirty="0"/>
          </a:p>
        </p:txBody>
      </p:sp>
      <p:sp>
        <p:nvSpPr>
          <p:cNvPr id="25" name="Slide Number Placeholder 0"/>
          <p:cNvSpPr>
            <a:spLocks noGrp="1"/>
          </p:cNvSpPr>
          <p:nvPr>
            <p:ph type="sldNum" sz="quarter" idx="4294967295"/>
          </p:nvPr>
        </p:nvSpPr>
        <p:spPr>
          <a:xfrm>
            <a:off x="11356848" y="6556248"/>
            <a:ext cx="320040" cy="146304"/>
          </a:xfrm>
          <a:prstGeom prst="rect">
            <a:avLst/>
          </a:prstGeom>
          <a:extLst>
            <a:ext uri="{C572A759-6A51-4108-AA02-DFA0A04FC94B}">
              <ma14:wrappingTextBoxFlag xmlns:ma14="http://schemas.microsoft.com/office/mac/drawingml/2011/main" val="0"/>
            </a:ext>
          </a:extLst>
        </p:spPr>
        <p:txBody>
          <a:bodyPr/>
          <a:lstStyle>
            <a:lvl1pPr>
              <a:defRPr sz="650">
                <a:solidFill>
                  <a:srgbClr val="64748B"/>
                </a:solidFill>
                <a:latin typeface="Aptos"/>
                <a:ea typeface="Aptos"/>
                <a:cs typeface="Aptos"/>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56848" y="6556248"/>
            <a:ext cx="320040" cy="146304"/>
          </a:xfrm>
          <a:prstGeom prst="rect">
            <a:avLst/>
          </a:prstGeom>
          <a:extLst>
            <a:ext uri="{C572A759-6A51-4108-AA02-DFA0A04FC94B}">
              <ma14:wrappingTextBoxFlag xmlns:ma14="http://schemas.microsoft.com/office/mac/drawingml/2011/main" val="0"/>
            </a:ext>
          </a:extLst>
        </p:spPr>
        <p:txBody>
          <a:bodyPr/>
          <a:lstStyle>
            <a:lvl1pPr>
              <a:defRPr sz="650">
                <a:solidFill>
                  <a:srgbClr val="64748B"/>
                </a:solidFill>
                <a:latin typeface="Aptos"/>
                <a:ea typeface="Aptos"/>
                <a:cs typeface="Aptos"/>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731520" y="841248"/>
            <a:ext cx="6583680" cy="493776"/>
          </a:xfrm>
          <a:prstGeom prst="rect">
            <a:avLst/>
          </a:prstGeom>
          <a:noFill/>
          <a:ln/>
        </p:spPr>
        <p:txBody>
          <a:bodyPr wrap="square" lIns="0" tIns="0" rIns="0" bIns="0" rtlCol="0" anchor="ctr"/>
          <a:lstStyle/>
          <a:p>
            <a:pPr indent="0" marL="0">
              <a:buNone/>
            </a:pPr>
            <a:r>
              <a:rPr lang="en-US" sz="4000" b="1" dirty="0">
                <a:solidFill>
                  <a:srgbClr val="FFFFFF"/>
                </a:solidFill>
                <a:latin typeface="Aptos Display" pitchFamily="34" charset="0"/>
                <a:ea typeface="Aptos Display" pitchFamily="34" charset="-122"/>
                <a:cs typeface="Aptos Display" pitchFamily="34" charset="-120"/>
              </a:rPr>
              <a:t>FraudShield BI</a:t>
            </a:r>
            <a:endParaRPr lang="en-US" sz="4000" dirty="0"/>
          </a:p>
        </p:txBody>
      </p:sp>
      <p:sp>
        <p:nvSpPr>
          <p:cNvPr id="3" name="Text 1"/>
          <p:cNvSpPr/>
          <p:nvPr/>
        </p:nvSpPr>
        <p:spPr>
          <a:xfrm>
            <a:off x="758952" y="1435608"/>
            <a:ext cx="6309360" cy="621792"/>
          </a:xfrm>
          <a:prstGeom prst="rect">
            <a:avLst/>
          </a:prstGeom>
          <a:noFill/>
          <a:ln/>
        </p:spPr>
        <p:txBody>
          <a:bodyPr wrap="square" lIns="0" tIns="0" rIns="0" bIns="0" rtlCol="0" anchor="ctr">
            <a:normAutofit/>
          </a:bodyPr>
          <a:lstStyle/>
          <a:p>
            <a:pPr indent="0" marL="0">
              <a:buNone/>
            </a:pPr>
            <a:r>
              <a:rPr lang="en-US" sz="2000" dirty="0">
                <a:solidFill>
                  <a:srgbClr val="DDEAF6"/>
                </a:solidFill>
                <a:latin typeface="Aptos" pitchFamily="34" charset="0"/>
                <a:ea typeface="Aptos" pitchFamily="34" charset="-122"/>
                <a:cs typeface="Aptos" pitchFamily="34" charset="-120"/>
              </a:rPr>
              <a:t>Quantifying the Impact of False Positives in Credit Card Fraud Detection</a:t>
            </a:r>
            <a:endParaRPr lang="en-US" sz="2000" dirty="0"/>
          </a:p>
        </p:txBody>
      </p:sp>
      <p:sp>
        <p:nvSpPr>
          <p:cNvPr id="4" name="Text 2"/>
          <p:cNvSpPr/>
          <p:nvPr/>
        </p:nvSpPr>
        <p:spPr>
          <a:xfrm>
            <a:off x="758952" y="2267712"/>
            <a:ext cx="5943600" cy="228600"/>
          </a:xfrm>
          <a:prstGeom prst="rect">
            <a:avLst/>
          </a:prstGeom>
          <a:noFill/>
          <a:ln/>
        </p:spPr>
        <p:txBody>
          <a:bodyPr wrap="square" lIns="0" tIns="0" rIns="0" bIns="0" rtlCol="0" anchor="ctr"/>
          <a:lstStyle/>
          <a:p>
            <a:pPr indent="0" marL="0">
              <a:buNone/>
            </a:pPr>
            <a:r>
              <a:rPr lang="en-US" sz="1250" dirty="0">
                <a:solidFill>
                  <a:srgbClr val="B9D5E8"/>
                </a:solidFill>
                <a:latin typeface="Aptos" pitchFamily="34" charset="0"/>
                <a:ea typeface="Aptos" pitchFamily="34" charset="-122"/>
                <a:cs typeface="Aptos" pitchFamily="34" charset="-120"/>
              </a:rPr>
              <a:t>MIS581 Capstone | Business Intelligence and Data Analytics</a:t>
            </a:r>
            <a:endParaRPr lang="en-US" sz="1250" dirty="0"/>
          </a:p>
        </p:txBody>
      </p:sp>
      <p:sp>
        <p:nvSpPr>
          <p:cNvPr id="5" name="Text 3"/>
          <p:cNvSpPr/>
          <p:nvPr/>
        </p:nvSpPr>
        <p:spPr>
          <a:xfrm>
            <a:off x="758952" y="5138928"/>
            <a:ext cx="5303520" cy="713232"/>
          </a:xfrm>
          <a:prstGeom prst="rect">
            <a:avLst/>
          </a:prstGeom>
          <a:noFill/>
          <a:ln/>
        </p:spPr>
        <p:txBody>
          <a:bodyPr wrap="square" lIns="254" tIns="254" rIns="254" bIns="254" rtlCol="0" anchor="ctr"/>
          <a:lstStyle/>
          <a:p>
            <a:r>
              <a:rPr sz="1800">
                <a:solidFill>
                  <a:srgbClr val="D7E6F5"/>
                </a:solidFill>
              </a:rPr>
              <a:t>Atta Febri-Yeboah</a:t>
            </a:r>
          </a:p>
          <a:p>
            <a:r>
              <a:rPr sz="1800">
                <a:solidFill>
                  <a:srgbClr val="D7E6F5"/>
                </a:solidFill>
              </a:rPr>
              <a:t>Colorado State University Global</a:t>
            </a:r>
          </a:p>
          <a:p>
            <a:r>
              <a:rPr sz="1800">
                <a:solidFill>
                  <a:srgbClr val="D7E6F5"/>
                </a:solidFill>
              </a:rPr>
              <a:t>Dr. Jamia Mills | July 2026</a:t>
            </a:r>
          </a:p>
        </p:txBody>
      </p:sp>
      <p:sp>
        <p:nvSpPr>
          <p:cNvPr id="6" name="Shape 4"/>
          <p:cNvSpPr/>
          <p:nvPr/>
        </p:nvSpPr>
        <p:spPr>
          <a:xfrm>
            <a:off x="7452360" y="804672"/>
            <a:ext cx="3931920" cy="5084064"/>
          </a:xfrm>
          <a:prstGeom prst="roundRect">
            <a:avLst>
              <a:gd name="adj" fmla="val 1860"/>
            </a:avLst>
          </a:prstGeom>
          <a:solidFill>
            <a:srgbClr val="12365C"/>
          </a:solidFill>
          <a:ln w="12700">
            <a:solidFill>
              <a:srgbClr val="315B7A">
                <a:alpha val="90000"/>
              </a:srgbClr>
            </a:solidFill>
            <a:prstDash val="solid"/>
          </a:ln>
        </p:spPr>
        <p:txBody>
          <a:bodyPr/>
          <a:p/>
        </p:txBody>
      </p:sp>
      <p:pic>
        <p:nvPicPr>
          <p:cNvPr id="7" name="Image 0" descr="/mnt/data/figure_9_model_performance_comparison.png">    </p:cNvPr>
          <p:cNvPicPr>
            <a:picLocks noChangeAspect="1"/>
          </p:cNvPicPr>
          <p:nvPr/>
        </p:nvPicPr>
        <p:blipFill>
          <a:blip r:embed="rId1"/>
          <a:stretch>
            <a:fillRect/>
          </a:stretch>
        </p:blipFill>
        <p:spPr>
          <a:xfrm>
            <a:off x="7635240" y="1253617"/>
            <a:ext cx="3566160" cy="1927607"/>
          </a:xfrm>
          <a:prstGeom prst="rect">
            <a:avLst/>
          </a:prstGeom>
        </p:spPr>
      </p:pic>
      <p:sp>
        <p:nvSpPr>
          <p:cNvPr id="8" name="Shape 5"/>
          <p:cNvSpPr/>
          <p:nvPr/>
        </p:nvSpPr>
        <p:spPr>
          <a:xfrm>
            <a:off x="7680960" y="3675888"/>
            <a:ext cx="1554480" cy="987552"/>
          </a:xfrm>
          <a:prstGeom prst="roundRect">
            <a:avLst>
              <a:gd name="adj" fmla="val 7407"/>
            </a:avLst>
          </a:prstGeom>
          <a:solidFill>
            <a:srgbClr val="E6F6F3"/>
          </a:solidFill>
          <a:ln w="10160">
            <a:solidFill>
              <a:srgbClr val="D8E2EE"/>
            </a:solidFill>
            <a:prstDash val="solid"/>
          </a:ln>
        </p:spPr>
        <p:txBody>
          <a:bodyPr/>
          <a:p/>
        </p:txBody>
      </p:sp>
      <p:sp>
        <p:nvSpPr>
          <p:cNvPr id="9" name="Text 6"/>
          <p:cNvSpPr/>
          <p:nvPr/>
        </p:nvSpPr>
        <p:spPr>
          <a:xfrm>
            <a:off x="7790688" y="3840480"/>
            <a:ext cx="1335024" cy="329184"/>
          </a:xfrm>
          <a:prstGeom prst="rect">
            <a:avLst/>
          </a:prstGeom>
          <a:noFill/>
          <a:ln/>
        </p:spPr>
        <p:txBody>
          <a:bodyPr wrap="square" lIns="0" tIns="0" rIns="0" bIns="0" rtlCol="0" anchor="ctr"/>
          <a:lstStyle/>
          <a:p>
            <a:pPr algn="ctr" indent="0" marL="0">
              <a:buNone/>
            </a:pPr>
            <a:r>
              <a:rPr lang="en-US" sz="2100" b="1" dirty="0">
                <a:solidFill>
                  <a:srgbClr val="2A9D8F"/>
                </a:solidFill>
                <a:latin typeface="Aptos Display" pitchFamily="34" charset="0"/>
                <a:ea typeface="Aptos Display" pitchFamily="34" charset="-122"/>
                <a:cs typeface="Aptos Display" pitchFamily="34" charset="-120"/>
              </a:rPr>
              <a:t>91.14%</a:t>
            </a:r>
            <a:endParaRPr lang="en-US" sz="2100" dirty="0"/>
          </a:p>
        </p:txBody>
      </p:sp>
      <p:sp>
        <p:nvSpPr>
          <p:cNvPr id="10" name="Text 7"/>
          <p:cNvSpPr/>
          <p:nvPr/>
        </p:nvSpPr>
        <p:spPr>
          <a:xfrm>
            <a:off x="7808976" y="4242816"/>
            <a:ext cx="1298448" cy="256032"/>
          </a:xfrm>
          <a:prstGeom prst="rect">
            <a:avLst/>
          </a:prstGeom>
          <a:noFill/>
          <a:ln/>
        </p:spPr>
        <p:txBody>
          <a:bodyPr wrap="square" lIns="0" tIns="0" rIns="0" bIns="0" rtlCol="0" anchor="ctr">
            <a:normAutofit/>
          </a:bodyPr>
          <a:lstStyle/>
          <a:p>
            <a:pPr algn="ctr" indent="0" marL="0">
              <a:buNone/>
            </a:pPr>
            <a:r>
              <a:rPr lang="en-US" sz="950" dirty="0">
                <a:solidFill>
                  <a:srgbClr val="475569"/>
                </a:solidFill>
                <a:latin typeface="Aptos" pitchFamily="34" charset="0"/>
                <a:ea typeface="Aptos" pitchFamily="34" charset="-122"/>
                <a:cs typeface="Aptos" pitchFamily="34" charset="-120"/>
              </a:rPr>
              <a:t>Gradient boosting precision at 0.50</a:t>
            </a:r>
            <a:endParaRPr lang="en-US" sz="950" dirty="0"/>
          </a:p>
        </p:txBody>
      </p:sp>
      <p:sp>
        <p:nvSpPr>
          <p:cNvPr id="11" name="Shape 8"/>
          <p:cNvSpPr/>
          <p:nvPr/>
        </p:nvSpPr>
        <p:spPr>
          <a:xfrm>
            <a:off x="9372600" y="3675888"/>
            <a:ext cx="1554480" cy="987552"/>
          </a:xfrm>
          <a:prstGeom prst="roundRect">
            <a:avLst>
              <a:gd name="adj" fmla="val 7407"/>
            </a:avLst>
          </a:prstGeom>
          <a:solidFill>
            <a:srgbClr val="FEF4E8"/>
          </a:solidFill>
          <a:ln w="10160">
            <a:solidFill>
              <a:srgbClr val="D8E2EE"/>
            </a:solidFill>
            <a:prstDash val="solid"/>
          </a:ln>
        </p:spPr>
        <p:txBody>
          <a:bodyPr/>
          <a:p/>
        </p:txBody>
      </p:sp>
      <p:sp>
        <p:nvSpPr>
          <p:cNvPr id="12" name="Text 9"/>
          <p:cNvSpPr/>
          <p:nvPr/>
        </p:nvSpPr>
        <p:spPr>
          <a:xfrm>
            <a:off x="9482328" y="3840480"/>
            <a:ext cx="1335024" cy="329184"/>
          </a:xfrm>
          <a:prstGeom prst="rect">
            <a:avLst/>
          </a:prstGeom>
          <a:noFill/>
          <a:ln/>
        </p:spPr>
        <p:txBody>
          <a:bodyPr wrap="square" lIns="0" tIns="0" rIns="0" bIns="0" rtlCol="0" anchor="ctr"/>
          <a:lstStyle/>
          <a:p>
            <a:pPr algn="ctr" indent="0" marL="0">
              <a:buNone/>
            </a:pPr>
            <a:r>
              <a:rPr lang="en-US" sz="2100" b="1" dirty="0">
                <a:solidFill>
                  <a:srgbClr val="F4A261"/>
                </a:solidFill>
                <a:latin typeface="Aptos Display" pitchFamily="34" charset="0"/>
                <a:ea typeface="Aptos Display" pitchFamily="34" charset="-122"/>
                <a:cs typeface="Aptos Display" pitchFamily="34" charset="-120"/>
              </a:rPr>
              <a:t>163</a:t>
            </a:r>
            <a:endParaRPr lang="en-US" sz="2100" dirty="0"/>
          </a:p>
        </p:txBody>
      </p:sp>
      <p:sp>
        <p:nvSpPr>
          <p:cNvPr id="13" name="Text 10"/>
          <p:cNvSpPr/>
          <p:nvPr/>
        </p:nvSpPr>
        <p:spPr>
          <a:xfrm>
            <a:off x="9500616" y="4242816"/>
            <a:ext cx="1298448" cy="256032"/>
          </a:xfrm>
          <a:prstGeom prst="rect">
            <a:avLst/>
          </a:prstGeom>
          <a:noFill/>
          <a:ln/>
        </p:spPr>
        <p:txBody>
          <a:bodyPr wrap="square" lIns="0" tIns="0" rIns="0" bIns="0" rtlCol="0" anchor="ctr">
            <a:normAutofit/>
          </a:bodyPr>
          <a:lstStyle/>
          <a:p>
            <a:pPr algn="ctr" indent="0" marL="0">
              <a:buNone/>
            </a:pPr>
            <a:r>
              <a:rPr lang="en-US" sz="950" dirty="0">
                <a:solidFill>
                  <a:srgbClr val="475569"/>
                </a:solidFill>
                <a:latin typeface="Aptos" pitchFamily="34" charset="0"/>
                <a:ea typeface="Aptos" pitchFamily="34" charset="-122"/>
                <a:cs typeface="Aptos" pitchFamily="34" charset="-120"/>
              </a:rPr>
              <a:t>False positives at 0.50</a:t>
            </a:r>
            <a:endParaRPr lang="en-US" sz="950" dirty="0"/>
          </a:p>
        </p:txBody>
      </p:sp>
      <p:sp>
        <p:nvSpPr>
          <p:cNvPr id="14" name="Text 11"/>
          <p:cNvSpPr/>
          <p:nvPr/>
        </p:nvSpPr>
        <p:spPr>
          <a:xfrm>
            <a:off x="7699248" y="4846320"/>
            <a:ext cx="3429000" cy="530352"/>
          </a:xfrm>
          <a:prstGeom prst="rect">
            <a:avLst/>
          </a:prstGeom>
          <a:noFill/>
          <a:ln/>
        </p:spPr>
        <p:txBody>
          <a:bodyPr wrap="square" lIns="254" tIns="254" rIns="254" bIns="254" rtlCol="0" anchor="ctr">
            <a:normAutofit/>
          </a:bodyPr>
          <a:lstStyle/>
          <a:p>
            <a:pPr indent="0" marL="0">
              <a:buNone/>
            </a:pPr>
            <a:r>
              <a:rPr lang="en-US" sz="1220" dirty="0">
                <a:solidFill>
                  <a:srgbClr val="DDEAF6"/>
                </a:solidFill>
                <a:latin typeface="Aptos" pitchFamily="34" charset="0"/>
                <a:ea typeface="Aptos" pitchFamily="34" charset="-122"/>
                <a:cs typeface="Aptos" pitchFamily="34" charset="-120"/>
              </a:rPr>
              <a:t>False positives create a hidden “tax” through review workload, customer friction, and missed business opportunities.</a:t>
            </a:r>
            <a:endParaRPr lang="en-US" sz="1220" dirty="0"/>
          </a:p>
        </p:txBody>
      </p:sp>
      <p:sp>
        <p:nvSpPr>
          <p:cNvPr id="25" name="Slide Number Placeholder 0"/>
          <p:cNvSpPr>
            <a:spLocks noGrp="1"/>
          </p:cNvSpPr>
          <p:nvPr>
            <p:ph type="sldNum" sz="quarter" idx="4294967295"/>
          </p:nvPr>
        </p:nvSpPr>
        <p:spPr>
          <a:xfrm>
            <a:off x="11356848" y="6556248"/>
            <a:ext cx="320040" cy="146304"/>
          </a:xfrm>
          <a:prstGeom prst="rect">
            <a:avLst/>
          </a:prstGeom>
          <a:extLst>
            <a:ext uri="{C572A759-6A51-4108-AA02-DFA0A04FC94B}">
              <ma14:wrappingTextBoxFlag xmlns:ma14="http://schemas.microsoft.com/office/mac/drawingml/2011/main" val="0"/>
            </a:ext>
          </a:extLst>
        </p:spPr>
        <p:txBody>
          <a:bodyPr/>
          <a:lstStyle>
            <a:lvl1pPr>
              <a:defRPr sz="650">
                <a:solidFill>
                  <a:srgbClr val="64748B"/>
                </a:solidFill>
                <a:latin typeface="Aptos"/>
                <a:ea typeface="Aptos"/>
                <a:cs typeface="Aptos"/>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58368" y="320040"/>
            <a:ext cx="10881360" cy="201168"/>
          </a:xfrm>
          <a:prstGeom prst="rect">
            <a:avLst/>
          </a:prstGeom>
          <a:noFill/>
          <a:ln/>
        </p:spPr>
        <p:txBody>
          <a:bodyPr wrap="square" lIns="0" tIns="0" rIns="0" bIns="0" rtlCol="0" anchor="ctr"/>
          <a:lstStyle/>
          <a:p>
            <a:pPr indent="0" marL="0">
              <a:buNone/>
            </a:pPr>
            <a:r>
              <a:rPr lang="en-US" sz="850" b="1" dirty="0">
                <a:solidFill>
                  <a:srgbClr val="2A9D8F"/>
                </a:solidFill>
                <a:latin typeface="Aptos" pitchFamily="34" charset="0"/>
                <a:ea typeface="Aptos" pitchFamily="34" charset="-122"/>
                <a:cs typeface="Aptos" pitchFamily="34" charset="-120"/>
              </a:rPr>
              <a:t>PROJECT PURPOSE</a:t>
            </a:r>
            <a:endParaRPr lang="en-US" sz="850" dirty="0"/>
          </a:p>
        </p:txBody>
      </p:sp>
      <p:sp>
        <p:nvSpPr>
          <p:cNvPr id="3" name="Text 1"/>
          <p:cNvSpPr/>
          <p:nvPr/>
        </p:nvSpPr>
        <p:spPr>
          <a:xfrm>
            <a:off x="640080" y="566928"/>
            <a:ext cx="10835640" cy="475488"/>
          </a:xfrm>
          <a:prstGeom prst="rect">
            <a:avLst/>
          </a:prstGeom>
          <a:noFill/>
          <a:ln/>
        </p:spPr>
        <p:txBody>
          <a:bodyPr wrap="square" lIns="0" tIns="0" rIns="0" bIns="0" rtlCol="0" anchor="ctr">
            <a:normAutofit/>
          </a:bodyPr>
          <a:lstStyle/>
          <a:p>
            <a:pPr indent="0" marL="0">
              <a:buNone/>
            </a:pPr>
            <a:r>
              <a:rPr lang="en-US" sz="2700" b="1" dirty="0">
                <a:solidFill>
                  <a:srgbClr val="0B1F3A"/>
                </a:solidFill>
                <a:latin typeface="Aptos Display" pitchFamily="34" charset="0"/>
                <a:ea typeface="Aptos Display" pitchFamily="34" charset="-122"/>
                <a:cs typeface="Aptos Display" pitchFamily="34" charset="-120"/>
              </a:rPr>
              <a:t>Business Problem: Fraud Controls Can Create Customer Friction</a:t>
            </a:r>
            <a:endParaRPr lang="en-US" sz="2700" dirty="0"/>
          </a:p>
        </p:txBody>
      </p:sp>
      <p:sp>
        <p:nvSpPr>
          <p:cNvPr id="4" name="Shape 2"/>
          <p:cNvSpPr/>
          <p:nvPr/>
        </p:nvSpPr>
        <p:spPr>
          <a:xfrm>
            <a:off x="658368" y="1161288"/>
            <a:ext cx="1097280" cy="0"/>
          </a:xfrm>
          <a:prstGeom prst="line">
            <a:avLst/>
          </a:prstGeom>
          <a:noFill/>
          <a:ln w="38100">
            <a:solidFill>
              <a:srgbClr val="2A9D8F"/>
            </a:solidFill>
            <a:prstDash val="solid"/>
          </a:ln>
        </p:spPr>
      </p:sp>
      <p:sp>
        <p:nvSpPr>
          <p:cNvPr id="5" name="Text 3"/>
          <p:cNvSpPr/>
          <p:nvPr/>
        </p:nvSpPr>
        <p:spPr>
          <a:xfrm>
            <a:off x="685800" y="1481328"/>
            <a:ext cx="4206240" cy="310896"/>
          </a:xfrm>
          <a:prstGeom prst="rect">
            <a:avLst/>
          </a:prstGeom>
          <a:noFill/>
          <a:ln/>
        </p:spPr>
        <p:txBody>
          <a:bodyPr wrap="square" lIns="0" tIns="0" rIns="0" bIns="0" rtlCol="0" anchor="ctr"/>
          <a:lstStyle/>
          <a:p>
            <a:pPr indent="0" marL="0">
              <a:buNone/>
            </a:pPr>
            <a:r>
              <a:rPr lang="en-US" sz="2300" b="1" dirty="0">
                <a:solidFill>
                  <a:srgbClr val="0B1F3A"/>
                </a:solidFill>
                <a:latin typeface="Aptos Display" pitchFamily="34" charset="0"/>
                <a:ea typeface="Aptos Display" pitchFamily="34" charset="-122"/>
                <a:cs typeface="Aptos Display" pitchFamily="34" charset="-120"/>
              </a:rPr>
              <a:t>The practical challenge</a:t>
            </a:r>
            <a:endParaRPr lang="en-US" sz="2300" dirty="0"/>
          </a:p>
        </p:txBody>
      </p:sp>
      <p:sp>
        <p:nvSpPr>
          <p:cNvPr id="6" name="Text 4"/>
          <p:cNvSpPr/>
          <p:nvPr/>
        </p:nvSpPr>
        <p:spPr>
          <a:xfrm>
            <a:off x="749808" y="1920240"/>
            <a:ext cx="4800600" cy="2194560"/>
          </a:xfrm>
          <a:prstGeom prst="rect">
            <a:avLst/>
          </a:prstGeom>
          <a:noFill/>
          <a:ln/>
        </p:spPr>
        <p:txBody>
          <a:bodyPr wrap="square" lIns="381" tIns="381" rIns="381" bIns="381" rtlCol="0" anchor="ctr">
            <a:normAutofit/>
          </a:bodyPr>
          <a:lstStyle/>
          <a:p>
            <a:r>
              <a:rPr lang="en-US" sz="1600" dirty="0">
                <a:solidFill>
                  <a:srgbClr val="1E293B"/>
                </a:solidFill>
                <a:latin typeface="Aptos" pitchFamily="34" charset="0"/>
                <a:ea typeface="Aptos" pitchFamily="34" charset="-122"/>
                <a:cs typeface="Aptos" pitchFamily="34" charset="-120"/>
              </a:rPr>
              <a:t>Fraud systems must identify suspicious activity quickly.</a:t>
            </a:r>
            <a:endParaRPr lang="en-US" sz="1600" dirty="0"/>
          </a:p>
          <a:p>
            <a:r>
              <a:rPr lang="en-US" sz="1600" dirty="0">
                <a:solidFill>
                  <a:srgbClr val="1E293B"/>
                </a:solidFill>
                <a:latin typeface="Aptos" pitchFamily="34" charset="0"/>
                <a:ea typeface="Aptos" pitchFamily="34" charset="-122"/>
                <a:cs typeface="Aptos" pitchFamily="34" charset="-120"/>
              </a:rPr>
              <a:t>Overly aggressive controls can block or review legitimate customers.</a:t>
            </a:r>
            <a:endParaRPr lang="en-US" sz="1600" dirty="0"/>
          </a:p>
          <a:p>
            <a:r>
              <a:rPr lang="en-US" sz="1600" dirty="0">
                <a:solidFill>
                  <a:srgbClr val="1E293B"/>
                </a:solidFill>
                <a:latin typeface="Aptos" pitchFamily="34" charset="0"/>
                <a:ea typeface="Aptos" pitchFamily="34" charset="-122"/>
                <a:cs typeface="Aptos" pitchFamily="34" charset="-120"/>
              </a:rPr>
              <a:t>False positives can increase manual reviews, call volume, customer frustration, and lost transaction value.</a:t>
            </a:r>
            <a:endParaRPr lang="en-US" sz="1600" dirty="0"/>
          </a:p>
          <a:p>
            <a:r>
              <a:rPr lang="en-US" sz="1600" dirty="0">
                <a:solidFill>
                  <a:srgbClr val="1E293B"/>
                </a:solidFill>
                <a:latin typeface="Aptos" pitchFamily="34" charset="0"/>
                <a:ea typeface="Aptos" pitchFamily="34" charset="-122"/>
                <a:cs typeface="Aptos" pitchFamily="34" charset="-120"/>
              </a:rPr>
              <a:t>Accuracy alone can hide these tradeoffs in highly imbalanced fraud data.</a:t>
            </a:r>
            <a:endParaRPr lang="en-US" sz="1600" dirty="0"/>
          </a:p>
        </p:txBody>
      </p:sp>
      <p:sp>
        <p:nvSpPr>
          <p:cNvPr id="7" name="Shape 5"/>
          <p:cNvSpPr/>
          <p:nvPr/>
        </p:nvSpPr>
        <p:spPr>
          <a:xfrm>
            <a:off x="5742432" y="2286000"/>
            <a:ext cx="594360" cy="822960"/>
          </a:xfrm>
          <a:prstGeom prst="chevron">
            <a:avLst/>
          </a:prstGeom>
          <a:solidFill>
            <a:srgbClr val="2A9D8F"/>
          </a:solidFill>
          <a:ln w="12700">
            <a:solidFill>
              <a:srgbClr val="2A9D8F"/>
            </a:solidFill>
            <a:prstDash val="solid"/>
          </a:ln>
        </p:spPr>
      </p:sp>
      <p:sp>
        <p:nvSpPr>
          <p:cNvPr id="8" name="Shape 6"/>
          <p:cNvSpPr/>
          <p:nvPr/>
        </p:nvSpPr>
        <p:spPr>
          <a:xfrm>
            <a:off x="6537960" y="1508760"/>
            <a:ext cx="4800600" cy="3794760"/>
          </a:xfrm>
          <a:prstGeom prst="roundRect">
            <a:avLst>
              <a:gd name="adj" fmla="val 2410"/>
            </a:avLst>
          </a:prstGeom>
          <a:solidFill>
            <a:srgbClr val="FFFFFF"/>
          </a:solidFill>
          <a:ln w="10160">
            <a:solidFill>
              <a:srgbClr val="D8E2EE"/>
            </a:solidFill>
            <a:prstDash val="solid"/>
          </a:ln>
        </p:spPr>
      </p:sp>
      <p:sp>
        <p:nvSpPr>
          <p:cNvPr id="9" name="Text 7"/>
          <p:cNvSpPr/>
          <p:nvPr/>
        </p:nvSpPr>
        <p:spPr>
          <a:xfrm>
            <a:off x="6812280" y="1810512"/>
            <a:ext cx="4206240" cy="457200"/>
          </a:xfrm>
          <a:prstGeom prst="rect">
            <a:avLst/>
          </a:prstGeom>
          <a:noFill/>
          <a:ln/>
        </p:spPr>
        <p:txBody>
          <a:bodyPr wrap="square" lIns="254" tIns="254" rIns="254" bIns="254" rtlCol="0" anchor="ctr">
            <a:normAutofit/>
          </a:bodyPr>
          <a:lstStyle/>
          <a:p>
            <a:pPr indent="0" marL="0">
              <a:buNone/>
            </a:pPr>
            <a:r>
              <a:rPr lang="en-US" sz="2000" b="1" dirty="0">
                <a:solidFill>
                  <a:srgbClr val="0B1F3A"/>
                </a:solidFill>
                <a:latin typeface="Aptos Display" pitchFamily="34" charset="0"/>
                <a:ea typeface="Aptos Display" pitchFamily="34" charset="-122"/>
                <a:cs typeface="Aptos Display" pitchFamily="34" charset="-120"/>
              </a:rPr>
              <a:t>FraudShield BI reframes fraud detection as a business decision:</a:t>
            </a:r>
            <a:endParaRPr lang="en-US" sz="2000" dirty="0"/>
          </a:p>
        </p:txBody>
      </p:sp>
      <p:sp>
        <p:nvSpPr>
          <p:cNvPr id="10" name="Text 8"/>
          <p:cNvSpPr/>
          <p:nvPr/>
        </p:nvSpPr>
        <p:spPr>
          <a:xfrm>
            <a:off x="6839712" y="2615184"/>
            <a:ext cx="4160520" cy="868680"/>
          </a:xfrm>
          <a:prstGeom prst="rect">
            <a:avLst/>
          </a:prstGeom>
          <a:noFill/>
          <a:ln/>
        </p:spPr>
        <p:txBody>
          <a:bodyPr wrap="square" lIns="254" tIns="254" rIns="254" bIns="254" rtlCol="0" anchor="ctr">
            <a:normAutofit/>
          </a:bodyPr>
          <a:lstStyle/>
          <a:p>
            <a:pPr indent="0" marL="0">
              <a:buNone/>
            </a:pPr>
            <a:r>
              <a:rPr lang="en-US" sz="1850" dirty="0">
                <a:solidFill>
                  <a:srgbClr val="1E293B"/>
                </a:solidFill>
                <a:latin typeface="Aptos" pitchFamily="34" charset="0"/>
                <a:ea typeface="Aptos" pitchFamily="34" charset="-122"/>
                <a:cs typeface="Aptos" pitchFamily="34" charset="-120"/>
              </a:rPr>
              <a:t>Model choice + threshold choice → fraud prevention, customer friction, review workload, and cost.</a:t>
            </a:r>
            <a:endParaRPr lang="en-US" sz="1850" dirty="0"/>
          </a:p>
        </p:txBody>
      </p:sp>
      <p:sp>
        <p:nvSpPr>
          <p:cNvPr id="11" name="Shape 9"/>
          <p:cNvSpPr/>
          <p:nvPr/>
        </p:nvSpPr>
        <p:spPr>
          <a:xfrm>
            <a:off x="7662672" y="3886200"/>
            <a:ext cx="2560320" cy="347472"/>
          </a:xfrm>
          <a:prstGeom prst="roundRect">
            <a:avLst>
              <a:gd name="adj" fmla="val 21053"/>
            </a:avLst>
          </a:prstGeom>
          <a:solidFill>
            <a:srgbClr val="E76F51"/>
          </a:solidFill>
          <a:ln w="12700">
            <a:solidFill>
              <a:srgbClr val="E76F51"/>
            </a:solidFill>
            <a:prstDash val="solid"/>
          </a:ln>
        </p:spPr>
      </p:sp>
      <p:sp>
        <p:nvSpPr>
          <p:cNvPr id="12" name="Text 10"/>
          <p:cNvSpPr/>
          <p:nvPr/>
        </p:nvSpPr>
        <p:spPr>
          <a:xfrm>
            <a:off x="7772400" y="3973068"/>
            <a:ext cx="2340864" cy="146304"/>
          </a:xfrm>
          <a:prstGeom prst="rect">
            <a:avLst/>
          </a:prstGeom>
          <a:noFill/>
          <a:ln/>
        </p:spPr>
        <p:txBody>
          <a:bodyPr wrap="square" lIns="0" tIns="0" rIns="0" bIns="0" rtlCol="0" anchor="ctr"/>
          <a:lstStyle/>
          <a:p>
            <a:pPr algn="ctr" indent="0" marL="0">
              <a:buNone/>
            </a:pPr>
            <a:r>
              <a:rPr lang="en-US" sz="950" b="1" dirty="0">
                <a:solidFill>
                  <a:srgbClr val="FFFFFF"/>
                </a:solidFill>
                <a:latin typeface="Aptos" pitchFamily="34" charset="0"/>
                <a:ea typeface="Aptos" pitchFamily="34" charset="-122"/>
                <a:cs typeface="Aptos" pitchFamily="34" charset="-120"/>
              </a:rPr>
              <a:t>False Positive Tax</a:t>
            </a:r>
            <a:endParaRPr lang="en-US" sz="950" dirty="0"/>
          </a:p>
        </p:txBody>
      </p:sp>
      <p:sp>
        <p:nvSpPr>
          <p:cNvPr id="13" name="Text 11"/>
          <p:cNvSpPr/>
          <p:nvPr/>
        </p:nvSpPr>
        <p:spPr>
          <a:xfrm>
            <a:off x="6839712" y="4462272"/>
            <a:ext cx="4069080" cy="475488"/>
          </a:xfrm>
          <a:prstGeom prst="rect">
            <a:avLst/>
          </a:prstGeom>
          <a:noFill/>
          <a:ln/>
        </p:spPr>
        <p:txBody>
          <a:bodyPr wrap="square" lIns="254" tIns="254" rIns="254" bIns="254" rtlCol="0" anchor="ctr">
            <a:normAutofit/>
          </a:bodyPr>
          <a:lstStyle/>
          <a:p>
            <a:pPr indent="0" marL="0">
              <a:buNone/>
            </a:pPr>
            <a:r>
              <a:rPr lang="en-US" sz="1260" dirty="0">
                <a:solidFill>
                  <a:srgbClr val="475569"/>
                </a:solidFill>
                <a:latin typeface="Aptos" pitchFamily="34" charset="0"/>
                <a:ea typeface="Aptos" pitchFamily="34" charset="-122"/>
                <a:cs typeface="Aptos" pitchFamily="34" charset="-120"/>
              </a:rPr>
              <a:t>A business-readable estimate of the cost created when legitimate transactions are incorrectly flagged.</a:t>
            </a:r>
            <a:endParaRPr lang="en-US" sz="1260" dirty="0"/>
          </a:p>
        </p:txBody>
      </p:sp>
      <p:sp>
        <p:nvSpPr>
          <p:cNvPr id="25" name="Slide Number Placeholder 0"/>
          <p:cNvSpPr>
            <a:spLocks noGrp="1"/>
          </p:cNvSpPr>
          <p:nvPr>
            <p:ph type="sldNum" sz="quarter" idx="4294967295"/>
          </p:nvPr>
        </p:nvSpPr>
        <p:spPr>
          <a:xfrm>
            <a:off x="11356848" y="6556248"/>
            <a:ext cx="320040" cy="146304"/>
          </a:xfrm>
          <a:prstGeom prst="rect">
            <a:avLst/>
          </a:prstGeom>
          <a:extLst>
            <a:ext uri="{C572A759-6A51-4108-AA02-DFA0A04FC94B}">
              <ma14:wrappingTextBoxFlag xmlns:ma14="http://schemas.microsoft.com/office/mac/drawingml/2011/main" val="0"/>
            </a:ext>
          </a:extLst>
        </p:spPr>
        <p:txBody>
          <a:bodyPr/>
          <a:lstStyle>
            <a:lvl1pPr>
              <a:defRPr sz="650">
                <a:solidFill>
                  <a:srgbClr val="64748B"/>
                </a:solidFill>
                <a:latin typeface="Aptos"/>
                <a:ea typeface="Aptos"/>
                <a:cs typeface="Aptos"/>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58368" y="320040"/>
            <a:ext cx="10881360" cy="201168"/>
          </a:xfrm>
          <a:prstGeom prst="rect">
            <a:avLst/>
          </a:prstGeom>
          <a:noFill/>
          <a:ln/>
        </p:spPr>
        <p:txBody>
          <a:bodyPr wrap="square" lIns="0" tIns="0" rIns="0" bIns="0" rtlCol="0" anchor="ctr"/>
          <a:lstStyle/>
          <a:p>
            <a:pPr indent="0" marL="0">
              <a:buNone/>
            </a:pPr>
            <a:r>
              <a:rPr lang="en-US" sz="850" b="1" dirty="0">
                <a:solidFill>
                  <a:srgbClr val="2A9D8F"/>
                </a:solidFill>
                <a:latin typeface="Aptos" pitchFamily="34" charset="0"/>
                <a:ea typeface="Aptos" pitchFamily="34" charset="-122"/>
                <a:cs typeface="Aptos" pitchFamily="34" charset="-120"/>
              </a:rPr>
              <a:t>STUDY FOCUS</a:t>
            </a:r>
            <a:endParaRPr lang="en-US" sz="850" dirty="0"/>
          </a:p>
        </p:txBody>
      </p:sp>
      <p:sp>
        <p:nvSpPr>
          <p:cNvPr id="3" name="Text 1"/>
          <p:cNvSpPr/>
          <p:nvPr/>
        </p:nvSpPr>
        <p:spPr>
          <a:xfrm>
            <a:off x="640080" y="566928"/>
            <a:ext cx="10835640" cy="475488"/>
          </a:xfrm>
          <a:prstGeom prst="rect">
            <a:avLst/>
          </a:prstGeom>
          <a:noFill/>
          <a:ln/>
        </p:spPr>
        <p:txBody>
          <a:bodyPr wrap="square" lIns="0" tIns="0" rIns="0" bIns="0" rtlCol="0" anchor="ctr">
            <a:normAutofit/>
          </a:bodyPr>
          <a:lstStyle/>
          <a:p>
            <a:pPr indent="0" marL="0">
              <a:buNone/>
            </a:pPr>
            <a:r>
              <a:rPr lang="en-US" sz="2700" b="1" dirty="0">
                <a:solidFill>
                  <a:srgbClr val="0B1F3A"/>
                </a:solidFill>
                <a:latin typeface="Aptos Display" pitchFamily="34" charset="0"/>
                <a:ea typeface="Aptos Display" pitchFamily="34" charset="-122"/>
                <a:cs typeface="Aptos Display" pitchFamily="34" charset="-120"/>
              </a:rPr>
              <a:t>Research Questions and Hypotheses</a:t>
            </a:r>
            <a:endParaRPr lang="en-US" sz="2700" dirty="0"/>
          </a:p>
        </p:txBody>
      </p:sp>
      <p:sp>
        <p:nvSpPr>
          <p:cNvPr id="4" name="Shape 2"/>
          <p:cNvSpPr/>
          <p:nvPr/>
        </p:nvSpPr>
        <p:spPr>
          <a:xfrm>
            <a:off x="658368" y="1161288"/>
            <a:ext cx="1097280" cy="0"/>
          </a:xfrm>
          <a:prstGeom prst="line">
            <a:avLst/>
          </a:prstGeom>
          <a:noFill/>
          <a:ln w="38100">
            <a:solidFill>
              <a:srgbClr val="2A9D8F"/>
            </a:solidFill>
            <a:prstDash val="solid"/>
          </a:ln>
        </p:spPr>
      </p:sp>
      <p:sp>
        <p:nvSpPr>
          <p:cNvPr id="5" name="Shape 3"/>
          <p:cNvSpPr/>
          <p:nvPr/>
        </p:nvSpPr>
        <p:spPr>
          <a:xfrm>
            <a:off x="731520" y="1444752"/>
            <a:ext cx="10744200" cy="4526280"/>
          </a:xfrm>
          <a:prstGeom prst="roundRect">
            <a:avLst>
              <a:gd name="adj" fmla="val 1616"/>
            </a:avLst>
          </a:prstGeom>
          <a:solidFill>
            <a:srgbClr val="FFFFFF"/>
          </a:solidFill>
          <a:ln w="12700">
            <a:solidFill>
              <a:srgbClr val="D8E2EE"/>
            </a:solidFill>
            <a:prstDash val="solid"/>
          </a:ln>
        </p:spPr>
      </p:sp>
      <p:sp>
        <p:nvSpPr>
          <p:cNvPr id="6" name="Shape 4"/>
          <p:cNvSpPr/>
          <p:nvPr/>
        </p:nvSpPr>
        <p:spPr>
          <a:xfrm>
            <a:off x="1005840" y="1755648"/>
            <a:ext cx="960120" cy="566928"/>
          </a:xfrm>
          <a:prstGeom prst="roundRect">
            <a:avLst>
              <a:gd name="adj" fmla="val 12903"/>
            </a:avLst>
          </a:prstGeom>
          <a:solidFill>
            <a:srgbClr val="FEF4E8"/>
          </a:solidFill>
          <a:ln w="12700">
            <a:solidFill>
              <a:srgbClr val="E2E8F0"/>
            </a:solidFill>
            <a:prstDash val="solid"/>
          </a:ln>
        </p:spPr>
      </p:sp>
      <p:sp>
        <p:nvSpPr>
          <p:cNvPr id="7" name="Text 5"/>
          <p:cNvSpPr/>
          <p:nvPr/>
        </p:nvSpPr>
        <p:spPr>
          <a:xfrm>
            <a:off x="1143000" y="1920240"/>
            <a:ext cx="685800" cy="164592"/>
          </a:xfrm>
          <a:prstGeom prst="rect">
            <a:avLst/>
          </a:prstGeom>
          <a:noFill/>
          <a:ln/>
        </p:spPr>
        <p:txBody>
          <a:bodyPr wrap="square" lIns="0" tIns="0" rIns="0" bIns="0" rtlCol="0" anchor="ctr"/>
          <a:lstStyle/>
          <a:p>
            <a:pPr algn="ctr" indent="0" marL="0">
              <a:buNone/>
            </a:pPr>
            <a:r>
              <a:rPr lang="en-US" sz="1500" b="1" dirty="0">
                <a:solidFill>
                  <a:srgbClr val="0B1F3A"/>
                </a:solidFill>
                <a:latin typeface="Aptos Display" pitchFamily="34" charset="0"/>
                <a:ea typeface="Aptos Display" pitchFamily="34" charset="-122"/>
                <a:cs typeface="Aptos Display" pitchFamily="34" charset="-120"/>
              </a:rPr>
              <a:t>RQ1</a:t>
            </a:r>
            <a:endParaRPr lang="en-US" sz="1500" dirty="0"/>
          </a:p>
        </p:txBody>
      </p:sp>
      <p:sp>
        <p:nvSpPr>
          <p:cNvPr id="8" name="Text 6"/>
          <p:cNvSpPr/>
          <p:nvPr/>
        </p:nvSpPr>
        <p:spPr>
          <a:xfrm>
            <a:off x="2240280" y="1819656"/>
            <a:ext cx="6629400" cy="438912"/>
          </a:xfrm>
          <a:prstGeom prst="rect">
            <a:avLst/>
          </a:prstGeom>
          <a:noFill/>
          <a:ln/>
        </p:spPr>
        <p:txBody>
          <a:bodyPr wrap="square" lIns="254" tIns="254" rIns="254" bIns="254" rtlCol="0" anchor="ctr">
            <a:normAutofit/>
          </a:bodyPr>
          <a:lstStyle/>
          <a:p>
            <a:pPr indent="0" marL="0">
              <a:buNone/>
            </a:pPr>
            <a:r>
              <a:rPr lang="en-US" sz="1420" dirty="0">
                <a:solidFill>
                  <a:srgbClr val="1E293B"/>
                </a:solidFill>
                <a:latin typeface="Aptos" pitchFamily="34" charset="0"/>
                <a:ea typeface="Aptos" pitchFamily="34" charset="-122"/>
                <a:cs typeface="Aptos" pitchFamily="34" charset="-120"/>
              </a:rPr>
              <a:t>How does changing the fraud threshold affect false positives, fraud detection, and estimated False Positive Tax?</a:t>
            </a:r>
            <a:endParaRPr lang="en-US" sz="1420" dirty="0"/>
          </a:p>
        </p:txBody>
      </p:sp>
      <p:sp>
        <p:nvSpPr>
          <p:cNvPr id="9" name="Text 7"/>
          <p:cNvSpPr/>
          <p:nvPr/>
        </p:nvSpPr>
        <p:spPr>
          <a:xfrm>
            <a:off x="9326880" y="1911096"/>
            <a:ext cx="1691640" cy="219456"/>
          </a:xfrm>
          <a:prstGeom prst="rect">
            <a:avLst/>
          </a:prstGeom>
          <a:noFill/>
          <a:ln/>
        </p:spPr>
        <p:txBody>
          <a:bodyPr wrap="square" lIns="0" tIns="0" rIns="0" bIns="0" rtlCol="0" anchor="ctr"/>
          <a:lstStyle/>
          <a:p>
            <a:pPr algn="ctr" indent="0" marL="0">
              <a:buNone/>
            </a:pPr>
            <a:r>
              <a:rPr lang="en-US" sz="1250" b="1" dirty="0">
                <a:solidFill>
                  <a:srgbClr val="2A9D8F"/>
                </a:solidFill>
                <a:latin typeface="Aptos" pitchFamily="34" charset="0"/>
                <a:ea typeface="Aptos" pitchFamily="34" charset="-122"/>
                <a:cs typeface="Aptos" pitchFamily="34" charset="-120"/>
              </a:rPr>
              <a:t>H01 rejected</a:t>
            </a:r>
            <a:endParaRPr lang="en-US" sz="1250" dirty="0"/>
          </a:p>
        </p:txBody>
      </p:sp>
      <p:sp>
        <p:nvSpPr>
          <p:cNvPr id="10" name="Shape 8"/>
          <p:cNvSpPr/>
          <p:nvPr/>
        </p:nvSpPr>
        <p:spPr>
          <a:xfrm>
            <a:off x="1005840" y="2990088"/>
            <a:ext cx="960120" cy="566928"/>
          </a:xfrm>
          <a:prstGeom prst="roundRect">
            <a:avLst>
              <a:gd name="adj" fmla="val 12903"/>
            </a:avLst>
          </a:prstGeom>
          <a:solidFill>
            <a:srgbClr val="EAF2F8"/>
          </a:solidFill>
          <a:ln w="12700">
            <a:solidFill>
              <a:srgbClr val="E2E8F0"/>
            </a:solidFill>
            <a:prstDash val="solid"/>
          </a:ln>
        </p:spPr>
      </p:sp>
      <p:sp>
        <p:nvSpPr>
          <p:cNvPr id="11" name="Text 9"/>
          <p:cNvSpPr/>
          <p:nvPr/>
        </p:nvSpPr>
        <p:spPr>
          <a:xfrm>
            <a:off x="1143000" y="3154680"/>
            <a:ext cx="685800" cy="164592"/>
          </a:xfrm>
          <a:prstGeom prst="rect">
            <a:avLst/>
          </a:prstGeom>
          <a:noFill/>
          <a:ln/>
        </p:spPr>
        <p:txBody>
          <a:bodyPr wrap="square" lIns="0" tIns="0" rIns="0" bIns="0" rtlCol="0" anchor="ctr"/>
          <a:lstStyle/>
          <a:p>
            <a:pPr algn="ctr" indent="0" marL="0">
              <a:buNone/>
            </a:pPr>
            <a:r>
              <a:rPr lang="en-US" sz="1500" b="1" dirty="0">
                <a:solidFill>
                  <a:srgbClr val="0B1F3A"/>
                </a:solidFill>
                <a:latin typeface="Aptos Display" pitchFamily="34" charset="0"/>
                <a:ea typeface="Aptos Display" pitchFamily="34" charset="-122"/>
                <a:cs typeface="Aptos Display" pitchFamily="34" charset="-120"/>
              </a:rPr>
              <a:t>RQ2</a:t>
            </a:r>
            <a:endParaRPr lang="en-US" sz="1500" dirty="0"/>
          </a:p>
        </p:txBody>
      </p:sp>
      <p:sp>
        <p:nvSpPr>
          <p:cNvPr id="12" name="Text 10"/>
          <p:cNvSpPr/>
          <p:nvPr/>
        </p:nvSpPr>
        <p:spPr>
          <a:xfrm>
            <a:off x="2240280" y="3054096"/>
            <a:ext cx="6629400" cy="438912"/>
          </a:xfrm>
          <a:prstGeom prst="rect">
            <a:avLst/>
          </a:prstGeom>
          <a:noFill/>
          <a:ln/>
        </p:spPr>
        <p:txBody>
          <a:bodyPr wrap="square" lIns="254" tIns="254" rIns="254" bIns="254" rtlCol="0" anchor="ctr">
            <a:normAutofit/>
          </a:bodyPr>
          <a:lstStyle/>
          <a:p>
            <a:pPr indent="0" marL="0">
              <a:buNone/>
            </a:pPr>
            <a:r>
              <a:rPr lang="en-US" sz="1420" dirty="0">
                <a:solidFill>
                  <a:srgbClr val="1E293B"/>
                </a:solidFill>
                <a:latin typeface="Aptos" pitchFamily="34" charset="0"/>
                <a:ea typeface="Aptos" pitchFamily="34" charset="-122"/>
                <a:cs typeface="Aptos" pitchFamily="34" charset="-120"/>
              </a:rPr>
              <a:t>Which transaction characteristics and model outputs are associated with false-positive decisions?</a:t>
            </a:r>
            <a:endParaRPr lang="en-US" sz="1420" dirty="0"/>
          </a:p>
        </p:txBody>
      </p:sp>
      <p:sp>
        <p:nvSpPr>
          <p:cNvPr id="13" name="Text 11"/>
          <p:cNvSpPr/>
          <p:nvPr/>
        </p:nvSpPr>
        <p:spPr>
          <a:xfrm>
            <a:off x="9326880" y="3145536"/>
            <a:ext cx="1691640" cy="219456"/>
          </a:xfrm>
          <a:prstGeom prst="rect">
            <a:avLst/>
          </a:prstGeom>
          <a:noFill/>
          <a:ln/>
        </p:spPr>
        <p:txBody>
          <a:bodyPr wrap="square" lIns="0" tIns="0" rIns="0" bIns="0" rtlCol="0" anchor="ctr"/>
          <a:lstStyle/>
          <a:p>
            <a:pPr algn="ctr" indent="0" marL="0">
              <a:buNone/>
            </a:pPr>
            <a:r>
              <a:rPr lang="en-US" sz="1250" b="1" dirty="0">
                <a:solidFill>
                  <a:srgbClr val="2A9D8F"/>
                </a:solidFill>
                <a:latin typeface="Aptos" pitchFamily="34" charset="0"/>
                <a:ea typeface="Aptos" pitchFamily="34" charset="-122"/>
                <a:cs typeface="Aptos" pitchFamily="34" charset="-120"/>
              </a:rPr>
              <a:t>H02 rejected</a:t>
            </a:r>
            <a:endParaRPr lang="en-US" sz="1250" dirty="0"/>
          </a:p>
        </p:txBody>
      </p:sp>
      <p:sp>
        <p:nvSpPr>
          <p:cNvPr id="14" name="Shape 12"/>
          <p:cNvSpPr/>
          <p:nvPr/>
        </p:nvSpPr>
        <p:spPr>
          <a:xfrm>
            <a:off x="1005840" y="4224528"/>
            <a:ext cx="960120" cy="566928"/>
          </a:xfrm>
          <a:prstGeom prst="roundRect">
            <a:avLst>
              <a:gd name="adj" fmla="val 12903"/>
            </a:avLst>
          </a:prstGeom>
          <a:solidFill>
            <a:srgbClr val="E6F6F3"/>
          </a:solidFill>
          <a:ln w="12700">
            <a:solidFill>
              <a:srgbClr val="E2E8F0"/>
            </a:solidFill>
            <a:prstDash val="solid"/>
          </a:ln>
        </p:spPr>
      </p:sp>
      <p:sp>
        <p:nvSpPr>
          <p:cNvPr id="15" name="Text 13"/>
          <p:cNvSpPr/>
          <p:nvPr/>
        </p:nvSpPr>
        <p:spPr>
          <a:xfrm>
            <a:off x="1143000" y="4389120"/>
            <a:ext cx="685800" cy="164592"/>
          </a:xfrm>
          <a:prstGeom prst="rect">
            <a:avLst/>
          </a:prstGeom>
          <a:noFill/>
          <a:ln/>
        </p:spPr>
        <p:txBody>
          <a:bodyPr wrap="square" lIns="0" tIns="0" rIns="0" bIns="0" rtlCol="0" anchor="ctr"/>
          <a:lstStyle/>
          <a:p>
            <a:pPr algn="ctr" indent="0" marL="0">
              <a:buNone/>
            </a:pPr>
            <a:r>
              <a:rPr lang="en-US" sz="1500" b="1" dirty="0">
                <a:solidFill>
                  <a:srgbClr val="0B1F3A"/>
                </a:solidFill>
                <a:latin typeface="Aptos Display" pitchFamily="34" charset="0"/>
                <a:ea typeface="Aptos Display" pitchFamily="34" charset="-122"/>
                <a:cs typeface="Aptos Display" pitchFamily="34" charset="-120"/>
              </a:rPr>
              <a:t>RQ3</a:t>
            </a:r>
            <a:endParaRPr lang="en-US" sz="1500" dirty="0"/>
          </a:p>
        </p:txBody>
      </p:sp>
      <p:sp>
        <p:nvSpPr>
          <p:cNvPr id="16" name="Text 14"/>
          <p:cNvSpPr/>
          <p:nvPr/>
        </p:nvSpPr>
        <p:spPr>
          <a:xfrm>
            <a:off x="2240280" y="4288536"/>
            <a:ext cx="6629400" cy="438912"/>
          </a:xfrm>
          <a:prstGeom prst="rect">
            <a:avLst/>
          </a:prstGeom>
          <a:noFill/>
          <a:ln/>
        </p:spPr>
        <p:txBody>
          <a:bodyPr wrap="square" lIns="254" tIns="254" rIns="254" bIns="254" rtlCol="0" anchor="ctr">
            <a:normAutofit/>
          </a:bodyPr>
          <a:lstStyle/>
          <a:p>
            <a:pPr indent="0" marL="0">
              <a:buNone/>
            </a:pPr>
            <a:r>
              <a:rPr lang="en-US" sz="1420" dirty="0">
                <a:solidFill>
                  <a:srgbClr val="1E293B"/>
                </a:solidFill>
                <a:latin typeface="Aptos" pitchFamily="34" charset="0"/>
                <a:ea typeface="Aptos" pitchFamily="34" charset="-122"/>
                <a:cs typeface="Aptos" pitchFamily="34" charset="-120"/>
              </a:rPr>
              <a:t>How can BI dashboards and scenario analysis support fraud-prevention decisions?</a:t>
            </a:r>
            <a:endParaRPr lang="en-US" sz="1420" dirty="0"/>
          </a:p>
        </p:txBody>
      </p:sp>
      <p:sp>
        <p:nvSpPr>
          <p:cNvPr id="17" name="Text 15"/>
          <p:cNvSpPr/>
          <p:nvPr/>
        </p:nvSpPr>
        <p:spPr>
          <a:xfrm>
            <a:off x="9326880" y="4379976"/>
            <a:ext cx="1691640" cy="219456"/>
          </a:xfrm>
          <a:prstGeom prst="rect">
            <a:avLst/>
          </a:prstGeom>
          <a:noFill/>
          <a:ln/>
        </p:spPr>
        <p:txBody>
          <a:bodyPr wrap="square" lIns="0" tIns="0" rIns="0" bIns="0" rtlCol="0" anchor="ctr"/>
          <a:lstStyle/>
          <a:p>
            <a:pPr algn="ctr" indent="0" marL="0">
              <a:buNone/>
            </a:pPr>
            <a:r>
              <a:rPr lang="en-US" sz="1250" b="1" dirty="0">
                <a:solidFill>
                  <a:srgbClr val="2A9D8F"/>
                </a:solidFill>
                <a:latin typeface="Aptos" pitchFamily="34" charset="0"/>
                <a:ea typeface="Aptos" pitchFamily="34" charset="-122"/>
                <a:cs typeface="Aptos" pitchFamily="34" charset="-120"/>
              </a:rPr>
              <a:t>H03 rejected</a:t>
            </a:r>
            <a:endParaRPr lang="en-US" sz="1250" dirty="0"/>
          </a:p>
        </p:txBody>
      </p:sp>
      <p:sp>
        <p:nvSpPr>
          <p:cNvPr id="18" name="Text 16"/>
          <p:cNvSpPr/>
          <p:nvPr/>
        </p:nvSpPr>
        <p:spPr>
          <a:xfrm>
            <a:off x="1005840" y="5440680"/>
            <a:ext cx="9829800" cy="256032"/>
          </a:xfrm>
          <a:prstGeom prst="rect">
            <a:avLst/>
          </a:prstGeom>
          <a:noFill/>
          <a:ln/>
        </p:spPr>
        <p:txBody>
          <a:bodyPr wrap="square" lIns="0" tIns="0" rIns="0" bIns="0" rtlCol="0" anchor="ctr"/>
          <a:lstStyle/>
          <a:p>
            <a:pPr indent="0" marL="0">
              <a:buNone/>
            </a:pPr>
            <a:r>
              <a:rPr lang="en-US" sz="1240" i="1" dirty="0">
                <a:solidFill>
                  <a:srgbClr val="64748B"/>
                </a:solidFill>
                <a:latin typeface="Aptos" pitchFamily="34" charset="0"/>
                <a:ea typeface="Aptos" pitchFamily="34" charset="-122"/>
                <a:cs typeface="Aptos" pitchFamily="34" charset="-120"/>
              </a:rPr>
              <a:t>Analytical approach: confusion matrices, threshold analysis, precision–recall metrics, chi-square tests, Mann-Whitney U tests, cost-scenario analysis, and Power BI reporting.</a:t>
            </a:r>
            <a:endParaRPr lang="en-US" sz="1240" dirty="0"/>
          </a:p>
        </p:txBody>
      </p:sp>
      <p:sp>
        <p:nvSpPr>
          <p:cNvPr id="25" name="Slide Number Placeholder 0"/>
          <p:cNvSpPr>
            <a:spLocks noGrp="1"/>
          </p:cNvSpPr>
          <p:nvPr>
            <p:ph type="sldNum" sz="quarter" idx="4294967295"/>
          </p:nvPr>
        </p:nvSpPr>
        <p:spPr>
          <a:xfrm>
            <a:off x="11356848" y="6556248"/>
            <a:ext cx="320040" cy="146304"/>
          </a:xfrm>
          <a:prstGeom prst="rect">
            <a:avLst/>
          </a:prstGeom>
          <a:extLst>
            <a:ext uri="{C572A759-6A51-4108-AA02-DFA0A04FC94B}">
              <ma14:wrappingTextBoxFlag xmlns:ma14="http://schemas.microsoft.com/office/mac/drawingml/2011/main" val="0"/>
            </a:ext>
          </a:extLst>
        </p:spPr>
        <p:txBody>
          <a:bodyPr/>
          <a:lstStyle>
            <a:lvl1pPr>
              <a:defRPr sz="650">
                <a:solidFill>
                  <a:srgbClr val="64748B"/>
                </a:solidFill>
                <a:latin typeface="Aptos"/>
                <a:ea typeface="Aptos"/>
                <a:cs typeface="Aptos"/>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58368" y="320040"/>
            <a:ext cx="10881360" cy="201168"/>
          </a:xfrm>
          <a:prstGeom prst="rect">
            <a:avLst/>
          </a:prstGeom>
          <a:noFill/>
          <a:ln/>
        </p:spPr>
        <p:txBody>
          <a:bodyPr wrap="square" lIns="0" tIns="0" rIns="0" bIns="0" rtlCol="0" anchor="ctr"/>
          <a:lstStyle/>
          <a:p>
            <a:pPr indent="0" marL="0">
              <a:buNone/>
            </a:pPr>
            <a:r>
              <a:rPr lang="en-US" sz="850" b="1" dirty="0">
                <a:solidFill>
                  <a:srgbClr val="2A9D8F"/>
                </a:solidFill>
                <a:latin typeface="Aptos" pitchFamily="34" charset="0"/>
                <a:ea typeface="Aptos" pitchFamily="34" charset="-122"/>
                <a:cs typeface="Aptos" pitchFamily="34" charset="-120"/>
              </a:rPr>
              <a:t>DATA FOUNDATION</a:t>
            </a:r>
            <a:endParaRPr lang="en-US" sz="850" dirty="0"/>
          </a:p>
        </p:txBody>
      </p:sp>
      <p:sp>
        <p:nvSpPr>
          <p:cNvPr id="3" name="Text 1"/>
          <p:cNvSpPr/>
          <p:nvPr/>
        </p:nvSpPr>
        <p:spPr>
          <a:xfrm>
            <a:off x="640080" y="566928"/>
            <a:ext cx="10835640" cy="475488"/>
          </a:xfrm>
          <a:prstGeom prst="rect">
            <a:avLst/>
          </a:prstGeom>
          <a:noFill/>
          <a:ln/>
        </p:spPr>
        <p:txBody>
          <a:bodyPr wrap="square" lIns="0" tIns="0" rIns="0" bIns="0" rtlCol="0" anchor="ctr">
            <a:normAutofit/>
          </a:bodyPr>
          <a:lstStyle/>
          <a:p>
            <a:pPr indent="0" marL="0">
              <a:buNone/>
            </a:pPr>
            <a:r>
              <a:rPr lang="en-US" sz="2700" b="1" dirty="0">
                <a:solidFill>
                  <a:srgbClr val="0B1F3A"/>
                </a:solidFill>
                <a:latin typeface="Aptos Display" pitchFamily="34" charset="0"/>
                <a:ea typeface="Aptos Display" pitchFamily="34" charset="-122"/>
                <a:cs typeface="Aptos Display" pitchFamily="34" charset="-120"/>
              </a:rPr>
              <a:t>Dataset, Research Design, and Ethical Boundaries</a:t>
            </a:r>
            <a:endParaRPr lang="en-US" sz="2700" dirty="0"/>
          </a:p>
        </p:txBody>
      </p:sp>
      <p:sp>
        <p:nvSpPr>
          <p:cNvPr id="4" name="Shape 2"/>
          <p:cNvSpPr/>
          <p:nvPr/>
        </p:nvSpPr>
        <p:spPr>
          <a:xfrm>
            <a:off x="658368" y="1161288"/>
            <a:ext cx="1097280" cy="0"/>
          </a:xfrm>
          <a:prstGeom prst="line">
            <a:avLst/>
          </a:prstGeom>
          <a:noFill/>
          <a:ln w="38100">
            <a:solidFill>
              <a:srgbClr val="2A9D8F"/>
            </a:solidFill>
            <a:prstDash val="solid"/>
          </a:ln>
        </p:spPr>
        <p:txBody>
          <a:bodyPr/>
          <a:p/>
        </p:txBody>
      </p:sp>
      <p:pic>
        <p:nvPicPr>
          <p:cNvPr id="5" name="Image 0" descr="/mnt/data/fraudshield_assets/class_imbalance_bar.png">    </p:cNvPr>
          <p:cNvPicPr>
            <a:picLocks noChangeAspect="1"/>
          </p:cNvPicPr>
          <p:nvPr/>
        </p:nvPicPr>
        <p:blipFill>
          <a:blip r:embed="rId1"/>
          <a:stretch>
            <a:fillRect/>
          </a:stretch>
        </p:blipFill>
        <p:spPr>
          <a:xfrm>
            <a:off x="713232" y="1540362"/>
            <a:ext cx="5897880" cy="2131356"/>
          </a:xfrm>
          <a:prstGeom prst="rect">
            <a:avLst/>
          </a:prstGeom>
        </p:spPr>
      </p:pic>
      <p:sp>
        <p:nvSpPr>
          <p:cNvPr id="6" name="Shape 3"/>
          <p:cNvSpPr/>
          <p:nvPr/>
        </p:nvSpPr>
        <p:spPr>
          <a:xfrm>
            <a:off x="6720840" y="1417320"/>
            <a:ext cx="1737360" cy="987552"/>
          </a:xfrm>
          <a:prstGeom prst="roundRect">
            <a:avLst>
              <a:gd name="adj" fmla="val 7407"/>
            </a:avLst>
          </a:prstGeom>
          <a:solidFill>
            <a:srgbClr val="EAF2F8"/>
          </a:solidFill>
          <a:ln w="10160">
            <a:solidFill>
              <a:srgbClr val="D8E2EE"/>
            </a:solidFill>
            <a:prstDash val="solid"/>
          </a:ln>
        </p:spPr>
        <p:txBody>
          <a:bodyPr/>
          <a:p/>
        </p:txBody>
      </p:sp>
      <p:sp>
        <p:nvSpPr>
          <p:cNvPr id="7" name="Text 4"/>
          <p:cNvSpPr/>
          <p:nvPr/>
        </p:nvSpPr>
        <p:spPr>
          <a:xfrm>
            <a:off x="6830568" y="1581912"/>
            <a:ext cx="1517904" cy="329184"/>
          </a:xfrm>
          <a:prstGeom prst="rect">
            <a:avLst/>
          </a:prstGeom>
          <a:noFill/>
          <a:ln/>
        </p:spPr>
        <p:txBody>
          <a:bodyPr wrap="square" lIns="0" tIns="0" rIns="0" bIns="0" rtlCol="0" anchor="ctr"/>
          <a:lstStyle/>
          <a:p>
            <a:pPr algn="ctr" indent="0" marL="0">
              <a:buNone/>
            </a:pPr>
            <a:r>
              <a:rPr lang="en-US" sz="2100" b="1" dirty="0">
                <a:solidFill>
                  <a:srgbClr val="1F4E79"/>
                </a:solidFill>
                <a:latin typeface="Aptos Display" pitchFamily="34" charset="0"/>
                <a:ea typeface="Aptos Display" pitchFamily="34" charset="-122"/>
                <a:cs typeface="Aptos Display" pitchFamily="34" charset="-120"/>
              </a:rPr>
              <a:t>1,296,675</a:t>
            </a:r>
            <a:endParaRPr lang="en-US" sz="2100" dirty="0"/>
          </a:p>
        </p:txBody>
      </p:sp>
      <p:sp>
        <p:nvSpPr>
          <p:cNvPr id="8" name="Text 5"/>
          <p:cNvSpPr/>
          <p:nvPr/>
        </p:nvSpPr>
        <p:spPr>
          <a:xfrm>
            <a:off x="6848856" y="1984248"/>
            <a:ext cx="1481328" cy="256032"/>
          </a:xfrm>
          <a:prstGeom prst="rect">
            <a:avLst/>
          </a:prstGeom>
          <a:noFill/>
          <a:ln/>
        </p:spPr>
        <p:txBody>
          <a:bodyPr wrap="square" lIns="0" tIns="0" rIns="0" bIns="0" rtlCol="0" anchor="ctr">
            <a:normAutofit/>
          </a:bodyPr>
          <a:lstStyle/>
          <a:p>
            <a:pPr algn="ctr" indent="0" marL="0">
              <a:buNone/>
            </a:pPr>
            <a:r>
              <a:rPr lang="en-US" sz="950" dirty="0">
                <a:solidFill>
                  <a:srgbClr val="475569"/>
                </a:solidFill>
                <a:latin typeface="Aptos" pitchFamily="34" charset="0"/>
                <a:ea typeface="Aptos" pitchFamily="34" charset="-122"/>
                <a:cs typeface="Aptos" pitchFamily="34" charset="-120"/>
              </a:rPr>
              <a:t>training records</a:t>
            </a:r>
            <a:endParaRPr lang="en-US" sz="950" dirty="0"/>
          </a:p>
        </p:txBody>
      </p:sp>
      <p:sp>
        <p:nvSpPr>
          <p:cNvPr id="9" name="Shape 6"/>
          <p:cNvSpPr/>
          <p:nvPr/>
        </p:nvSpPr>
        <p:spPr>
          <a:xfrm>
            <a:off x="8732520" y="1417320"/>
            <a:ext cx="1645920" cy="987552"/>
          </a:xfrm>
          <a:prstGeom prst="roundRect">
            <a:avLst>
              <a:gd name="adj" fmla="val 7407"/>
            </a:avLst>
          </a:prstGeom>
          <a:solidFill>
            <a:srgbClr val="E6F6F3"/>
          </a:solidFill>
          <a:ln w="10160">
            <a:solidFill>
              <a:srgbClr val="D8E2EE"/>
            </a:solidFill>
            <a:prstDash val="solid"/>
          </a:ln>
        </p:spPr>
        <p:txBody>
          <a:bodyPr/>
          <a:p/>
        </p:txBody>
      </p:sp>
      <p:sp>
        <p:nvSpPr>
          <p:cNvPr id="10" name="Text 7"/>
          <p:cNvSpPr/>
          <p:nvPr/>
        </p:nvSpPr>
        <p:spPr>
          <a:xfrm>
            <a:off x="8842248" y="1581912"/>
            <a:ext cx="1426464" cy="329184"/>
          </a:xfrm>
          <a:prstGeom prst="rect">
            <a:avLst/>
          </a:prstGeom>
          <a:noFill/>
          <a:ln/>
        </p:spPr>
        <p:txBody>
          <a:bodyPr wrap="square" lIns="0" tIns="0" rIns="0" bIns="0" rtlCol="0" anchor="ctr"/>
          <a:lstStyle/>
          <a:p>
            <a:pPr algn="ctr" indent="0" marL="0">
              <a:buNone/>
            </a:pPr>
            <a:r>
              <a:rPr lang="en-US" sz="2100" b="1" dirty="0">
                <a:solidFill>
                  <a:srgbClr val="2A9D8F"/>
                </a:solidFill>
                <a:latin typeface="Aptos Display" pitchFamily="34" charset="0"/>
                <a:ea typeface="Aptos Display" pitchFamily="34" charset="-122"/>
                <a:cs typeface="Aptos Display" pitchFamily="34" charset="-120"/>
              </a:rPr>
              <a:t>555,719</a:t>
            </a:r>
            <a:endParaRPr lang="en-US" sz="2100" dirty="0"/>
          </a:p>
        </p:txBody>
      </p:sp>
      <p:sp>
        <p:nvSpPr>
          <p:cNvPr id="11" name="Text 8"/>
          <p:cNvSpPr/>
          <p:nvPr/>
        </p:nvSpPr>
        <p:spPr>
          <a:xfrm>
            <a:off x="8860536" y="1984248"/>
            <a:ext cx="1389888" cy="256032"/>
          </a:xfrm>
          <a:prstGeom prst="rect">
            <a:avLst/>
          </a:prstGeom>
          <a:noFill/>
          <a:ln/>
        </p:spPr>
        <p:txBody>
          <a:bodyPr wrap="square" lIns="0" tIns="0" rIns="0" bIns="0" rtlCol="0" anchor="ctr">
            <a:normAutofit/>
          </a:bodyPr>
          <a:lstStyle/>
          <a:p>
            <a:pPr algn="ctr" indent="0" marL="0">
              <a:buNone/>
            </a:pPr>
            <a:r>
              <a:rPr lang="en-US" sz="950" dirty="0">
                <a:solidFill>
                  <a:srgbClr val="475569"/>
                </a:solidFill>
                <a:latin typeface="Aptos" pitchFamily="34" charset="0"/>
                <a:ea typeface="Aptos" pitchFamily="34" charset="-122"/>
                <a:cs typeface="Aptos" pitchFamily="34" charset="-120"/>
              </a:rPr>
              <a:t>testing records</a:t>
            </a:r>
            <a:endParaRPr lang="en-US" sz="950" dirty="0"/>
          </a:p>
        </p:txBody>
      </p:sp>
      <p:sp>
        <p:nvSpPr>
          <p:cNvPr id="12" name="Shape 9"/>
          <p:cNvSpPr/>
          <p:nvPr/>
        </p:nvSpPr>
        <p:spPr>
          <a:xfrm>
            <a:off x="10625328" y="1417320"/>
            <a:ext cx="1353312" cy="987552"/>
          </a:xfrm>
          <a:prstGeom prst="roundRect">
            <a:avLst>
              <a:gd name="adj" fmla="val 7407"/>
            </a:avLst>
          </a:prstGeom>
          <a:solidFill>
            <a:srgbClr val="FCEDE9"/>
          </a:solidFill>
          <a:ln w="10160">
            <a:solidFill>
              <a:srgbClr val="D8E2EE"/>
            </a:solidFill>
            <a:prstDash val="solid"/>
          </a:ln>
        </p:spPr>
        <p:txBody>
          <a:bodyPr/>
          <a:p/>
        </p:txBody>
      </p:sp>
      <p:sp>
        <p:nvSpPr>
          <p:cNvPr id="13" name="Text 10"/>
          <p:cNvSpPr/>
          <p:nvPr/>
        </p:nvSpPr>
        <p:spPr>
          <a:xfrm>
            <a:off x="10735056" y="1581912"/>
            <a:ext cx="1133856" cy="329184"/>
          </a:xfrm>
          <a:prstGeom prst="rect">
            <a:avLst/>
          </a:prstGeom>
          <a:noFill/>
          <a:ln/>
        </p:spPr>
        <p:txBody>
          <a:bodyPr wrap="square" lIns="0" tIns="0" rIns="0" bIns="0" rtlCol="0" anchor="ctr"/>
          <a:lstStyle/>
          <a:p>
            <a:pPr algn="ctr" indent="0" marL="0">
              <a:buNone/>
            </a:pPr>
            <a:r>
              <a:rPr lang="en-US" sz="2100" b="1" dirty="0">
                <a:solidFill>
                  <a:srgbClr val="E76F51"/>
                </a:solidFill>
                <a:latin typeface="Aptos Display" pitchFamily="34" charset="0"/>
                <a:ea typeface="Aptos Display" pitchFamily="34" charset="-122"/>
                <a:cs typeface="Aptos Display" pitchFamily="34" charset="-120"/>
              </a:rPr>
              <a:t>0.579%</a:t>
            </a:r>
            <a:endParaRPr lang="en-US" sz="2100" dirty="0"/>
          </a:p>
        </p:txBody>
      </p:sp>
      <p:sp>
        <p:nvSpPr>
          <p:cNvPr id="14" name="Text 11"/>
          <p:cNvSpPr/>
          <p:nvPr/>
        </p:nvSpPr>
        <p:spPr>
          <a:xfrm>
            <a:off x="10753344" y="1984248"/>
            <a:ext cx="1097280" cy="256032"/>
          </a:xfrm>
          <a:prstGeom prst="rect">
            <a:avLst/>
          </a:prstGeom>
          <a:noFill/>
          <a:ln/>
        </p:spPr>
        <p:txBody>
          <a:bodyPr wrap="square" lIns="0" tIns="0" rIns="0" bIns="0" rtlCol="0" anchor="ctr">
            <a:normAutofit/>
          </a:bodyPr>
          <a:lstStyle/>
          <a:p>
            <a:pPr algn="ctr" indent="0" marL="0">
              <a:buNone/>
            </a:pPr>
            <a:r>
              <a:rPr lang="en-US" sz="950" dirty="0">
                <a:solidFill>
                  <a:srgbClr val="475569"/>
                </a:solidFill>
                <a:latin typeface="Aptos" pitchFamily="34" charset="0"/>
                <a:ea typeface="Aptos" pitchFamily="34" charset="-122"/>
                <a:cs typeface="Aptos" pitchFamily="34" charset="-120"/>
              </a:rPr>
              <a:t>training fraud rate</a:t>
            </a:r>
            <a:endParaRPr lang="en-US" sz="950" dirty="0"/>
          </a:p>
        </p:txBody>
      </p:sp>
      <p:sp>
        <p:nvSpPr>
          <p:cNvPr id="15" name="Text 12"/>
          <p:cNvSpPr/>
          <p:nvPr/>
        </p:nvSpPr>
        <p:spPr>
          <a:xfrm>
            <a:off x="749808" y="4160520"/>
            <a:ext cx="2194560" cy="274320"/>
          </a:xfrm>
          <a:prstGeom prst="rect">
            <a:avLst/>
          </a:prstGeom>
          <a:noFill/>
          <a:ln/>
        </p:spPr>
        <p:txBody>
          <a:bodyPr wrap="square" lIns="0" tIns="0" rIns="0" bIns="0" rtlCol="0" anchor="ctr"/>
          <a:lstStyle/>
          <a:p>
            <a:pPr indent="0" marL="0">
              <a:buNone/>
            </a:pPr>
            <a:r>
              <a:rPr lang="en-US" sz="2000" b="1" dirty="0">
                <a:solidFill>
                  <a:srgbClr val="0B1F3A"/>
                </a:solidFill>
                <a:latin typeface="Aptos Display" pitchFamily="34" charset="0"/>
                <a:ea typeface="Aptos Display" pitchFamily="34" charset="-122"/>
                <a:cs typeface="Aptos Display" pitchFamily="34" charset="-120"/>
              </a:rPr>
              <a:t>Design choices</a:t>
            </a:r>
            <a:endParaRPr lang="en-US" sz="2000" dirty="0"/>
          </a:p>
        </p:txBody>
      </p:sp>
      <p:sp>
        <p:nvSpPr>
          <p:cNvPr id="16" name="Text 13"/>
          <p:cNvSpPr/>
          <p:nvPr/>
        </p:nvSpPr>
        <p:spPr>
          <a:xfrm>
            <a:off x="804672" y="4572000"/>
            <a:ext cx="5212080" cy="1188720"/>
          </a:xfrm>
          <a:prstGeom prst="rect">
            <a:avLst/>
          </a:prstGeom>
          <a:noFill/>
          <a:ln/>
        </p:spPr>
        <p:txBody>
          <a:bodyPr wrap="square" lIns="381" tIns="381" rIns="381" bIns="381" rtlCol="0" anchor="ctr">
            <a:normAutofit/>
          </a:bodyPr>
          <a:lstStyle/>
          <a:p>
            <a:r>
              <a:rPr sz="1500"/>
              <a:t>Quantitative secondary analysis using a simulated Kaggle/Sparkov transaction dataset.</a:t>
            </a:r>
          </a:p>
          <a:p>
            <a:r>
              <a:rPr sz="1500"/>
              <a:t>Pre-split train/test files used; production work should add validation and holdout samples.</a:t>
            </a:r>
          </a:p>
          <a:p>
            <a:r>
              <a:rPr sz="1500"/>
              <a:t>Predictors included amount, hour, age, city population, distance, category, and gender.</a:t>
            </a:r>
          </a:p>
        </p:txBody>
      </p:sp>
      <p:sp>
        <p:nvSpPr>
          <p:cNvPr id="17" name="Text 14"/>
          <p:cNvSpPr/>
          <p:nvPr/>
        </p:nvSpPr>
        <p:spPr>
          <a:xfrm>
            <a:off x="6583680" y="4160520"/>
            <a:ext cx="2468880" cy="274320"/>
          </a:xfrm>
          <a:prstGeom prst="rect">
            <a:avLst/>
          </a:prstGeom>
          <a:noFill/>
          <a:ln/>
        </p:spPr>
        <p:txBody>
          <a:bodyPr wrap="square" lIns="0" tIns="0" rIns="0" bIns="0" rtlCol="0" anchor="ctr"/>
          <a:lstStyle/>
          <a:p>
            <a:pPr indent="0" marL="0">
              <a:buNone/>
            </a:pPr>
            <a:r>
              <a:rPr lang="en-US" sz="2000" b="1" dirty="0">
                <a:solidFill>
                  <a:srgbClr val="0B1F3A"/>
                </a:solidFill>
                <a:latin typeface="Aptos Display" pitchFamily="34" charset="0"/>
                <a:ea typeface="Aptos Display" pitchFamily="34" charset="-122"/>
                <a:cs typeface="Aptos Display" pitchFamily="34" charset="-120"/>
              </a:rPr>
              <a:t>Ethical guardrails</a:t>
            </a:r>
            <a:endParaRPr lang="en-US" sz="2000" dirty="0"/>
          </a:p>
        </p:txBody>
      </p:sp>
      <p:sp>
        <p:nvSpPr>
          <p:cNvPr id="18" name="Text 15"/>
          <p:cNvSpPr/>
          <p:nvPr/>
        </p:nvSpPr>
        <p:spPr>
          <a:xfrm>
            <a:off x="6629400" y="4572000"/>
            <a:ext cx="4709160" cy="1188720"/>
          </a:xfrm>
          <a:prstGeom prst="rect">
            <a:avLst/>
          </a:prstGeom>
          <a:noFill/>
          <a:ln/>
        </p:spPr>
        <p:txBody>
          <a:bodyPr wrap="square" lIns="381" tIns="381" rIns="381" bIns="381" rtlCol="0" anchor="ctr">
            <a:normAutofit/>
          </a:bodyPr>
          <a:lstStyle/>
          <a:p>
            <a:r>
              <a:rPr lang="en-US" sz="1350" dirty="0">
                <a:solidFill>
                  <a:srgbClr val="1E293B"/>
                </a:solidFill>
                <a:latin typeface="Aptos" pitchFamily="34" charset="0"/>
                <a:ea typeface="Aptos" pitchFamily="34" charset="-122"/>
                <a:cs typeface="Aptos" pitchFamily="34" charset="-120"/>
              </a:rPr>
              <a:t>No employer records, customer accounts, or internal fraud rules were used.</a:t>
            </a:r>
            <a:endParaRPr lang="en-US" sz="1350" dirty="0"/>
          </a:p>
          <a:p>
            <a:r>
              <a:rPr lang="en-US" sz="1350" dirty="0">
                <a:solidFill>
                  <a:srgbClr val="1E293B"/>
                </a:solidFill>
                <a:latin typeface="Aptos" pitchFamily="34" charset="0"/>
                <a:ea typeface="Aptos" pitchFamily="34" charset="-122"/>
                <a:cs typeface="Aptos" pitchFamily="34" charset="-120"/>
              </a:rPr>
              <a:t>Direct identifiers and high-cardinality fields were excluded from modeling.</a:t>
            </a:r>
            <a:endParaRPr lang="en-US" sz="1350" dirty="0"/>
          </a:p>
          <a:p>
            <a:r>
              <a:rPr lang="en-US" sz="1350" dirty="0">
                <a:solidFill>
                  <a:srgbClr val="1E293B"/>
                </a:solidFill>
                <a:latin typeface="Aptos" pitchFamily="34" charset="0"/>
                <a:ea typeface="Aptos" pitchFamily="34" charset="-122"/>
                <a:cs typeface="Aptos" pitchFamily="34" charset="-120"/>
              </a:rPr>
              <a:t>Dashboard is positioned as decision support, not fully automated production approval.</a:t>
            </a:r>
            <a:endParaRPr lang="en-US" sz="1350" dirty="0"/>
          </a:p>
        </p:txBody>
      </p:sp>
      <p:sp>
        <p:nvSpPr>
          <p:cNvPr id="19" name="Text 16"/>
          <p:cNvSpPr/>
          <p:nvPr/>
        </p:nvSpPr>
        <p:spPr>
          <a:xfrm>
            <a:off x="658368" y="6281928"/>
            <a:ext cx="9966960" cy="164592"/>
          </a:xfrm>
          <a:prstGeom prst="rect">
            <a:avLst/>
          </a:prstGeom>
          <a:noFill/>
          <a:ln/>
        </p:spPr>
        <p:txBody>
          <a:bodyPr wrap="square" lIns="0" tIns="0" rIns="0" bIns="0" rtlCol="0" anchor="ctr"/>
          <a:lstStyle/>
          <a:p>
            <a:pPr indent="0" marL="0">
              <a:buNone/>
            </a:pPr>
            <a:r>
              <a:rPr lang="en-US" sz="650" i="1" dirty="0">
                <a:solidFill>
                  <a:srgbClr val="64748B"/>
                </a:solidFill>
                <a:latin typeface="Aptos" pitchFamily="34" charset="0"/>
                <a:ea typeface="Aptos" pitchFamily="34" charset="-122"/>
                <a:cs typeface="Aptos" pitchFamily="34" charset="-120"/>
              </a:rPr>
              <a:t>Source: Kaggle Credit Card Transactions Fraud Detection Dataset; final paper data summary.</a:t>
            </a:r>
            <a:endParaRPr lang="en-US" sz="650" dirty="0"/>
          </a:p>
        </p:txBody>
      </p:sp>
      <p:sp>
        <p:nvSpPr>
          <p:cNvPr id="25" name="Slide Number Placeholder 0"/>
          <p:cNvSpPr>
            <a:spLocks noGrp="1"/>
          </p:cNvSpPr>
          <p:nvPr>
            <p:ph type="sldNum" sz="quarter" idx="4294967295"/>
          </p:nvPr>
        </p:nvSpPr>
        <p:spPr>
          <a:xfrm>
            <a:off x="11356848" y="6556248"/>
            <a:ext cx="320040" cy="146304"/>
          </a:xfrm>
          <a:prstGeom prst="rect">
            <a:avLst/>
          </a:prstGeom>
          <a:extLst>
            <a:ext uri="{C572A759-6A51-4108-AA02-DFA0A04FC94B}">
              <ma14:wrappingTextBoxFlag xmlns:ma14="http://schemas.microsoft.com/office/mac/drawingml/2011/main" val="0"/>
            </a:ext>
          </a:extLst>
        </p:spPr>
        <p:txBody>
          <a:bodyPr/>
          <a:lstStyle>
            <a:lvl1pPr>
              <a:defRPr sz="650">
                <a:solidFill>
                  <a:srgbClr val="64748B"/>
                </a:solidFill>
                <a:latin typeface="Aptos"/>
                <a:ea typeface="Aptos"/>
                <a:cs typeface="Aptos"/>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58368" y="320040"/>
            <a:ext cx="10881360" cy="201168"/>
          </a:xfrm>
          <a:prstGeom prst="rect">
            <a:avLst/>
          </a:prstGeom>
          <a:noFill/>
          <a:ln/>
        </p:spPr>
        <p:txBody>
          <a:bodyPr wrap="square" lIns="0" tIns="0" rIns="0" bIns="0" rtlCol="0" anchor="ctr"/>
          <a:lstStyle/>
          <a:p>
            <a:pPr indent="0" marL="0">
              <a:buNone/>
            </a:pPr>
            <a:r>
              <a:rPr lang="en-US" sz="850" b="1" dirty="0">
                <a:solidFill>
                  <a:srgbClr val="2A9D8F"/>
                </a:solidFill>
                <a:latin typeface="Aptos" pitchFamily="34" charset="0"/>
                <a:ea typeface="Aptos" pitchFamily="34" charset="-122"/>
                <a:cs typeface="Aptos" pitchFamily="34" charset="-120"/>
              </a:rPr>
              <a:t>EDA RESULTS</a:t>
            </a:r>
            <a:endParaRPr lang="en-US" sz="850" dirty="0"/>
          </a:p>
        </p:txBody>
      </p:sp>
      <p:sp>
        <p:nvSpPr>
          <p:cNvPr id="3" name="Text 1"/>
          <p:cNvSpPr/>
          <p:nvPr/>
        </p:nvSpPr>
        <p:spPr>
          <a:xfrm>
            <a:off x="640080" y="566928"/>
            <a:ext cx="10835640" cy="475488"/>
          </a:xfrm>
          <a:prstGeom prst="rect">
            <a:avLst/>
          </a:prstGeom>
          <a:noFill/>
          <a:ln/>
        </p:spPr>
        <p:txBody>
          <a:bodyPr wrap="square" lIns="0" tIns="0" rIns="0" bIns="0" rtlCol="0" anchor="ctr">
            <a:normAutofit/>
          </a:bodyPr>
          <a:lstStyle/>
          <a:p>
            <a:pPr indent="0" marL="0">
              <a:buNone/>
            </a:pPr>
            <a:r>
              <a:rPr lang="en-US" sz="2700" b="1" dirty="0">
                <a:solidFill>
                  <a:srgbClr val="0B1F3A"/>
                </a:solidFill>
                <a:latin typeface="Aptos Display" pitchFamily="34" charset="0"/>
                <a:ea typeface="Aptos Display" pitchFamily="34" charset="-122"/>
                <a:cs typeface="Aptos Display" pitchFamily="34" charset="-120"/>
              </a:rPr>
              <a:t>Exploratory Findings: Fraud Patterns Were Segment-Specific</a:t>
            </a:r>
            <a:endParaRPr lang="en-US" sz="2700" dirty="0"/>
          </a:p>
        </p:txBody>
      </p:sp>
      <p:sp>
        <p:nvSpPr>
          <p:cNvPr id="4" name="Shape 2"/>
          <p:cNvSpPr/>
          <p:nvPr/>
        </p:nvSpPr>
        <p:spPr>
          <a:xfrm>
            <a:off x="658368" y="1161288"/>
            <a:ext cx="1097280" cy="0"/>
          </a:xfrm>
          <a:prstGeom prst="line">
            <a:avLst/>
          </a:prstGeom>
          <a:noFill/>
          <a:ln w="38100">
            <a:solidFill>
              <a:srgbClr val="2A9D8F"/>
            </a:solidFill>
            <a:prstDash val="solid"/>
          </a:ln>
        </p:spPr>
      </p:sp>
      <p:pic>
        <p:nvPicPr>
          <p:cNvPr id="5" name="Image 0" descr="/mnt/data/figure_2_fraud_rate_by_category.png">    </p:cNvPr>
          <p:cNvPicPr>
            <a:picLocks noChangeAspect="1"/>
          </p:cNvPicPr>
          <p:nvPr/>
        </p:nvPicPr>
        <p:blipFill>
          <a:blip r:embed="rId1"/>
          <a:stretch>
            <a:fillRect/>
          </a:stretch>
        </p:blipFill>
        <p:spPr>
          <a:xfrm>
            <a:off x="658368" y="1602109"/>
            <a:ext cx="5440680" cy="3790943"/>
          </a:xfrm>
          <a:prstGeom prst="rect">
            <a:avLst/>
          </a:prstGeom>
        </p:spPr>
      </p:pic>
      <p:pic>
        <p:nvPicPr>
          <p:cNvPr id="6" name="Image 1" descr="/mnt/data/figure_3_fraud_rate_by_hour.png">    </p:cNvPr>
          <p:cNvPicPr>
            <a:picLocks noChangeAspect="1"/>
          </p:cNvPicPr>
          <p:nvPr/>
        </p:nvPicPr>
        <p:blipFill>
          <a:blip r:embed="rId2"/>
          <a:stretch>
            <a:fillRect/>
          </a:stretch>
        </p:blipFill>
        <p:spPr>
          <a:xfrm>
            <a:off x="6263640" y="2185943"/>
            <a:ext cx="5303520" cy="2623274"/>
          </a:xfrm>
          <a:prstGeom prst="rect">
            <a:avLst/>
          </a:prstGeom>
        </p:spPr>
      </p:pic>
      <p:sp>
        <p:nvSpPr>
          <p:cNvPr id="7" name="Text 3"/>
          <p:cNvSpPr/>
          <p:nvPr/>
        </p:nvSpPr>
        <p:spPr>
          <a:xfrm>
            <a:off x="960120" y="5742432"/>
            <a:ext cx="10561320" cy="329184"/>
          </a:xfrm>
          <a:prstGeom prst="rect">
            <a:avLst/>
          </a:prstGeom>
          <a:noFill/>
          <a:ln/>
        </p:spPr>
        <p:txBody>
          <a:bodyPr wrap="square" lIns="254" tIns="254" rIns="254" bIns="254" rtlCol="0" anchor="ctr">
            <a:normAutofit/>
          </a:bodyPr>
          <a:lstStyle/>
          <a:p>
            <a:pPr algn="ctr" indent="0" marL="0">
              <a:buNone/>
            </a:pPr>
            <a:r>
              <a:rPr lang="en-US" sz="1420" dirty="0">
                <a:solidFill>
                  <a:srgbClr val="1E293B"/>
                </a:solidFill>
                <a:latin typeface="Aptos" pitchFamily="34" charset="0"/>
                <a:ea typeface="Aptos" pitchFamily="34" charset="-122"/>
                <a:cs typeface="Aptos" pitchFamily="34" charset="-120"/>
              </a:rPr>
              <a:t>Key pattern: online shopping, miscellaneous online, and grocery POS had the highest fraud rates. Fraud also rose sharply during late-night hours.</a:t>
            </a:r>
            <a:endParaRPr lang="en-US" sz="1420" dirty="0"/>
          </a:p>
        </p:txBody>
      </p:sp>
      <p:sp>
        <p:nvSpPr>
          <p:cNvPr id="25" name="Slide Number Placeholder 0"/>
          <p:cNvSpPr>
            <a:spLocks noGrp="1"/>
          </p:cNvSpPr>
          <p:nvPr>
            <p:ph type="sldNum" sz="quarter" idx="4294967295"/>
          </p:nvPr>
        </p:nvSpPr>
        <p:spPr>
          <a:xfrm>
            <a:off x="11356848" y="6556248"/>
            <a:ext cx="320040" cy="146304"/>
          </a:xfrm>
          <a:prstGeom prst="rect">
            <a:avLst/>
          </a:prstGeom>
          <a:extLst>
            <a:ext uri="{C572A759-6A51-4108-AA02-DFA0A04FC94B}">
              <ma14:wrappingTextBoxFlag xmlns:ma14="http://schemas.microsoft.com/office/mac/drawingml/2011/main" val="0"/>
            </a:ext>
          </a:extLst>
        </p:spPr>
        <p:txBody>
          <a:bodyPr/>
          <a:lstStyle>
            <a:lvl1pPr>
              <a:defRPr sz="650">
                <a:solidFill>
                  <a:srgbClr val="64748B"/>
                </a:solidFill>
                <a:latin typeface="Aptos"/>
                <a:ea typeface="Aptos"/>
                <a:cs typeface="Aptos"/>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58368" y="320040"/>
            <a:ext cx="10881360" cy="201168"/>
          </a:xfrm>
          <a:prstGeom prst="rect">
            <a:avLst/>
          </a:prstGeom>
          <a:noFill/>
          <a:ln/>
        </p:spPr>
        <p:txBody>
          <a:bodyPr wrap="square" lIns="0" tIns="0" rIns="0" bIns="0" rtlCol="0" anchor="ctr"/>
          <a:lstStyle/>
          <a:p>
            <a:pPr indent="0" marL="0">
              <a:buNone/>
            </a:pPr>
            <a:r>
              <a:rPr lang="en-US" sz="850" b="1" dirty="0">
                <a:solidFill>
                  <a:srgbClr val="2A9D8F"/>
                </a:solidFill>
                <a:latin typeface="Aptos" pitchFamily="34" charset="0"/>
                <a:ea typeface="Aptos" pitchFamily="34" charset="-122"/>
                <a:cs typeface="Aptos" pitchFamily="34" charset="-120"/>
              </a:rPr>
              <a:t>PREDICTIVE PERFORMANCE</a:t>
            </a:r>
            <a:endParaRPr lang="en-US" sz="850" dirty="0"/>
          </a:p>
        </p:txBody>
      </p:sp>
      <p:sp>
        <p:nvSpPr>
          <p:cNvPr id="3" name="Text 1"/>
          <p:cNvSpPr/>
          <p:nvPr/>
        </p:nvSpPr>
        <p:spPr>
          <a:xfrm>
            <a:off x="640080" y="566928"/>
            <a:ext cx="10835640" cy="475488"/>
          </a:xfrm>
          <a:prstGeom prst="rect">
            <a:avLst/>
          </a:prstGeom>
          <a:noFill/>
          <a:ln/>
        </p:spPr>
        <p:txBody>
          <a:bodyPr wrap="square" lIns="0" tIns="0" rIns="0" bIns="0" rtlCol="0" anchor="ctr">
            <a:normAutofit/>
          </a:bodyPr>
          <a:lstStyle/>
          <a:p>
            <a:pPr indent="0" marL="0">
              <a:buNone/>
            </a:pPr>
            <a:r>
              <a:rPr lang="en-US" sz="2700" b="1" dirty="0">
                <a:solidFill>
                  <a:srgbClr val="0B1F3A"/>
                </a:solidFill>
                <a:latin typeface="Aptos Display" pitchFamily="34" charset="0"/>
                <a:ea typeface="Aptos Display" pitchFamily="34" charset="-122"/>
                <a:cs typeface="Aptos Display" pitchFamily="34" charset="-120"/>
              </a:rPr>
              <a:t>Model Comparison: Gradient Boosting Was the Clear Winner</a:t>
            </a:r>
            <a:endParaRPr lang="en-US" sz="2700" dirty="0"/>
          </a:p>
        </p:txBody>
      </p:sp>
      <p:sp>
        <p:nvSpPr>
          <p:cNvPr id="4" name="Shape 2"/>
          <p:cNvSpPr/>
          <p:nvPr/>
        </p:nvSpPr>
        <p:spPr>
          <a:xfrm>
            <a:off x="658368" y="1161288"/>
            <a:ext cx="1097280" cy="0"/>
          </a:xfrm>
          <a:prstGeom prst="line">
            <a:avLst/>
          </a:prstGeom>
          <a:noFill/>
          <a:ln w="38100">
            <a:solidFill>
              <a:srgbClr val="2A9D8F"/>
            </a:solidFill>
            <a:prstDash val="solid"/>
          </a:ln>
        </p:spPr>
      </p:sp>
      <p:pic>
        <p:nvPicPr>
          <p:cNvPr id="5" name="Image 0" descr="/mnt/data/figure_9_model_performance_comparison.png">    </p:cNvPr>
          <p:cNvPicPr>
            <a:picLocks noChangeAspect="1"/>
          </p:cNvPicPr>
          <p:nvPr/>
        </p:nvPicPr>
        <p:blipFill>
          <a:blip r:embed="rId1"/>
          <a:stretch>
            <a:fillRect/>
          </a:stretch>
        </p:blipFill>
        <p:spPr>
          <a:xfrm>
            <a:off x="685800" y="1639167"/>
            <a:ext cx="6537960" cy="3533946"/>
          </a:xfrm>
          <a:prstGeom prst="rect">
            <a:avLst/>
          </a:prstGeom>
        </p:spPr>
      </p:pic>
      <p:sp>
        <p:nvSpPr>
          <p:cNvPr id="6" name="Text 3"/>
          <p:cNvSpPr/>
          <p:nvPr/>
        </p:nvSpPr>
        <p:spPr>
          <a:xfrm>
            <a:off x="7635240" y="1417320"/>
            <a:ext cx="2926080" cy="274320"/>
          </a:xfrm>
          <a:prstGeom prst="rect">
            <a:avLst/>
          </a:prstGeom>
          <a:noFill/>
          <a:ln/>
        </p:spPr>
        <p:txBody>
          <a:bodyPr wrap="square" lIns="0" tIns="0" rIns="0" bIns="0" rtlCol="0" anchor="ctr"/>
          <a:lstStyle/>
          <a:p>
            <a:pPr indent="0" marL="0">
              <a:buNone/>
            </a:pPr>
            <a:r>
              <a:rPr lang="en-US" sz="2000" b="1" dirty="0">
                <a:solidFill>
                  <a:srgbClr val="0B1F3A"/>
                </a:solidFill>
                <a:latin typeface="Aptos Display" pitchFamily="34" charset="0"/>
                <a:ea typeface="Aptos Display" pitchFamily="34" charset="-122"/>
                <a:cs typeface="Aptos Display" pitchFamily="34" charset="-120"/>
              </a:rPr>
              <a:t>Default 0.50 threshold</a:t>
            </a:r>
            <a:endParaRPr lang="en-US" sz="2000" dirty="0"/>
          </a:p>
        </p:txBody>
      </p:sp>
      <p:sp>
        <p:nvSpPr>
          <p:cNvPr id="7" name="Shape 4"/>
          <p:cNvSpPr/>
          <p:nvPr/>
        </p:nvSpPr>
        <p:spPr>
          <a:xfrm>
            <a:off x="7662672" y="1874520"/>
            <a:ext cx="1783080" cy="987552"/>
          </a:xfrm>
          <a:prstGeom prst="roundRect">
            <a:avLst>
              <a:gd name="adj" fmla="val 7407"/>
            </a:avLst>
          </a:prstGeom>
          <a:solidFill>
            <a:srgbClr val="FCEDE9"/>
          </a:solidFill>
          <a:ln w="10160">
            <a:solidFill>
              <a:srgbClr val="D8E2EE"/>
            </a:solidFill>
            <a:prstDash val="solid"/>
          </a:ln>
        </p:spPr>
      </p:sp>
      <p:sp>
        <p:nvSpPr>
          <p:cNvPr id="8" name="Text 5"/>
          <p:cNvSpPr/>
          <p:nvPr/>
        </p:nvSpPr>
        <p:spPr>
          <a:xfrm>
            <a:off x="7772400" y="2039112"/>
            <a:ext cx="1563624" cy="329184"/>
          </a:xfrm>
          <a:prstGeom prst="rect">
            <a:avLst/>
          </a:prstGeom>
          <a:noFill/>
          <a:ln/>
        </p:spPr>
        <p:txBody>
          <a:bodyPr wrap="square" lIns="0" tIns="0" rIns="0" bIns="0" rtlCol="0" anchor="ctr"/>
          <a:lstStyle/>
          <a:p>
            <a:pPr algn="ctr" indent="0" marL="0">
              <a:buNone/>
            </a:pPr>
            <a:r>
              <a:rPr lang="en-US" sz="2100" b="1" dirty="0">
                <a:solidFill>
                  <a:srgbClr val="E76F51"/>
                </a:solidFill>
                <a:latin typeface="Aptos Display" pitchFamily="34" charset="0"/>
                <a:ea typeface="Aptos Display" pitchFamily="34" charset="-122"/>
                <a:cs typeface="Aptos Display" pitchFamily="34" charset="-120"/>
              </a:rPr>
              <a:t>67,204</a:t>
            </a:r>
            <a:endParaRPr lang="en-US" sz="2100" dirty="0"/>
          </a:p>
        </p:txBody>
      </p:sp>
      <p:sp>
        <p:nvSpPr>
          <p:cNvPr id="9" name="Text 6"/>
          <p:cNvSpPr/>
          <p:nvPr/>
        </p:nvSpPr>
        <p:spPr>
          <a:xfrm>
            <a:off x="7790688" y="2441448"/>
            <a:ext cx="1527048" cy="256032"/>
          </a:xfrm>
          <a:prstGeom prst="rect">
            <a:avLst/>
          </a:prstGeom>
          <a:noFill/>
          <a:ln/>
        </p:spPr>
        <p:txBody>
          <a:bodyPr wrap="square" lIns="0" tIns="0" rIns="0" bIns="0" rtlCol="0" anchor="ctr">
            <a:normAutofit/>
          </a:bodyPr>
          <a:lstStyle/>
          <a:p>
            <a:pPr algn="ctr" indent="0" marL="0">
              <a:buNone/>
            </a:pPr>
            <a:r>
              <a:rPr lang="en-US" sz="950" dirty="0">
                <a:solidFill>
                  <a:srgbClr val="475569"/>
                </a:solidFill>
                <a:latin typeface="Aptos" pitchFamily="34" charset="0"/>
                <a:ea typeface="Aptos" pitchFamily="34" charset="-122"/>
                <a:cs typeface="Aptos" pitchFamily="34" charset="-120"/>
              </a:rPr>
              <a:t>logistic false positives</a:t>
            </a:r>
            <a:endParaRPr lang="en-US" sz="950" dirty="0"/>
          </a:p>
        </p:txBody>
      </p:sp>
      <p:sp>
        <p:nvSpPr>
          <p:cNvPr id="10" name="Shape 7"/>
          <p:cNvSpPr/>
          <p:nvPr/>
        </p:nvSpPr>
        <p:spPr>
          <a:xfrm>
            <a:off x="9674352" y="1874520"/>
            <a:ext cx="1783080" cy="987552"/>
          </a:xfrm>
          <a:prstGeom prst="roundRect">
            <a:avLst>
              <a:gd name="adj" fmla="val 7407"/>
            </a:avLst>
          </a:prstGeom>
          <a:solidFill>
            <a:srgbClr val="E6F6F3"/>
          </a:solidFill>
          <a:ln w="10160">
            <a:solidFill>
              <a:srgbClr val="D8E2EE"/>
            </a:solidFill>
            <a:prstDash val="solid"/>
          </a:ln>
        </p:spPr>
      </p:sp>
      <p:sp>
        <p:nvSpPr>
          <p:cNvPr id="11" name="Text 8"/>
          <p:cNvSpPr/>
          <p:nvPr/>
        </p:nvSpPr>
        <p:spPr>
          <a:xfrm>
            <a:off x="9784080" y="2039112"/>
            <a:ext cx="1563624" cy="329184"/>
          </a:xfrm>
          <a:prstGeom prst="rect">
            <a:avLst/>
          </a:prstGeom>
          <a:noFill/>
          <a:ln/>
        </p:spPr>
        <p:txBody>
          <a:bodyPr wrap="square" lIns="0" tIns="0" rIns="0" bIns="0" rtlCol="0" anchor="ctr"/>
          <a:lstStyle/>
          <a:p>
            <a:pPr algn="ctr" indent="0" marL="0">
              <a:buNone/>
            </a:pPr>
            <a:r>
              <a:rPr lang="en-US" sz="2100" b="1" dirty="0">
                <a:solidFill>
                  <a:srgbClr val="2A9D8F"/>
                </a:solidFill>
                <a:latin typeface="Aptos Display" pitchFamily="34" charset="0"/>
                <a:ea typeface="Aptos Display" pitchFamily="34" charset="-122"/>
                <a:cs typeface="Aptos Display" pitchFamily="34" charset="-120"/>
              </a:rPr>
              <a:t>163</a:t>
            </a:r>
            <a:endParaRPr lang="en-US" sz="2100" dirty="0"/>
          </a:p>
        </p:txBody>
      </p:sp>
      <p:sp>
        <p:nvSpPr>
          <p:cNvPr id="12" name="Text 9"/>
          <p:cNvSpPr/>
          <p:nvPr/>
        </p:nvSpPr>
        <p:spPr>
          <a:xfrm>
            <a:off x="9802368" y="2441448"/>
            <a:ext cx="1527048" cy="256032"/>
          </a:xfrm>
          <a:prstGeom prst="rect">
            <a:avLst/>
          </a:prstGeom>
          <a:noFill/>
          <a:ln/>
        </p:spPr>
        <p:txBody>
          <a:bodyPr wrap="square" lIns="0" tIns="0" rIns="0" bIns="0" rtlCol="0" anchor="ctr">
            <a:normAutofit/>
          </a:bodyPr>
          <a:lstStyle/>
          <a:p>
            <a:pPr algn="ctr" indent="0" marL="0">
              <a:buNone/>
            </a:pPr>
            <a:r>
              <a:rPr lang="en-US" sz="950" dirty="0">
                <a:solidFill>
                  <a:srgbClr val="475569"/>
                </a:solidFill>
                <a:latin typeface="Aptos" pitchFamily="34" charset="0"/>
                <a:ea typeface="Aptos" pitchFamily="34" charset="-122"/>
                <a:cs typeface="Aptos" pitchFamily="34" charset="-120"/>
              </a:rPr>
              <a:t>gradient boosting false positives</a:t>
            </a:r>
            <a:endParaRPr lang="en-US" sz="950" dirty="0"/>
          </a:p>
        </p:txBody>
      </p:sp>
      <p:sp>
        <p:nvSpPr>
          <p:cNvPr id="13" name="Shape 10"/>
          <p:cNvSpPr/>
          <p:nvPr/>
        </p:nvSpPr>
        <p:spPr>
          <a:xfrm>
            <a:off x="7662672" y="3154680"/>
            <a:ext cx="1783080" cy="987552"/>
          </a:xfrm>
          <a:prstGeom prst="roundRect">
            <a:avLst>
              <a:gd name="adj" fmla="val 7407"/>
            </a:avLst>
          </a:prstGeom>
          <a:solidFill>
            <a:srgbClr val="FEF4E8"/>
          </a:solidFill>
          <a:ln w="10160">
            <a:solidFill>
              <a:srgbClr val="D8E2EE"/>
            </a:solidFill>
            <a:prstDash val="solid"/>
          </a:ln>
        </p:spPr>
      </p:sp>
      <p:sp>
        <p:nvSpPr>
          <p:cNvPr id="14" name="Text 11"/>
          <p:cNvSpPr/>
          <p:nvPr/>
        </p:nvSpPr>
        <p:spPr>
          <a:xfrm>
            <a:off x="7772400" y="3319272"/>
            <a:ext cx="1563624" cy="329184"/>
          </a:xfrm>
          <a:prstGeom prst="rect">
            <a:avLst/>
          </a:prstGeom>
          <a:noFill/>
          <a:ln/>
        </p:spPr>
        <p:txBody>
          <a:bodyPr wrap="square" lIns="0" tIns="0" rIns="0" bIns="0" rtlCol="0" anchor="ctr"/>
          <a:lstStyle/>
          <a:p>
            <a:pPr algn="ctr" indent="0" marL="0">
              <a:buNone/>
            </a:pPr>
            <a:r>
              <a:rPr lang="en-US" sz="2100" b="1" dirty="0">
                <a:solidFill>
                  <a:srgbClr val="F4A261"/>
                </a:solidFill>
                <a:latin typeface="Aptos Display" pitchFamily="34" charset="0"/>
                <a:ea typeface="Aptos Display" pitchFamily="34" charset="-122"/>
                <a:cs typeface="Aptos Display" pitchFamily="34" charset="-120"/>
              </a:rPr>
              <a:t>2.31%</a:t>
            </a:r>
            <a:endParaRPr lang="en-US" sz="2100" dirty="0"/>
          </a:p>
        </p:txBody>
      </p:sp>
      <p:sp>
        <p:nvSpPr>
          <p:cNvPr id="15" name="Text 12"/>
          <p:cNvSpPr/>
          <p:nvPr/>
        </p:nvSpPr>
        <p:spPr>
          <a:xfrm>
            <a:off x="7790688" y="3721608"/>
            <a:ext cx="1527048" cy="256032"/>
          </a:xfrm>
          <a:prstGeom prst="rect">
            <a:avLst/>
          </a:prstGeom>
          <a:noFill/>
          <a:ln/>
        </p:spPr>
        <p:txBody>
          <a:bodyPr wrap="square" lIns="0" tIns="0" rIns="0" bIns="0" rtlCol="0" anchor="ctr">
            <a:normAutofit/>
          </a:bodyPr>
          <a:lstStyle/>
          <a:p>
            <a:pPr algn="ctr" indent="0" marL="0">
              <a:buNone/>
            </a:pPr>
            <a:r>
              <a:rPr lang="en-US" sz="950" dirty="0">
                <a:solidFill>
                  <a:srgbClr val="475569"/>
                </a:solidFill>
                <a:latin typeface="Aptos" pitchFamily="34" charset="0"/>
                <a:ea typeface="Aptos" pitchFamily="34" charset="-122"/>
                <a:cs typeface="Aptos" pitchFamily="34" charset="-120"/>
              </a:rPr>
              <a:t>logistic precision</a:t>
            </a:r>
            <a:endParaRPr lang="en-US" sz="950" dirty="0"/>
          </a:p>
        </p:txBody>
      </p:sp>
      <p:sp>
        <p:nvSpPr>
          <p:cNvPr id="16" name="Shape 13"/>
          <p:cNvSpPr/>
          <p:nvPr/>
        </p:nvSpPr>
        <p:spPr>
          <a:xfrm>
            <a:off x="9674352" y="3154680"/>
            <a:ext cx="1783080" cy="987552"/>
          </a:xfrm>
          <a:prstGeom prst="roundRect">
            <a:avLst>
              <a:gd name="adj" fmla="val 7407"/>
            </a:avLst>
          </a:prstGeom>
          <a:solidFill>
            <a:srgbClr val="E6F6F3"/>
          </a:solidFill>
          <a:ln w="10160">
            <a:solidFill>
              <a:srgbClr val="D8E2EE"/>
            </a:solidFill>
            <a:prstDash val="solid"/>
          </a:ln>
        </p:spPr>
      </p:sp>
      <p:sp>
        <p:nvSpPr>
          <p:cNvPr id="17" name="Text 14"/>
          <p:cNvSpPr/>
          <p:nvPr/>
        </p:nvSpPr>
        <p:spPr>
          <a:xfrm>
            <a:off x="9784080" y="3319272"/>
            <a:ext cx="1563624" cy="329184"/>
          </a:xfrm>
          <a:prstGeom prst="rect">
            <a:avLst/>
          </a:prstGeom>
          <a:noFill/>
          <a:ln/>
        </p:spPr>
        <p:txBody>
          <a:bodyPr wrap="square" lIns="0" tIns="0" rIns="0" bIns="0" rtlCol="0" anchor="ctr"/>
          <a:lstStyle/>
          <a:p>
            <a:pPr algn="ctr" indent="0" marL="0">
              <a:buNone/>
            </a:pPr>
            <a:r>
              <a:rPr lang="en-US" sz="2100" b="1" dirty="0">
                <a:solidFill>
                  <a:srgbClr val="2A9D8F"/>
                </a:solidFill>
                <a:latin typeface="Aptos Display" pitchFamily="34" charset="0"/>
                <a:ea typeface="Aptos Display" pitchFamily="34" charset="-122"/>
                <a:cs typeface="Aptos Display" pitchFamily="34" charset="-120"/>
              </a:rPr>
              <a:t>91.14%</a:t>
            </a:r>
            <a:endParaRPr lang="en-US" sz="2100" dirty="0"/>
          </a:p>
        </p:txBody>
      </p:sp>
      <p:sp>
        <p:nvSpPr>
          <p:cNvPr id="18" name="Text 15"/>
          <p:cNvSpPr/>
          <p:nvPr/>
        </p:nvSpPr>
        <p:spPr>
          <a:xfrm>
            <a:off x="9802368" y="3721608"/>
            <a:ext cx="1527048" cy="256032"/>
          </a:xfrm>
          <a:prstGeom prst="rect">
            <a:avLst/>
          </a:prstGeom>
          <a:noFill/>
          <a:ln/>
        </p:spPr>
        <p:txBody>
          <a:bodyPr wrap="square" lIns="0" tIns="0" rIns="0" bIns="0" rtlCol="0" anchor="ctr">
            <a:normAutofit/>
          </a:bodyPr>
          <a:lstStyle/>
          <a:p>
            <a:pPr algn="ctr" indent="0" marL="0">
              <a:buNone/>
            </a:pPr>
            <a:r>
              <a:rPr lang="en-US" sz="950" dirty="0">
                <a:solidFill>
                  <a:srgbClr val="475569"/>
                </a:solidFill>
                <a:latin typeface="Aptos" pitchFamily="34" charset="0"/>
                <a:ea typeface="Aptos" pitchFamily="34" charset="-122"/>
                <a:cs typeface="Aptos" pitchFamily="34" charset="-120"/>
              </a:rPr>
              <a:t>gradient boosting precision</a:t>
            </a:r>
            <a:endParaRPr lang="en-US" sz="950" dirty="0"/>
          </a:p>
        </p:txBody>
      </p:sp>
      <p:sp>
        <p:nvSpPr>
          <p:cNvPr id="19" name="Text 16"/>
          <p:cNvSpPr/>
          <p:nvPr/>
        </p:nvSpPr>
        <p:spPr>
          <a:xfrm>
            <a:off x="7662672" y="4636008"/>
            <a:ext cx="3703320" cy="594360"/>
          </a:xfrm>
          <a:prstGeom prst="rect">
            <a:avLst/>
          </a:prstGeom>
          <a:noFill/>
          <a:ln/>
        </p:spPr>
        <p:txBody>
          <a:bodyPr wrap="square" lIns="254" tIns="254" rIns="254" bIns="254" rtlCol="0" anchor="ctr">
            <a:normAutofit/>
          </a:bodyPr>
          <a:lstStyle/>
          <a:p>
            <a:pPr indent="0" marL="0">
              <a:buNone/>
            </a:pPr>
            <a:r>
              <a:rPr lang="en-US" sz="1350" dirty="0">
                <a:solidFill>
                  <a:srgbClr val="1E293B"/>
                </a:solidFill>
                <a:latin typeface="Aptos" pitchFamily="34" charset="0"/>
                <a:ea typeface="Aptos" pitchFamily="34" charset="-122"/>
                <a:cs typeface="Aptos" pitchFamily="34" charset="-120"/>
              </a:rPr>
              <a:t>At the same threshold, gradient boosting detected more fraud and reduced false positives by 67,041 compared with logistic regression.</a:t>
            </a:r>
            <a:endParaRPr lang="en-US" sz="1350" dirty="0"/>
          </a:p>
        </p:txBody>
      </p:sp>
      <p:sp>
        <p:nvSpPr>
          <p:cNvPr id="25" name="Slide Number Placeholder 0"/>
          <p:cNvSpPr>
            <a:spLocks noGrp="1"/>
          </p:cNvSpPr>
          <p:nvPr>
            <p:ph type="sldNum" sz="quarter" idx="4294967295"/>
          </p:nvPr>
        </p:nvSpPr>
        <p:spPr>
          <a:xfrm>
            <a:off x="11356848" y="6556248"/>
            <a:ext cx="320040" cy="146304"/>
          </a:xfrm>
          <a:prstGeom prst="rect">
            <a:avLst/>
          </a:prstGeom>
          <a:extLst>
            <a:ext uri="{C572A759-6A51-4108-AA02-DFA0A04FC94B}">
              <ma14:wrappingTextBoxFlag xmlns:ma14="http://schemas.microsoft.com/office/mac/drawingml/2011/main" val="0"/>
            </a:ext>
          </a:extLst>
        </p:spPr>
        <p:txBody>
          <a:bodyPr/>
          <a:lstStyle>
            <a:lvl1pPr>
              <a:defRPr sz="650">
                <a:solidFill>
                  <a:srgbClr val="64748B"/>
                </a:solidFill>
                <a:latin typeface="Aptos"/>
                <a:ea typeface="Aptos"/>
                <a:cs typeface="Aptos"/>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58368" y="320040"/>
            <a:ext cx="10881360" cy="201168"/>
          </a:xfrm>
          <a:prstGeom prst="rect">
            <a:avLst/>
          </a:prstGeom>
          <a:noFill/>
          <a:ln/>
        </p:spPr>
        <p:txBody>
          <a:bodyPr wrap="square" lIns="0" tIns="0" rIns="0" bIns="0" rtlCol="0" anchor="ctr"/>
          <a:lstStyle/>
          <a:p>
            <a:pPr indent="0" marL="0">
              <a:buNone/>
            </a:pPr>
            <a:r>
              <a:rPr lang="en-US" sz="850" b="1" dirty="0">
                <a:solidFill>
                  <a:srgbClr val="2A9D8F"/>
                </a:solidFill>
                <a:latin typeface="Aptos" pitchFamily="34" charset="0"/>
                <a:ea typeface="Aptos" pitchFamily="34" charset="-122"/>
                <a:cs typeface="Aptos" pitchFamily="34" charset="-120"/>
              </a:rPr>
              <a:t>DECISION TRADEOFF</a:t>
            </a:r>
            <a:endParaRPr lang="en-US" sz="850" dirty="0"/>
          </a:p>
        </p:txBody>
      </p:sp>
      <p:sp>
        <p:nvSpPr>
          <p:cNvPr id="3" name="Text 1"/>
          <p:cNvSpPr/>
          <p:nvPr/>
        </p:nvSpPr>
        <p:spPr>
          <a:xfrm>
            <a:off x="640080" y="566928"/>
            <a:ext cx="10835640" cy="475488"/>
          </a:xfrm>
          <a:prstGeom prst="rect">
            <a:avLst/>
          </a:prstGeom>
          <a:noFill/>
          <a:ln/>
        </p:spPr>
        <p:txBody>
          <a:bodyPr wrap="square" lIns="0" tIns="0" rIns="0" bIns="0" rtlCol="0" anchor="ctr">
            <a:normAutofit/>
          </a:bodyPr>
          <a:lstStyle/>
          <a:p>
            <a:pPr indent="0" marL="0">
              <a:buNone/>
            </a:pPr>
            <a:r>
              <a:rPr lang="en-US" sz="2700" b="1" dirty="0">
                <a:solidFill>
                  <a:srgbClr val="0B1F3A"/>
                </a:solidFill>
                <a:latin typeface="Aptos Display" pitchFamily="34" charset="0"/>
                <a:ea typeface="Aptos Display" pitchFamily="34" charset="-122"/>
                <a:cs typeface="Aptos Display" pitchFamily="34" charset="-120"/>
              </a:rPr>
              <a:t>Threshold Analysis: The Cutoff Is a Business Decision</a:t>
            </a:r>
            <a:endParaRPr lang="en-US" sz="2700" dirty="0"/>
          </a:p>
        </p:txBody>
      </p:sp>
      <p:sp>
        <p:nvSpPr>
          <p:cNvPr id="4" name="Shape 2"/>
          <p:cNvSpPr/>
          <p:nvPr/>
        </p:nvSpPr>
        <p:spPr>
          <a:xfrm>
            <a:off x="658368" y="1161288"/>
            <a:ext cx="1097280" cy="0"/>
          </a:xfrm>
          <a:prstGeom prst="line">
            <a:avLst/>
          </a:prstGeom>
          <a:noFill/>
          <a:ln w="38100">
            <a:solidFill>
              <a:srgbClr val="2A9D8F"/>
            </a:solidFill>
            <a:prstDash val="solid"/>
          </a:ln>
        </p:spPr>
      </p:sp>
      <p:pic>
        <p:nvPicPr>
          <p:cNvPr id="5" name="Image 0" descr="/mnt/data/figure_5_classification_errors_by_threshold.png">    </p:cNvPr>
          <p:cNvPicPr>
            <a:picLocks noChangeAspect="1"/>
          </p:cNvPicPr>
          <p:nvPr/>
        </p:nvPicPr>
        <p:blipFill>
          <a:blip r:embed="rId1"/>
          <a:stretch>
            <a:fillRect/>
          </a:stretch>
        </p:blipFill>
        <p:spPr>
          <a:xfrm>
            <a:off x="713232" y="1639714"/>
            <a:ext cx="5623560" cy="3349972"/>
          </a:xfrm>
          <a:prstGeom prst="rect">
            <a:avLst/>
          </a:prstGeom>
        </p:spPr>
      </p:pic>
      <p:pic>
        <p:nvPicPr>
          <p:cNvPr id="6" name="Image 1" descr="/mnt/data/figure_4_total_cost_by_threshold.png">    </p:cNvPr>
          <p:cNvPicPr>
            <a:picLocks noChangeAspect="1"/>
          </p:cNvPicPr>
          <p:nvPr/>
        </p:nvPicPr>
        <p:blipFill>
          <a:blip r:embed="rId2"/>
          <a:stretch>
            <a:fillRect/>
          </a:stretch>
        </p:blipFill>
        <p:spPr>
          <a:xfrm>
            <a:off x="6510528" y="1775892"/>
            <a:ext cx="5166360" cy="3077617"/>
          </a:xfrm>
          <a:prstGeom prst="rect">
            <a:avLst/>
          </a:prstGeom>
        </p:spPr>
      </p:pic>
      <p:sp>
        <p:nvSpPr>
          <p:cNvPr id="7" name="Text 3"/>
          <p:cNvSpPr/>
          <p:nvPr/>
        </p:nvSpPr>
        <p:spPr>
          <a:xfrm>
            <a:off x="914400" y="5504688"/>
            <a:ext cx="10378440" cy="420624"/>
          </a:xfrm>
          <a:prstGeom prst="rect">
            <a:avLst/>
          </a:prstGeom>
          <a:noFill/>
          <a:ln/>
        </p:spPr>
        <p:txBody>
          <a:bodyPr wrap="square" lIns="254" tIns="254" rIns="254" bIns="254" rtlCol="0" anchor="ctr">
            <a:normAutofit/>
          </a:bodyPr>
          <a:lstStyle/>
          <a:p>
            <a:pPr algn="ctr" indent="0" marL="0">
              <a:buNone/>
            </a:pPr>
            <a:r>
              <a:rPr lang="en-US" sz="1380" dirty="0">
                <a:solidFill>
                  <a:srgbClr val="1E293B"/>
                </a:solidFill>
                <a:latin typeface="Aptos" pitchFamily="34" charset="0"/>
                <a:ea typeface="Aptos" pitchFamily="34" charset="-122"/>
                <a:cs typeface="Aptos" pitchFamily="34" charset="-120"/>
              </a:rPr>
              <a:t>Lower thresholds catch more fraud but can increase false positives. Higher thresholds reduce alerts but may miss more fraud. The preferred threshold depends on cost, customer friction, and review capacity.</a:t>
            </a:r>
            <a:endParaRPr lang="en-US" sz="1380" dirty="0"/>
          </a:p>
        </p:txBody>
      </p:sp>
      <p:sp>
        <p:nvSpPr>
          <p:cNvPr id="25" name="Slide Number Placeholder 0"/>
          <p:cNvSpPr>
            <a:spLocks noGrp="1"/>
          </p:cNvSpPr>
          <p:nvPr>
            <p:ph type="sldNum" sz="quarter" idx="4294967295"/>
          </p:nvPr>
        </p:nvSpPr>
        <p:spPr>
          <a:xfrm>
            <a:off x="11356848" y="6556248"/>
            <a:ext cx="320040" cy="146304"/>
          </a:xfrm>
          <a:prstGeom prst="rect">
            <a:avLst/>
          </a:prstGeom>
          <a:extLst>
            <a:ext uri="{C572A759-6A51-4108-AA02-DFA0A04FC94B}">
              <ma14:wrappingTextBoxFlag xmlns:ma14="http://schemas.microsoft.com/office/mac/drawingml/2011/main" val="0"/>
            </a:ext>
          </a:extLst>
        </p:spPr>
        <p:txBody>
          <a:bodyPr/>
          <a:lstStyle>
            <a:lvl1pPr>
              <a:defRPr sz="650">
                <a:solidFill>
                  <a:srgbClr val="64748B"/>
                </a:solidFill>
                <a:latin typeface="Aptos"/>
                <a:ea typeface="Aptos"/>
                <a:cs typeface="Aptos"/>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58368" y="320040"/>
            <a:ext cx="10881360" cy="201168"/>
          </a:xfrm>
          <a:prstGeom prst="rect">
            <a:avLst/>
          </a:prstGeom>
          <a:noFill/>
          <a:ln/>
        </p:spPr>
        <p:txBody>
          <a:bodyPr wrap="square" lIns="0" tIns="0" rIns="0" bIns="0" rtlCol="0" anchor="ctr"/>
          <a:lstStyle/>
          <a:p>
            <a:pPr indent="0" marL="0">
              <a:buNone/>
            </a:pPr>
            <a:r>
              <a:rPr lang="en-US" sz="850" b="1" dirty="0">
                <a:solidFill>
                  <a:srgbClr val="2A9D8F"/>
                </a:solidFill>
                <a:latin typeface="Aptos" pitchFamily="34" charset="0"/>
                <a:ea typeface="Aptos" pitchFamily="34" charset="-122"/>
                <a:cs typeface="Aptos" pitchFamily="34" charset="-120"/>
              </a:rPr>
              <a:t>FALSE-POSITIVE DEEP DIVE</a:t>
            </a:r>
            <a:endParaRPr lang="en-US" sz="850" dirty="0"/>
          </a:p>
        </p:txBody>
      </p:sp>
      <p:sp>
        <p:nvSpPr>
          <p:cNvPr id="3" name="Text 1"/>
          <p:cNvSpPr/>
          <p:nvPr/>
        </p:nvSpPr>
        <p:spPr>
          <a:xfrm>
            <a:off x="640080" y="566928"/>
            <a:ext cx="10835640" cy="475488"/>
          </a:xfrm>
          <a:prstGeom prst="rect">
            <a:avLst/>
          </a:prstGeom>
          <a:noFill/>
          <a:ln/>
        </p:spPr>
        <p:txBody>
          <a:bodyPr wrap="square" lIns="0" tIns="0" rIns="0" bIns="0" rtlCol="0" anchor="ctr">
            <a:normAutofit/>
          </a:bodyPr>
          <a:lstStyle/>
          <a:p>
            <a:pPr indent="0" marL="0">
              <a:buNone/>
            </a:pPr>
            <a:r>
              <a:rPr lang="en-US" sz="2700" b="1" dirty="0">
                <a:solidFill>
                  <a:srgbClr val="0B1F3A"/>
                </a:solidFill>
                <a:latin typeface="Aptos Display" pitchFamily="34" charset="0"/>
                <a:ea typeface="Aptos Display" pitchFamily="34" charset="-122"/>
                <a:cs typeface="Aptos Display" pitchFamily="34" charset="-120"/>
              </a:rPr>
              <a:t>False-Positive Impact: The Burden Was Not Evenly Distributed</a:t>
            </a:r>
            <a:endParaRPr lang="en-US" sz="2700" dirty="0"/>
          </a:p>
        </p:txBody>
      </p:sp>
      <p:sp>
        <p:nvSpPr>
          <p:cNvPr id="4" name="Shape 2"/>
          <p:cNvSpPr/>
          <p:nvPr/>
        </p:nvSpPr>
        <p:spPr>
          <a:xfrm>
            <a:off x="658368" y="1161288"/>
            <a:ext cx="1097280" cy="0"/>
          </a:xfrm>
          <a:prstGeom prst="line">
            <a:avLst/>
          </a:prstGeom>
          <a:noFill/>
          <a:ln w="38100">
            <a:solidFill>
              <a:srgbClr val="2A9D8F"/>
            </a:solidFill>
            <a:prstDash val="solid"/>
          </a:ln>
        </p:spPr>
      </p:sp>
      <p:pic>
        <p:nvPicPr>
          <p:cNvPr id="5" name="Image 0" descr="/mnt/data/figure_6_false_positive_rate_by_category.png">    </p:cNvPr>
          <p:cNvPicPr>
            <a:picLocks noChangeAspect="1"/>
          </p:cNvPicPr>
          <p:nvPr/>
        </p:nvPicPr>
        <p:blipFill>
          <a:blip r:embed="rId1"/>
          <a:stretch>
            <a:fillRect/>
          </a:stretch>
        </p:blipFill>
        <p:spPr>
          <a:xfrm>
            <a:off x="713232" y="1444890"/>
            <a:ext cx="5760720" cy="4013939"/>
          </a:xfrm>
          <a:prstGeom prst="rect">
            <a:avLst/>
          </a:prstGeom>
        </p:spPr>
      </p:pic>
      <p:pic>
        <p:nvPicPr>
          <p:cNvPr id="6" name="Image 1" descr="/mnt/data/figure_7_false_positive_rate_by_hour.png">    </p:cNvPr>
          <p:cNvPicPr>
            <a:picLocks noChangeAspect="1"/>
          </p:cNvPicPr>
          <p:nvPr/>
        </p:nvPicPr>
        <p:blipFill>
          <a:blip r:embed="rId2"/>
          <a:stretch>
            <a:fillRect/>
          </a:stretch>
        </p:blipFill>
        <p:spPr>
          <a:xfrm>
            <a:off x="6656832" y="2275909"/>
            <a:ext cx="4754880" cy="2351901"/>
          </a:xfrm>
          <a:prstGeom prst="rect">
            <a:avLst/>
          </a:prstGeom>
        </p:spPr>
      </p:pic>
      <p:sp>
        <p:nvSpPr>
          <p:cNvPr id="7" name="Text 3"/>
          <p:cNvSpPr/>
          <p:nvPr/>
        </p:nvSpPr>
        <p:spPr>
          <a:xfrm>
            <a:off x="914400" y="5715000"/>
            <a:ext cx="10149840" cy="420624"/>
          </a:xfrm>
          <a:prstGeom prst="rect">
            <a:avLst/>
          </a:prstGeom>
          <a:noFill/>
          <a:ln/>
        </p:spPr>
        <p:txBody>
          <a:bodyPr wrap="square" lIns="254" tIns="254" rIns="254" bIns="254" rtlCol="0" anchor="ctr">
            <a:normAutofit/>
          </a:bodyPr>
          <a:lstStyle/>
          <a:p>
            <a:pPr algn="ctr" indent="0" marL="0">
              <a:buNone/>
            </a:pPr>
            <a:r>
              <a:rPr lang="en-US" sz="1200" dirty="0">
                <a:solidFill>
                  <a:srgbClr val="1E293B"/>
                </a:solidFill>
                <a:latin typeface="Aptos" pitchFamily="34" charset="0"/>
                <a:ea typeface="Aptos" pitchFamily="34" charset="-122"/>
                <a:cs typeface="Aptos" pitchFamily="34" charset="-120"/>
              </a:rPr>
              <a:t>Operational takeaway: travel had the highest false-positive rate (13.02%), and 11 a.m. had the highest hourly false-positive rate (2.83%). High-impact segments may need step-up authentication instead of automatic decline.</a:t>
            </a:r>
            <a:endParaRPr lang="en-US" sz="1200" dirty="0"/>
          </a:p>
        </p:txBody>
      </p:sp>
      <p:sp>
        <p:nvSpPr>
          <p:cNvPr id="25" name="Slide Number Placeholder 0"/>
          <p:cNvSpPr>
            <a:spLocks noGrp="1"/>
          </p:cNvSpPr>
          <p:nvPr>
            <p:ph type="sldNum" sz="quarter" idx="4294967295"/>
          </p:nvPr>
        </p:nvSpPr>
        <p:spPr>
          <a:xfrm>
            <a:off x="11356848" y="6556248"/>
            <a:ext cx="320040" cy="146304"/>
          </a:xfrm>
          <a:prstGeom prst="rect">
            <a:avLst/>
          </a:prstGeom>
          <a:extLst>
            <a:ext uri="{C572A759-6A51-4108-AA02-DFA0A04FC94B}">
              <ma14:wrappingTextBoxFlag xmlns:ma14="http://schemas.microsoft.com/office/mac/drawingml/2011/main" val="0"/>
            </a:ext>
          </a:extLst>
        </p:spPr>
        <p:txBody>
          <a:bodyPr/>
          <a:lstStyle>
            <a:lvl1pPr>
              <a:defRPr sz="650">
                <a:solidFill>
                  <a:srgbClr val="64748B"/>
                </a:solidFill>
                <a:latin typeface="Aptos"/>
                <a:ea typeface="Aptos"/>
                <a:cs typeface="Aptos"/>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58368" y="320040"/>
            <a:ext cx="10881360" cy="201168"/>
          </a:xfrm>
          <a:prstGeom prst="rect">
            <a:avLst/>
          </a:prstGeom>
          <a:noFill/>
          <a:ln/>
        </p:spPr>
        <p:txBody>
          <a:bodyPr wrap="square" lIns="0" tIns="0" rIns="0" bIns="0" rtlCol="0" anchor="ctr"/>
          <a:lstStyle/>
          <a:p>
            <a:pPr indent="0" marL="0">
              <a:buNone/>
            </a:pPr>
            <a:r>
              <a:rPr lang="en-US" sz="850" b="1" dirty="0">
                <a:solidFill>
                  <a:srgbClr val="2A9D8F"/>
                </a:solidFill>
                <a:latin typeface="Aptos" pitchFamily="34" charset="0"/>
                <a:ea typeface="Aptos" pitchFamily="34" charset="-122"/>
                <a:cs typeface="Aptos" pitchFamily="34" charset="-120"/>
              </a:rPr>
              <a:t>BUSINESS RECOMMENDATION</a:t>
            </a:r>
            <a:endParaRPr lang="en-US" sz="850" dirty="0"/>
          </a:p>
        </p:txBody>
      </p:sp>
      <p:sp>
        <p:nvSpPr>
          <p:cNvPr id="3" name="Text 1"/>
          <p:cNvSpPr/>
          <p:nvPr/>
        </p:nvSpPr>
        <p:spPr>
          <a:xfrm>
            <a:off x="640080" y="566928"/>
            <a:ext cx="10835640" cy="475488"/>
          </a:xfrm>
          <a:prstGeom prst="rect">
            <a:avLst/>
          </a:prstGeom>
          <a:noFill/>
          <a:ln/>
        </p:spPr>
        <p:txBody>
          <a:bodyPr wrap="square" lIns="0" tIns="0" rIns="0" bIns="0" rtlCol="0" anchor="ctr">
            <a:normAutofit/>
          </a:bodyPr>
          <a:lstStyle/>
          <a:p>
            <a:pPr indent="0" marL="0">
              <a:buNone/>
            </a:pPr>
            <a:r>
              <a:rPr lang="en-US" sz="2700" b="1" dirty="0">
                <a:solidFill>
                  <a:srgbClr val="0B1F3A"/>
                </a:solidFill>
                <a:latin typeface="Aptos Display" pitchFamily="34" charset="0"/>
                <a:ea typeface="Aptos Display" pitchFamily="34" charset="-122"/>
                <a:cs typeface="Aptos Display" pitchFamily="34" charset="-120"/>
              </a:rPr>
              <a:t>Cost Scenario Analysis: Recommended Model and Threshold</a:t>
            </a:r>
            <a:endParaRPr lang="en-US" sz="2700" dirty="0"/>
          </a:p>
        </p:txBody>
      </p:sp>
      <p:sp>
        <p:nvSpPr>
          <p:cNvPr id="4" name="Shape 2"/>
          <p:cNvSpPr/>
          <p:nvPr/>
        </p:nvSpPr>
        <p:spPr>
          <a:xfrm>
            <a:off x="658368" y="1161288"/>
            <a:ext cx="1097280" cy="0"/>
          </a:xfrm>
          <a:prstGeom prst="line">
            <a:avLst/>
          </a:prstGeom>
          <a:noFill/>
          <a:ln w="38100">
            <a:solidFill>
              <a:srgbClr val="2A9D8F"/>
            </a:solidFill>
            <a:prstDash val="solid"/>
          </a:ln>
        </p:spPr>
      </p:sp>
      <p:pic>
        <p:nvPicPr>
          <p:cNvPr id="5" name="Image 0" descr="/mnt/data/figure_8_best_model_cost_comparison.png">    </p:cNvPr>
          <p:cNvPicPr>
            <a:picLocks noChangeAspect="1"/>
          </p:cNvPicPr>
          <p:nvPr/>
        </p:nvPicPr>
        <p:blipFill>
          <a:blip r:embed="rId1"/>
          <a:stretch>
            <a:fillRect/>
          </a:stretch>
        </p:blipFill>
        <p:spPr>
          <a:xfrm>
            <a:off x="685800" y="1536129"/>
            <a:ext cx="6355080" cy="3785741"/>
          </a:xfrm>
          <a:prstGeom prst="rect">
            <a:avLst/>
          </a:prstGeom>
        </p:spPr>
      </p:pic>
      <p:sp>
        <p:nvSpPr>
          <p:cNvPr id="6" name="Text 3"/>
          <p:cNvSpPr/>
          <p:nvPr/>
        </p:nvSpPr>
        <p:spPr>
          <a:xfrm>
            <a:off x="7360920" y="1417320"/>
            <a:ext cx="3749040" cy="292608"/>
          </a:xfrm>
          <a:prstGeom prst="rect">
            <a:avLst/>
          </a:prstGeom>
          <a:noFill/>
          <a:ln/>
        </p:spPr>
        <p:txBody>
          <a:bodyPr wrap="square" lIns="0" tIns="0" rIns="0" bIns="0" rtlCol="0" anchor="ctr"/>
          <a:lstStyle/>
          <a:p>
            <a:pPr indent="0" marL="0">
              <a:buNone/>
            </a:pPr>
            <a:r>
              <a:rPr lang="en-US" sz="1800" b="1" dirty="0">
                <a:solidFill>
                  <a:srgbClr val="0B1F3A"/>
                </a:solidFill>
                <a:latin typeface="Aptos Display" pitchFamily="34" charset="0"/>
                <a:ea typeface="Aptos Display" pitchFamily="34" charset="-122"/>
                <a:cs typeface="Aptos Display" pitchFamily="34" charset="-120"/>
              </a:rPr>
              <a:t>Moderate-cost recommendation</a:t>
            </a:r>
            <a:endParaRPr lang="en-US" sz="1800" dirty="0"/>
          </a:p>
        </p:txBody>
      </p:sp>
      <p:sp>
        <p:nvSpPr>
          <p:cNvPr id="7" name="Shape 4"/>
          <p:cNvSpPr/>
          <p:nvPr/>
        </p:nvSpPr>
        <p:spPr>
          <a:xfrm>
            <a:off x="7360920" y="1874520"/>
            <a:ext cx="1508760" cy="987552"/>
          </a:xfrm>
          <a:prstGeom prst="roundRect">
            <a:avLst>
              <a:gd name="adj" fmla="val 7407"/>
            </a:avLst>
          </a:prstGeom>
          <a:solidFill>
            <a:srgbClr val="E6F6F3"/>
          </a:solidFill>
          <a:ln w="10160">
            <a:solidFill>
              <a:srgbClr val="D8E2EE"/>
            </a:solidFill>
            <a:prstDash val="solid"/>
          </a:ln>
        </p:spPr>
      </p:sp>
      <p:sp>
        <p:nvSpPr>
          <p:cNvPr id="8" name="Text 5"/>
          <p:cNvSpPr/>
          <p:nvPr/>
        </p:nvSpPr>
        <p:spPr>
          <a:xfrm>
            <a:off x="7470648" y="2039112"/>
            <a:ext cx="1289304" cy="329184"/>
          </a:xfrm>
          <a:prstGeom prst="rect">
            <a:avLst/>
          </a:prstGeom>
          <a:noFill/>
          <a:ln/>
        </p:spPr>
        <p:txBody>
          <a:bodyPr wrap="square" lIns="0" tIns="0" rIns="0" bIns="0" rtlCol="0" anchor="ctr"/>
          <a:lstStyle/>
          <a:p>
            <a:pPr algn="ctr" indent="0" marL="0">
              <a:buNone/>
            </a:pPr>
            <a:r>
              <a:rPr lang="en-US" sz="2100" b="1" dirty="0">
                <a:solidFill>
                  <a:srgbClr val="2A9D8F"/>
                </a:solidFill>
                <a:latin typeface="Aptos Display" pitchFamily="34" charset="0"/>
                <a:ea typeface="Aptos Display" pitchFamily="34" charset="-122"/>
                <a:cs typeface="Aptos Display" pitchFamily="34" charset="-120"/>
              </a:rPr>
              <a:t>Gradient Boosting</a:t>
            </a:r>
            <a:endParaRPr lang="en-US" sz="2100" dirty="0"/>
          </a:p>
        </p:txBody>
      </p:sp>
      <p:sp>
        <p:nvSpPr>
          <p:cNvPr id="9" name="Text 6"/>
          <p:cNvSpPr/>
          <p:nvPr/>
        </p:nvSpPr>
        <p:spPr>
          <a:xfrm>
            <a:off x="7488936" y="2441448"/>
            <a:ext cx="1252728" cy="256032"/>
          </a:xfrm>
          <a:prstGeom prst="rect">
            <a:avLst/>
          </a:prstGeom>
          <a:noFill/>
          <a:ln/>
        </p:spPr>
        <p:txBody>
          <a:bodyPr wrap="square" lIns="0" tIns="0" rIns="0" bIns="0" rtlCol="0" anchor="ctr">
            <a:normAutofit/>
          </a:bodyPr>
          <a:lstStyle/>
          <a:p>
            <a:pPr algn="ctr" indent="0" marL="0">
              <a:buNone/>
            </a:pPr>
            <a:r>
              <a:rPr lang="en-US" sz="950" dirty="0">
                <a:solidFill>
                  <a:srgbClr val="475569"/>
                </a:solidFill>
                <a:latin typeface="Aptos" pitchFamily="34" charset="0"/>
                <a:ea typeface="Aptos" pitchFamily="34" charset="-122"/>
                <a:cs typeface="Aptos" pitchFamily="34" charset="-120"/>
              </a:rPr>
              <a:t>recommended model</a:t>
            </a:r>
            <a:endParaRPr lang="en-US" sz="950" dirty="0"/>
          </a:p>
        </p:txBody>
      </p:sp>
      <p:sp>
        <p:nvSpPr>
          <p:cNvPr id="10" name="Shape 7"/>
          <p:cNvSpPr/>
          <p:nvPr/>
        </p:nvSpPr>
        <p:spPr>
          <a:xfrm>
            <a:off x="9098280" y="1874520"/>
            <a:ext cx="1508760" cy="987552"/>
          </a:xfrm>
          <a:prstGeom prst="roundRect">
            <a:avLst>
              <a:gd name="adj" fmla="val 7407"/>
            </a:avLst>
          </a:prstGeom>
          <a:solidFill>
            <a:srgbClr val="EAF2F8"/>
          </a:solidFill>
          <a:ln w="10160">
            <a:solidFill>
              <a:srgbClr val="D8E2EE"/>
            </a:solidFill>
            <a:prstDash val="solid"/>
          </a:ln>
        </p:spPr>
      </p:sp>
      <p:sp>
        <p:nvSpPr>
          <p:cNvPr id="11" name="Text 8"/>
          <p:cNvSpPr/>
          <p:nvPr/>
        </p:nvSpPr>
        <p:spPr>
          <a:xfrm>
            <a:off x="9208008" y="2039112"/>
            <a:ext cx="1289304" cy="329184"/>
          </a:xfrm>
          <a:prstGeom prst="rect">
            <a:avLst/>
          </a:prstGeom>
          <a:noFill/>
          <a:ln/>
        </p:spPr>
        <p:txBody>
          <a:bodyPr wrap="square" lIns="0" tIns="0" rIns="0" bIns="0" rtlCol="0" anchor="ctr"/>
          <a:lstStyle/>
          <a:p>
            <a:pPr algn="ctr" indent="0" marL="0">
              <a:buNone/>
            </a:pPr>
            <a:r>
              <a:rPr lang="en-US" sz="2100" b="1" dirty="0">
                <a:solidFill>
                  <a:srgbClr val="1F4E79"/>
                </a:solidFill>
                <a:latin typeface="Aptos Display" pitchFamily="34" charset="0"/>
                <a:ea typeface="Aptos Display" pitchFamily="34" charset="-122"/>
                <a:cs typeface="Aptos Display" pitchFamily="34" charset="-120"/>
              </a:rPr>
              <a:t>0.10</a:t>
            </a:r>
            <a:endParaRPr lang="en-US" sz="2100" dirty="0"/>
          </a:p>
        </p:txBody>
      </p:sp>
      <p:sp>
        <p:nvSpPr>
          <p:cNvPr id="12" name="Text 9"/>
          <p:cNvSpPr/>
          <p:nvPr/>
        </p:nvSpPr>
        <p:spPr>
          <a:xfrm>
            <a:off x="9226296" y="2441448"/>
            <a:ext cx="1252728" cy="256032"/>
          </a:xfrm>
          <a:prstGeom prst="rect">
            <a:avLst/>
          </a:prstGeom>
          <a:noFill/>
          <a:ln/>
        </p:spPr>
        <p:txBody>
          <a:bodyPr wrap="square" lIns="0" tIns="0" rIns="0" bIns="0" rtlCol="0" anchor="ctr">
            <a:normAutofit/>
          </a:bodyPr>
          <a:lstStyle/>
          <a:p>
            <a:pPr algn="ctr" indent="0" marL="0">
              <a:buNone/>
            </a:pPr>
            <a:r>
              <a:rPr lang="en-US" sz="950" dirty="0">
                <a:solidFill>
                  <a:srgbClr val="475569"/>
                </a:solidFill>
                <a:latin typeface="Aptos" pitchFamily="34" charset="0"/>
                <a:ea typeface="Aptos" pitchFamily="34" charset="-122"/>
                <a:cs typeface="Aptos" pitchFamily="34" charset="-120"/>
              </a:rPr>
              <a:t>recommended threshold</a:t>
            </a:r>
            <a:endParaRPr lang="en-US" sz="950" dirty="0"/>
          </a:p>
        </p:txBody>
      </p:sp>
      <p:sp>
        <p:nvSpPr>
          <p:cNvPr id="13" name="Shape 10"/>
          <p:cNvSpPr/>
          <p:nvPr/>
        </p:nvSpPr>
        <p:spPr>
          <a:xfrm>
            <a:off x="7360920" y="3163824"/>
            <a:ext cx="1508760" cy="987552"/>
          </a:xfrm>
          <a:prstGeom prst="roundRect">
            <a:avLst>
              <a:gd name="adj" fmla="val 7407"/>
            </a:avLst>
          </a:prstGeom>
          <a:solidFill>
            <a:srgbClr val="FEF4E8"/>
          </a:solidFill>
          <a:ln w="10160">
            <a:solidFill>
              <a:srgbClr val="D8E2EE"/>
            </a:solidFill>
            <a:prstDash val="solid"/>
          </a:ln>
        </p:spPr>
      </p:sp>
      <p:sp>
        <p:nvSpPr>
          <p:cNvPr id="14" name="Text 11"/>
          <p:cNvSpPr/>
          <p:nvPr/>
        </p:nvSpPr>
        <p:spPr>
          <a:xfrm>
            <a:off x="7470648" y="3328416"/>
            <a:ext cx="1289304" cy="329184"/>
          </a:xfrm>
          <a:prstGeom prst="rect">
            <a:avLst/>
          </a:prstGeom>
          <a:noFill/>
          <a:ln/>
        </p:spPr>
        <p:txBody>
          <a:bodyPr wrap="square" lIns="0" tIns="0" rIns="0" bIns="0" rtlCol="0" anchor="ctr"/>
          <a:lstStyle/>
          <a:p>
            <a:pPr algn="ctr" indent="0" marL="0">
              <a:buNone/>
            </a:pPr>
            <a:r>
              <a:rPr lang="en-US" sz="2100" b="1" dirty="0">
                <a:solidFill>
                  <a:srgbClr val="F4A261"/>
                </a:solidFill>
                <a:latin typeface="Aptos Display" pitchFamily="34" charset="0"/>
                <a:ea typeface="Aptos Display" pitchFamily="34" charset="-122"/>
                <a:cs typeface="Aptos Display" pitchFamily="34" charset="-120"/>
              </a:rPr>
              <a:t>$93,392</a:t>
            </a:r>
            <a:endParaRPr lang="en-US" sz="2100" dirty="0"/>
          </a:p>
        </p:txBody>
      </p:sp>
      <p:sp>
        <p:nvSpPr>
          <p:cNvPr id="15" name="Text 12"/>
          <p:cNvSpPr/>
          <p:nvPr/>
        </p:nvSpPr>
        <p:spPr>
          <a:xfrm>
            <a:off x="7488936" y="3730752"/>
            <a:ext cx="1252728" cy="256032"/>
          </a:xfrm>
          <a:prstGeom prst="rect">
            <a:avLst/>
          </a:prstGeom>
          <a:noFill/>
          <a:ln/>
        </p:spPr>
        <p:txBody>
          <a:bodyPr wrap="square" lIns="0" tIns="0" rIns="0" bIns="0" rtlCol="0" anchor="ctr">
            <a:normAutofit/>
          </a:bodyPr>
          <a:lstStyle/>
          <a:p>
            <a:pPr algn="ctr" indent="0" marL="0">
              <a:buNone/>
            </a:pPr>
            <a:r>
              <a:rPr lang="en-US" sz="950" dirty="0">
                <a:solidFill>
                  <a:srgbClr val="475569"/>
                </a:solidFill>
                <a:latin typeface="Aptos" pitchFamily="34" charset="0"/>
                <a:ea typeface="Aptos" pitchFamily="34" charset="-122"/>
                <a:cs typeface="Aptos" pitchFamily="34" charset="-120"/>
              </a:rPr>
              <a:t>estimated total cost</a:t>
            </a:r>
            <a:endParaRPr lang="en-US" sz="950" dirty="0"/>
          </a:p>
        </p:txBody>
      </p:sp>
      <p:sp>
        <p:nvSpPr>
          <p:cNvPr id="16" name="Shape 13"/>
          <p:cNvSpPr/>
          <p:nvPr/>
        </p:nvSpPr>
        <p:spPr>
          <a:xfrm>
            <a:off x="9098280" y="3163824"/>
            <a:ext cx="1508760" cy="987552"/>
          </a:xfrm>
          <a:prstGeom prst="roundRect">
            <a:avLst>
              <a:gd name="adj" fmla="val 7407"/>
            </a:avLst>
          </a:prstGeom>
          <a:solidFill>
            <a:srgbClr val="FCEDE9"/>
          </a:solidFill>
          <a:ln w="10160">
            <a:solidFill>
              <a:srgbClr val="D8E2EE"/>
            </a:solidFill>
            <a:prstDash val="solid"/>
          </a:ln>
        </p:spPr>
      </p:sp>
      <p:sp>
        <p:nvSpPr>
          <p:cNvPr id="17" name="Text 14"/>
          <p:cNvSpPr/>
          <p:nvPr/>
        </p:nvSpPr>
        <p:spPr>
          <a:xfrm>
            <a:off x="9208008" y="3328416"/>
            <a:ext cx="1289304" cy="329184"/>
          </a:xfrm>
          <a:prstGeom prst="rect">
            <a:avLst/>
          </a:prstGeom>
          <a:noFill/>
          <a:ln/>
        </p:spPr>
        <p:txBody>
          <a:bodyPr wrap="square" lIns="0" tIns="0" rIns="0" bIns="0" rtlCol="0" anchor="ctr"/>
          <a:lstStyle/>
          <a:p>
            <a:pPr algn="ctr" indent="0" marL="0">
              <a:buNone/>
            </a:pPr>
            <a:r>
              <a:rPr lang="en-US" sz="2100" b="1" dirty="0">
                <a:solidFill>
                  <a:srgbClr val="E76F51"/>
                </a:solidFill>
                <a:latin typeface="Aptos Display" pitchFamily="34" charset="0"/>
                <a:ea typeface="Aptos Display" pitchFamily="34" charset="-122"/>
                <a:cs typeface="Aptos Display" pitchFamily="34" charset="-120"/>
              </a:rPr>
              <a:t>1,173</a:t>
            </a:r>
            <a:endParaRPr lang="en-US" sz="2100" dirty="0"/>
          </a:p>
        </p:txBody>
      </p:sp>
      <p:sp>
        <p:nvSpPr>
          <p:cNvPr id="18" name="Text 15"/>
          <p:cNvSpPr/>
          <p:nvPr/>
        </p:nvSpPr>
        <p:spPr>
          <a:xfrm>
            <a:off x="9226296" y="3730752"/>
            <a:ext cx="1252728" cy="256032"/>
          </a:xfrm>
          <a:prstGeom prst="rect">
            <a:avLst/>
          </a:prstGeom>
          <a:noFill/>
          <a:ln/>
        </p:spPr>
        <p:txBody>
          <a:bodyPr wrap="square" lIns="0" tIns="0" rIns="0" bIns="0" rtlCol="0" anchor="ctr">
            <a:normAutofit/>
          </a:bodyPr>
          <a:lstStyle/>
          <a:p>
            <a:pPr algn="ctr" indent="0" marL="0">
              <a:buNone/>
            </a:pPr>
            <a:r>
              <a:rPr lang="en-US" sz="950" dirty="0">
                <a:solidFill>
                  <a:srgbClr val="475569"/>
                </a:solidFill>
                <a:latin typeface="Aptos" pitchFamily="34" charset="0"/>
                <a:ea typeface="Aptos" pitchFamily="34" charset="-122"/>
                <a:cs typeface="Aptos" pitchFamily="34" charset="-120"/>
              </a:rPr>
              <a:t>false positives</a:t>
            </a:r>
            <a:endParaRPr lang="en-US" sz="950" dirty="0"/>
          </a:p>
        </p:txBody>
      </p:sp>
      <p:sp>
        <p:nvSpPr>
          <p:cNvPr id="19" name="Text 16"/>
          <p:cNvSpPr/>
          <p:nvPr/>
        </p:nvSpPr>
        <p:spPr>
          <a:xfrm>
            <a:off x="7360920" y="4599432"/>
            <a:ext cx="3566160" cy="621792"/>
          </a:xfrm>
          <a:prstGeom prst="rect">
            <a:avLst/>
          </a:prstGeom>
          <a:noFill/>
          <a:ln/>
        </p:spPr>
        <p:txBody>
          <a:bodyPr wrap="square" lIns="254" tIns="254" rIns="254" bIns="254" rtlCol="0" anchor="ctr">
            <a:normAutofit/>
          </a:bodyPr>
          <a:lstStyle/>
          <a:p>
            <a:pPr indent="0" marL="0">
              <a:buNone/>
            </a:pPr>
            <a:r>
              <a:rPr lang="en-US" sz="1320" dirty="0">
                <a:solidFill>
                  <a:srgbClr val="1E293B"/>
                </a:solidFill>
                <a:latin typeface="Aptos" pitchFamily="34" charset="0"/>
                <a:ea typeface="Aptos" pitchFamily="34" charset="-122"/>
                <a:cs typeface="Aptos" pitchFamily="34" charset="-120"/>
              </a:rPr>
              <a:t>This recommendation minimizes estimated total cost under the moderate scenario while retaining higher fraud capture than the 0.50 cutoff.</a:t>
            </a:r>
            <a:endParaRPr lang="en-US" sz="1320" dirty="0"/>
          </a:p>
        </p:txBody>
      </p:sp>
      <p:sp>
        <p:nvSpPr>
          <p:cNvPr id="25" name="Slide Number Placeholder 0"/>
          <p:cNvSpPr>
            <a:spLocks noGrp="1"/>
          </p:cNvSpPr>
          <p:nvPr>
            <p:ph type="sldNum" sz="quarter" idx="4294967295"/>
          </p:nvPr>
        </p:nvSpPr>
        <p:spPr>
          <a:xfrm>
            <a:off x="11356848" y="6556248"/>
            <a:ext cx="320040" cy="146304"/>
          </a:xfrm>
          <a:prstGeom prst="rect">
            <a:avLst/>
          </a:prstGeom>
          <a:extLst>
            <a:ext uri="{C572A759-6A51-4108-AA02-DFA0A04FC94B}">
              <ma14:wrappingTextBoxFlag xmlns:ma14="http://schemas.microsoft.com/office/mac/drawingml/2011/main" val="0"/>
            </a:ext>
          </a:extLst>
        </p:spPr>
        <p:txBody>
          <a:bodyPr/>
          <a:lstStyle>
            <a:lvl1pPr>
              <a:defRPr sz="650">
                <a:solidFill>
                  <a:srgbClr val="64748B"/>
                </a:solidFill>
                <a:latin typeface="Aptos"/>
                <a:ea typeface="Aptos"/>
                <a:cs typeface="Aptos"/>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38912"/>
            <a:ext cx="2011680" cy="228600"/>
          </a:xfrm>
          <a:prstGeom prst="rect">
            <a:avLst/>
          </a:prstGeom>
          <a:noFill/>
        </p:spPr>
        <p:txBody>
          <a:bodyPr wrap="none" lIns="0" rIns="0" tIns="0" bIns="0">
            <a:spAutoFit/>
          </a:bodyPr>
          <a:lstStyle/>
          <a:p>
            <a:r>
              <a:rPr sz="800" b="1">
                <a:solidFill>
                  <a:srgbClr val="2AA69A"/>
                </a:solidFill>
                <a:latin typeface="Aptos Narrow"/>
              </a:rPr>
              <a:t>REFERENCES</a:t>
            </a:r>
          </a:p>
        </p:txBody>
      </p:sp>
      <p:sp>
        <p:nvSpPr>
          <p:cNvPr id="4" name="TextBox 3"/>
          <p:cNvSpPr txBox="1"/>
          <p:nvPr/>
        </p:nvSpPr>
        <p:spPr>
          <a:xfrm>
            <a:off x="566928" y="713232"/>
            <a:ext cx="7132320" cy="548640"/>
          </a:xfrm>
          <a:prstGeom prst="rect">
            <a:avLst/>
          </a:prstGeom>
          <a:noFill/>
        </p:spPr>
        <p:txBody>
          <a:bodyPr wrap="none" lIns="0" rIns="0" tIns="0" bIns="0">
            <a:spAutoFit/>
          </a:bodyPr>
          <a:lstStyle/>
          <a:p>
            <a:r>
              <a:rPr sz="2800" b="1">
                <a:solidFill>
                  <a:srgbClr val="0A233C"/>
                </a:solidFill>
                <a:latin typeface="Aptos Display"/>
              </a:rPr>
              <a:t>Selected Sources</a:t>
            </a:r>
          </a:p>
        </p:txBody>
      </p:sp>
      <p:sp>
        <p:nvSpPr>
          <p:cNvPr id="5" name="Rectangle 4"/>
          <p:cNvSpPr/>
          <p:nvPr/>
        </p:nvSpPr>
        <p:spPr>
          <a:xfrm>
            <a:off x="566928" y="1298448"/>
            <a:ext cx="749808" cy="36576"/>
          </a:xfrm>
          <a:prstGeom prst="rect">
            <a:avLst/>
          </a:prstGeom>
          <a:solidFill>
            <a:srgbClr val="2A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66928" y="1627632"/>
            <a:ext cx="5166360" cy="4434840"/>
          </a:xfrm>
          <a:prstGeom prst="roundRect">
            <a:avLst/>
          </a:prstGeom>
          <a:solidFill>
            <a:srgbClr val="FFFFFF"/>
          </a:solidFill>
          <a:ln w="9525">
            <a:solidFill>
              <a:srgbClr val="E0E6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810512"/>
            <a:ext cx="4709160" cy="4050791"/>
          </a:xfrm>
          <a:prstGeom prst="rect">
            <a:avLst/>
          </a:prstGeom>
          <a:noFill/>
        </p:spPr>
        <p:txBody>
          <a:bodyPr wrap="square" lIns="0" rIns="0" tIns="0" bIns="0">
            <a:spAutoFit/>
          </a:bodyPr>
          <a:lstStyle/>
          <a:p>
            <a:pPr>
              <a:lnSpc>
                <a:spcPct val="106000"/>
              </a:lnSpc>
              <a:spcAft>
                <a:spcPts val="900"/>
              </a:spcAft>
              <a:defRPr sz="919">
                <a:solidFill>
                  <a:srgbClr val="0A233C"/>
                </a:solidFill>
                <a:latin typeface="Aptos"/>
              </a:defRPr>
            </a:pPr>
            <a:r>
              <a:t>Bolton, R. J., &amp; Hand, D. J. (2002). Statistical fraud detection: A review. Statistical Science, 17(3), 235–255.</a:t>
            </a:r>
          </a:p>
          <a:p>
            <a:pPr>
              <a:lnSpc>
                <a:spcPct val="106000"/>
              </a:lnSpc>
              <a:spcAft>
                <a:spcPts val="900"/>
              </a:spcAft>
              <a:defRPr sz="919">
                <a:solidFill>
                  <a:srgbClr val="0A233C"/>
                </a:solidFill>
                <a:latin typeface="Aptos"/>
              </a:defRPr>
            </a:pPr>
            <a:r>
              <a:t>Creswell, J. W., &amp; Creswell, J. D. (2023). Research design: Qualitative, quantitative, and mixed methods approaches (6th ed.). SAGE.</a:t>
            </a:r>
          </a:p>
          <a:p>
            <a:pPr>
              <a:lnSpc>
                <a:spcPct val="106000"/>
              </a:lnSpc>
              <a:spcAft>
                <a:spcPts val="900"/>
              </a:spcAft>
              <a:defRPr sz="919">
                <a:solidFill>
                  <a:srgbClr val="0A233C"/>
                </a:solidFill>
                <a:latin typeface="Aptos"/>
              </a:defRPr>
            </a:pPr>
            <a:r>
              <a:t>Custers, B. (2013). Data dilemmas in the information society: Introduction and overview. In B. Custers et al. (Eds.), Discrimination and privacy in the information society. Springer.</a:t>
            </a:r>
          </a:p>
          <a:p>
            <a:pPr>
              <a:lnSpc>
                <a:spcPct val="106000"/>
              </a:lnSpc>
              <a:spcAft>
                <a:spcPts val="900"/>
              </a:spcAft>
              <a:defRPr sz="919">
                <a:solidFill>
                  <a:srgbClr val="0A233C"/>
                </a:solidFill>
                <a:latin typeface="Aptos"/>
              </a:defRPr>
            </a:pPr>
            <a:r>
              <a:t>Dal Pozzolo, A., Caelen, O., Johnson, R. A., &amp; Bontempi, G. (2015). Calibrating probability with undersampling for unbalanced classification. IEEE Symposium Series on Computational Intelligence.</a:t>
            </a:r>
          </a:p>
        </p:txBody>
      </p:sp>
      <p:sp>
        <p:nvSpPr>
          <p:cNvPr id="8" name="Rounded Rectangle 7"/>
          <p:cNvSpPr/>
          <p:nvPr/>
        </p:nvSpPr>
        <p:spPr>
          <a:xfrm>
            <a:off x="6263640" y="1627632"/>
            <a:ext cx="5166360" cy="4434840"/>
          </a:xfrm>
          <a:prstGeom prst="roundRect">
            <a:avLst/>
          </a:prstGeom>
          <a:solidFill>
            <a:srgbClr val="FFFFFF"/>
          </a:solidFill>
          <a:ln w="9525">
            <a:solidFill>
              <a:srgbClr val="E0E6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4807" y="1810512"/>
            <a:ext cx="4709160" cy="4050791"/>
          </a:xfrm>
          <a:prstGeom prst="rect">
            <a:avLst/>
          </a:prstGeom>
          <a:noFill/>
        </p:spPr>
        <p:txBody>
          <a:bodyPr wrap="square" lIns="0" rIns="0" tIns="0" bIns="0">
            <a:spAutoFit/>
          </a:bodyPr>
          <a:lstStyle/>
          <a:p>
            <a:pPr>
              <a:lnSpc>
                <a:spcPct val="106000"/>
              </a:lnSpc>
              <a:spcAft>
                <a:spcPts val="900"/>
              </a:spcAft>
              <a:defRPr sz="919">
                <a:solidFill>
                  <a:srgbClr val="0A233C"/>
                </a:solidFill>
                <a:latin typeface="Aptos"/>
              </a:defRPr>
            </a:pPr>
            <a:r>
              <a:t>Ghosh, S., &amp; Reilly, D. L. (1994). Credit card fraud detection with a neural-network. Proceedings of the 27th Hawaii International Conference on System Sciences.</a:t>
            </a:r>
          </a:p>
          <a:p>
            <a:pPr>
              <a:lnSpc>
                <a:spcPct val="106000"/>
              </a:lnSpc>
              <a:spcAft>
                <a:spcPts val="900"/>
              </a:spcAft>
              <a:defRPr sz="919">
                <a:solidFill>
                  <a:srgbClr val="0A233C"/>
                </a:solidFill>
                <a:latin typeface="Aptos"/>
              </a:defRPr>
            </a:pPr>
            <a:r>
              <a:t>Phua, C., Lee, V., Smith, K., &amp; Gayler, R. (2010). A comprehensive survey of data mining-based fraud detection research. arXiv preprint.</a:t>
            </a:r>
          </a:p>
          <a:p>
            <a:pPr>
              <a:lnSpc>
                <a:spcPct val="106000"/>
              </a:lnSpc>
              <a:spcAft>
                <a:spcPts val="900"/>
              </a:spcAft>
              <a:defRPr sz="919">
                <a:solidFill>
                  <a:srgbClr val="0A233C"/>
                </a:solidFill>
                <a:latin typeface="Aptos"/>
              </a:defRPr>
            </a:pPr>
            <a:r>
              <a:t>Provost, F., &amp; Fawcett, T. (2013). Data science for business: What you need to know about data mining and data-analytic thinking. O’Reilly Media.</a:t>
            </a:r>
          </a:p>
          <a:p>
            <a:pPr>
              <a:lnSpc>
                <a:spcPct val="106000"/>
              </a:lnSpc>
              <a:spcAft>
                <a:spcPts val="900"/>
              </a:spcAft>
              <a:defRPr sz="919">
                <a:solidFill>
                  <a:srgbClr val="0A233C"/>
                </a:solidFill>
                <a:latin typeface="Aptos"/>
              </a:defRPr>
            </a:pPr>
            <a:r>
              <a:t>Kartik2112. (2020). Credit card transactions fraud detection dataset. Kaggle. https://www.kaggle.com/datasets/kartik2112/fraud-detection</a:t>
            </a:r>
          </a:p>
        </p:txBody>
      </p:sp>
      <p:sp>
        <p:nvSpPr>
          <p:cNvPr id="10" name="TextBox 9"/>
          <p:cNvSpPr txBox="1"/>
          <p:nvPr/>
        </p:nvSpPr>
        <p:spPr>
          <a:xfrm>
            <a:off x="566928" y="6108192"/>
            <a:ext cx="9875520" cy="228600"/>
          </a:xfrm>
          <a:prstGeom prst="rect">
            <a:avLst/>
          </a:prstGeom>
          <a:noFill/>
        </p:spPr>
        <p:txBody>
          <a:bodyPr wrap="none" lIns="0" tIns="0">
            <a:spAutoFit/>
          </a:bodyPr>
          <a:lstStyle/>
          <a:p>
            <a:r>
              <a:rPr sz="850" i="1">
                <a:solidFill>
                  <a:srgbClr val="545F6E"/>
                </a:solidFill>
                <a:latin typeface="Aptos"/>
              </a:rPr>
              <a:t>Additional source details are documented in the final paper and GitHub repository.</a:t>
            </a:r>
          </a:p>
        </p:txBody>
      </p:sp>
      <p:sp>
        <p:nvSpPr>
          <p:cNvPr id="11" name="TextBox 10"/>
          <p:cNvSpPr txBox="1"/>
          <p:nvPr/>
        </p:nvSpPr>
        <p:spPr>
          <a:xfrm>
            <a:off x="11356848" y="6309360"/>
            <a:ext cx="228600" cy="137160"/>
          </a:xfrm>
          <a:prstGeom prst="rect">
            <a:avLst/>
          </a:prstGeom>
          <a:noFill/>
        </p:spPr>
        <p:txBody>
          <a:bodyPr wrap="none" lIns="0" rIns="0" tIns="0" bIns="0">
            <a:spAutoFit/>
          </a:bodyPr>
          <a:lstStyle/>
          <a:p>
            <a:pPr algn="r"/>
            <a:r>
              <a:rPr sz="600">
                <a:solidFill>
                  <a:srgbClr val="545F6E"/>
                </a:solidFill>
                <a:latin typeface="Aptos"/>
              </a:rP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Colorado State University Global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FraudShield BI: Quantifying the Impact of False Positives in Credit Card Fraud Detection</dc:title>
  <dc:subject>MIS581 Capstone Presentation</dc:subject>
  <dc:creator>Atta Febri-Yeboah</dc:creator>
  <cp:lastModifiedBy>Atta Febri-Yeboah</cp:lastModifiedBy>
  <cp:revision>1</cp:revision>
  <dcterms:created xsi:type="dcterms:W3CDTF">2026-07-05T20:32:12Z</dcterms:created>
  <dcterms:modified xsi:type="dcterms:W3CDTF">2026-07-05T20:32:12Z</dcterms:modified>
</cp:coreProperties>
</file>