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my name is Atta Febri-Yeboah. My capstone project is FraudShield BI: Quantifying the Impact of False Positives in Credit Card Fraud Detection. The main idea behind this project is that fraud prevention should not only be judged by how much fraud it catches. It also needs to be judged by how much unnecessary disruption it creates for legitimate customers. In this presentation, I will summarize the business problem, the dataset, the methods, the model results, the threshold and cost analysis, and how the Power BI dashboard turns the findings into a decision-support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 studied is the tension between fraud protection and customer experience. A fraud model can look effective if it catches suspicious activity, but if it creates too many false positives, it can also create a hidden cost. Those costs may include manual review, customer service contact, declined purchases, and reduced customer trust. My project calls this the False Positive Tax because it is a cost that may not be visible if the organization only focuses on model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guided by three research questions. First, I studied how changing the classification threshold affected false positives, fraud detection, and estimated cost. Second, I examined which transaction characteristics were associated with false positives. Third, I evaluated how a dashboard and scenario analysis could help decision-makers compare fraud prevention with customer friction. The analysis led to rejection of all three null hypotheses because the data showed meaningful changes across thresholds, transaction segments, and cost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came from the Kaggle credit card transactions fraud detection dataset, which was generated using Sparkov and contains simulated transaction records. I used the training file with 1,296,675 records and the testing file with 555,719 records. The fraud rate in the training data was only about 0.579 percent, which confirmed that this was a highly imbalanced classification problem. The supplied train/test files were practical for the capstone, but a production version should also use a validation sample and an untouched holdout sample for threshold selection and final confirmation. Ethically, I did not use employer data, real customer data, or internal fraud procedures. I also excluded direct identifiers such as credit card number, names, transaction number, street address, and merchant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exploratory analysis showed that fraud was not evenly distributed. Some transaction categories had much higher fraud rates than others. Online shopping, miscellaneous online transactions, and grocery point-of-sale transactions were among the highest categories. Time of day also mattered. The fraud rate increased sharply around 10:00 p.m. and 11:00 p.m., while most daytime hours were much lower. These patterns helped support the idea that transaction characteristics are important when evaluating fraud and false-positive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class-weighted logistic regression with histogram-based gradient boosting. Logistic regression was useful as an interpretable baseline, but at the default 0.50 threshold it produced 67,204 false positives and only 2.31 percent precision. Gradient boosting performed much better. It produced only 163 false positives, with 91.14 percent precision, 78.18 percent recall, and an F1-score of 84.17 percent. This was one of the strongest findings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Threshold analysis was important because the default 0.50 cutoff is not automatically the best business choice. Lower thresholds catch more fraud but can also raise false positives and review volume. Higher thresholds can reduce alerts but may miss more fraud. The false-positive analysis also showed that the burden was not evenly distributed. Travel transactions had the highest false-positive rate at about 13.02 percent, and the 11 a.m. hour had the highest hourly false-positive rate at 2.83 percent. These results show why threshold decisions should account for customer friction, review capacity, and high-impact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scenario analysis applied low, moderate, and high assumptions to false-positive cost and missed fraud cost. Gradient boosting produced the lowest estimated total cost in every scenario. Under the moderate-cost scenario, the recommendation was gradient boosting at a 0.10 threshold, with an estimated total cost of $93,392.28 and 1,173 false positives. The Power BI dashboard then translated these model outputs into a decision-support report with an executive overview, threshold decision lab, cost and recommendation page, and false-positive deep dive. This helped move the project from a technical model comparison to a business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showed that fraud detection should be evaluated as both a technical and business problem. Accuracy alone is not enough in an imbalanced fraud dataset. Gradient boosting was the stronger model, and threshold selection changed the practical business outcome. For future validation, a production version should use a validation sample and an untouched holdout dataset, test false-positive costs that vary by transaction value, repeat segmentation using the selected gradient boosting threshold, and evaluate fairness with and without sensitive attributes such as gender. The final GitHub package includes the README, validated outputs, charts, final research paper, presentation materials, dashboard files, and dataset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final slide lists the key references used to support the project. The literature and data sources helped frame the study around class imbalance, fraud detection, cost-sensitive evaluation, research design, identity and authentication guidance, and the operational risk of false alerts. These sources support the overall recommendation that fraud models should be governed using both technical performance and business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8FC"/>
        </a:solidFill>
      </p:bgPr>
    </p:bg>
    <p:spTree>
      <p:nvGrpSpPr>
        <p:cNvPr id="1" name=""/>
        <p:cNvGrpSpPr/>
        <p:nvPr/>
      </p:nvGrpSpPr>
      <p:grpSpPr>
        <a:xfrm>
          <a:off x="0" y="0"/>
          <a:ext cx="0" cy="0"/>
          <a:chOff x="0" y="0"/>
          <a:chExt cx="0" cy="0"/>
        </a:xfrm>
      </p:grpSpPr>
      <p:pic>
        <p:nvPicPr>
          <p:cNvPr id="2" name="Image 0" descr="/mnt/data/slide_work/render/page-01.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pic>
        <p:nvPicPr>
          <p:cNvPr id="2" name="Image 0" descr="/mnt/data/slide_work/render/page-02.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pic>
        <p:nvPicPr>
          <p:cNvPr id="2" name="Image 0" descr="/mnt/data/slide_work/render/page-03.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pic>
        <p:nvPicPr>
          <p:cNvPr id="2" name="Image 0" descr="/mnt/data/slide_work/render/page-04.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pic>
        <p:nvPicPr>
          <p:cNvPr id="2" name="Image 0" descr="/mnt/data/slide_work/render/page-05.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pic>
        <p:nvPicPr>
          <p:cNvPr id="2" name="Image 0" descr="/mnt/data/slide_work/render/page-06.png">    </p:cNvPr>
          <p:cNvPicPr>
            <a:picLocks noChangeAspect="1"/>
          </p:cNvPicPr>
          <p:nvPr/>
        </p:nvPicPr>
        <p:blipFill>
          <a:blip r:embed="rId1"/>
          <a:stretch>
            <a:fillRect/>
          </a:stretch>
        </p:blipFill>
        <p:spPr>
          <a:xfrm>
            <a:off x="0" y="0"/>
            <a:ext cx="9144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C"/>
        </a:solidFill>
      </p:bgPr>
    </p:bg>
    <p:spTree>
      <p:nvGrpSpPr>
        <p:cNvPr id="1" name=""/>
        <p:cNvGrpSpPr/>
        <p:nvPr/>
      </p:nvGrpSpPr>
      <p:grpSpPr>
        <a:xfrm>
          <a:off x="0" y="0"/>
          <a:ext cx="0" cy="0"/>
          <a:chOff x="0" y="0"/>
          <a:chExt cx="0" cy="0"/>
        </a:xfrm>
      </p:grpSpPr>
      <p:sp>
        <p:nvSpPr>
          <p:cNvPr id="2" name="Text 0"/>
          <p:cNvSpPr/>
          <p:nvPr/>
        </p:nvSpPr>
        <p:spPr>
          <a:xfrm>
            <a:off x="502920" y="310896"/>
            <a:ext cx="3108960" cy="228600"/>
          </a:xfrm>
          <a:prstGeom prst="rect">
            <a:avLst/>
          </a:prstGeom>
          <a:noFill/>
          <a:ln/>
        </p:spPr>
        <p:txBody>
          <a:bodyPr wrap="square"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TRADEOFF</a:t>
            </a:r>
            <a:endParaRPr lang="en-US" sz="850" dirty="0"/>
          </a:p>
        </p:txBody>
      </p:sp>
      <p:sp>
        <p:nvSpPr>
          <p:cNvPr id="3" name="Text 1"/>
          <p:cNvSpPr/>
          <p:nvPr/>
        </p:nvSpPr>
        <p:spPr>
          <a:xfrm>
            <a:off x="502920" y="566928"/>
            <a:ext cx="7863840" cy="502920"/>
          </a:xfrm>
          <a:prstGeom prst="rect">
            <a:avLst/>
          </a:prstGeom>
          <a:noFill/>
          <a:ln/>
        </p:spPr>
        <p:txBody>
          <a:bodyPr wrap="square" rtlCol="0" anchor="ctr">
            <a:normAutofit/>
          </a:bodyPr>
          <a:lstStyle/>
          <a:p>
            <a:pPr indent="0" marL="0">
              <a:buNone/>
            </a:pPr>
            <a:r>
              <a:rPr lang="en-US" sz="2400" b="1" dirty="0">
                <a:solidFill>
                  <a:srgbClr val="0B2239"/>
                </a:solidFill>
                <a:latin typeface="Aptos Display" pitchFamily="34" charset="0"/>
                <a:ea typeface="Aptos Display" pitchFamily="34" charset="-122"/>
                <a:cs typeface="Aptos Display" pitchFamily="34" charset="-120"/>
              </a:rPr>
              <a:t>Threshold and False-Positive Impact</a:t>
            </a:r>
            <a:endParaRPr lang="en-US" sz="2400" dirty="0"/>
          </a:p>
        </p:txBody>
      </p:sp>
      <p:sp>
        <p:nvSpPr>
          <p:cNvPr id="4" name="Shape 2"/>
          <p:cNvSpPr/>
          <p:nvPr/>
        </p:nvSpPr>
        <p:spPr>
          <a:xfrm>
            <a:off x="502920" y="1115568"/>
            <a:ext cx="841248" cy="41148"/>
          </a:xfrm>
          <a:prstGeom prst="rect">
            <a:avLst/>
          </a:prstGeom>
          <a:solidFill>
            <a:srgbClr val="2A9D8F"/>
          </a:solidFill>
          <a:ln w="12700">
            <a:solidFill>
              <a:srgbClr val="2A9D8F"/>
            </a:solidFill>
            <a:prstDash val="solid"/>
          </a:ln>
        </p:spPr>
      </p:sp>
      <p:sp>
        <p:nvSpPr>
          <p:cNvPr id="5" name="Shape 3"/>
          <p:cNvSpPr/>
          <p:nvPr/>
        </p:nvSpPr>
        <p:spPr>
          <a:xfrm>
            <a:off x="384048" y="6428232"/>
            <a:ext cx="8375904" cy="0"/>
          </a:xfrm>
          <a:prstGeom prst="line">
            <a:avLst/>
          </a:prstGeom>
          <a:noFill/>
          <a:ln w="12700">
            <a:solidFill>
              <a:srgbClr val="D6DEE7"/>
            </a:solidFill>
            <a:prstDash val="solid"/>
          </a:ln>
        </p:spPr>
      </p:sp>
      <p:sp>
        <p:nvSpPr>
          <p:cNvPr id="6" name="Text 4"/>
          <p:cNvSpPr/>
          <p:nvPr/>
        </p:nvSpPr>
        <p:spPr>
          <a:xfrm>
            <a:off x="411480" y="6528816"/>
            <a:ext cx="3108960" cy="118872"/>
          </a:xfrm>
          <a:prstGeom prst="rect">
            <a:avLst/>
          </a:prstGeom>
          <a:noFill/>
          <a:ln/>
        </p:spPr>
        <p:txBody>
          <a:bodyPr wrap="square" rtlCol="0" anchor="ctr"/>
          <a:lstStyle/>
          <a:p>
            <a:pPr indent="0" marL="0">
              <a:buNone/>
            </a:pPr>
            <a:r>
              <a:rPr lang="en-US" sz="550" dirty="0">
                <a:solidFill>
                  <a:srgbClr val="617384"/>
                </a:solidFill>
                <a:latin typeface="Aptos" pitchFamily="34" charset="0"/>
                <a:ea typeface="Aptos" pitchFamily="34" charset="-122"/>
                <a:cs typeface="Aptos" pitchFamily="34" charset="-120"/>
              </a:rPr>
              <a:t>FraudShield BI | MIS581 Capstone</a:t>
            </a:r>
            <a:endParaRPr lang="en-US" sz="550" dirty="0"/>
          </a:p>
        </p:txBody>
      </p:sp>
      <p:sp>
        <p:nvSpPr>
          <p:cNvPr id="7" name="Text 5"/>
          <p:cNvSpPr/>
          <p:nvPr/>
        </p:nvSpPr>
        <p:spPr>
          <a:xfrm>
            <a:off x="8641080" y="6510528"/>
            <a:ext cx="228600" cy="164592"/>
          </a:xfrm>
          <a:prstGeom prst="rect">
            <a:avLst/>
          </a:prstGeom>
          <a:noFill/>
          <a:ln/>
        </p:spPr>
        <p:txBody>
          <a:bodyPr wrap="square" rtlCol="0" anchor="ctr"/>
          <a:lstStyle/>
          <a:p>
            <a:pPr algn="r" indent="0" marL="0">
              <a:buNone/>
            </a:pPr>
            <a:r>
              <a:rPr lang="en-US" sz="700" dirty="0">
                <a:solidFill>
                  <a:srgbClr val="617384"/>
                </a:solidFill>
                <a:latin typeface="Aptos" pitchFamily="34" charset="0"/>
                <a:ea typeface="Aptos" pitchFamily="34" charset="-122"/>
                <a:cs typeface="Aptos" pitchFamily="34" charset="-120"/>
              </a:rPr>
              <a:t>7</a:t>
            </a:r>
            <a:endParaRPr lang="en-US" sz="700" dirty="0"/>
          </a:p>
        </p:txBody>
      </p:sp>
      <p:sp>
        <p:nvSpPr>
          <p:cNvPr id="8" name="Text 6"/>
          <p:cNvSpPr/>
          <p:nvPr/>
        </p:nvSpPr>
        <p:spPr>
          <a:xfrm>
            <a:off x="502920" y="1261872"/>
            <a:ext cx="7863840" cy="256032"/>
          </a:xfrm>
          <a:prstGeom prst="rect">
            <a:avLst/>
          </a:prstGeom>
          <a:noFill/>
          <a:ln/>
        </p:spPr>
        <p:txBody>
          <a:bodyPr wrap="square" rtlCol="0" anchor="ctr"/>
          <a:lstStyle/>
          <a:p>
            <a:pPr indent="0" marL="0">
              <a:buNone/>
            </a:pPr>
            <a:r>
              <a:rPr lang="en-US" sz="1100" dirty="0">
                <a:solidFill>
                  <a:srgbClr val="617384"/>
                </a:solidFill>
                <a:latin typeface="Aptos" pitchFamily="34" charset="0"/>
                <a:ea typeface="Aptos" pitchFamily="34" charset="-122"/>
                <a:cs typeface="Aptos" pitchFamily="34" charset="-120"/>
              </a:rPr>
              <a:t>The cutoff changed review workload, fraud capture, and customer friction.</a:t>
            </a:r>
            <a:endParaRPr lang="en-US" sz="1100" dirty="0"/>
          </a:p>
        </p:txBody>
      </p:sp>
      <p:sp>
        <p:nvSpPr>
          <p:cNvPr id="9" name="Shape 7"/>
          <p:cNvSpPr/>
          <p:nvPr/>
        </p:nvSpPr>
        <p:spPr>
          <a:xfrm>
            <a:off x="502920" y="1664208"/>
            <a:ext cx="3977640" cy="2423160"/>
          </a:xfrm>
          <a:prstGeom prst="roundRect">
            <a:avLst>
              <a:gd name="adj" fmla="val 1887"/>
            </a:avLst>
          </a:prstGeom>
          <a:solidFill>
            <a:srgbClr val="FFFFFF"/>
          </a:solidFill>
          <a:ln w="12700">
            <a:solidFill>
              <a:srgbClr val="D6DEE7"/>
            </a:solidFill>
            <a:prstDash val="solid"/>
          </a:ln>
        </p:spPr>
      </p:sp>
      <p:sp>
        <p:nvSpPr>
          <p:cNvPr id="10" name="Text 8"/>
          <p:cNvSpPr/>
          <p:nvPr/>
        </p:nvSpPr>
        <p:spPr>
          <a:xfrm>
            <a:off x="676656" y="1783080"/>
            <a:ext cx="3566160" cy="201168"/>
          </a:xfrm>
          <a:prstGeom prst="rect">
            <a:avLst/>
          </a:prstGeom>
          <a:noFill/>
          <a:ln/>
        </p:spPr>
        <p:txBody>
          <a:bodyPr wrap="square" rtlCol="0" anchor="ctr"/>
          <a:lstStyle/>
          <a:p>
            <a:pPr indent="0" marL="0">
              <a:buNone/>
            </a:pPr>
            <a:r>
              <a:rPr lang="en-US" sz="1100" b="1" dirty="0">
                <a:solidFill>
                  <a:srgbClr val="0B2239"/>
                </a:solidFill>
              </a:rPr>
              <a:t>Threshold error tradeoff</a:t>
            </a:r>
            <a:endParaRPr lang="en-US" sz="1100" dirty="0"/>
          </a:p>
        </p:txBody>
      </p:sp>
      <p:pic>
        <p:nvPicPr>
          <p:cNvPr id="11" name="Image 0" descr="/mnt/data/slide_work/crops/threshold_errors.png">    </p:cNvPr>
          <p:cNvPicPr>
            <a:picLocks noChangeAspect="1"/>
          </p:cNvPicPr>
          <p:nvPr/>
        </p:nvPicPr>
        <p:blipFill>
          <a:blip r:embed="rId1"/>
          <a:srcRect l="0" r="0" t="5165" b="5165"/>
          <a:stretch/>
        </p:blipFill>
        <p:spPr>
          <a:xfrm>
            <a:off x="658368" y="1993392"/>
            <a:ext cx="3611880" cy="1783080"/>
          </a:xfrm>
          <a:prstGeom prst="rect">
            <a:avLst/>
          </a:prstGeom>
        </p:spPr>
      </p:pic>
      <p:sp>
        <p:nvSpPr>
          <p:cNvPr id="12" name="Shape 9"/>
          <p:cNvSpPr/>
          <p:nvPr/>
        </p:nvSpPr>
        <p:spPr>
          <a:xfrm>
            <a:off x="4663440" y="1664208"/>
            <a:ext cx="3977640" cy="2423160"/>
          </a:xfrm>
          <a:prstGeom prst="roundRect">
            <a:avLst>
              <a:gd name="adj" fmla="val 1887"/>
            </a:avLst>
          </a:prstGeom>
          <a:solidFill>
            <a:srgbClr val="FFFFFF"/>
          </a:solidFill>
          <a:ln w="12700">
            <a:solidFill>
              <a:srgbClr val="D6DEE7"/>
            </a:solidFill>
            <a:prstDash val="solid"/>
          </a:ln>
        </p:spPr>
      </p:sp>
      <p:sp>
        <p:nvSpPr>
          <p:cNvPr id="13" name="Text 10"/>
          <p:cNvSpPr/>
          <p:nvPr/>
        </p:nvSpPr>
        <p:spPr>
          <a:xfrm>
            <a:off x="4837176" y="1783080"/>
            <a:ext cx="3566160" cy="201168"/>
          </a:xfrm>
          <a:prstGeom prst="rect">
            <a:avLst/>
          </a:prstGeom>
          <a:noFill/>
          <a:ln/>
        </p:spPr>
        <p:txBody>
          <a:bodyPr wrap="square" rtlCol="0" anchor="ctr"/>
          <a:lstStyle/>
          <a:p>
            <a:pPr indent="0" marL="0">
              <a:buNone/>
            </a:pPr>
            <a:r>
              <a:rPr lang="en-US" sz="1100" b="1" dirty="0">
                <a:solidFill>
                  <a:srgbClr val="0B2239"/>
                </a:solidFill>
              </a:rPr>
              <a:t>False positives were concentrated</a:t>
            </a:r>
            <a:endParaRPr lang="en-US" sz="1100" dirty="0"/>
          </a:p>
        </p:txBody>
      </p:sp>
      <p:pic>
        <p:nvPicPr>
          <p:cNvPr id="14" name="Image 1" descr="/mnt/data/slide_work/crops/fp_category.png">    </p:cNvPr>
          <p:cNvPicPr>
            <a:picLocks noChangeAspect="1"/>
          </p:cNvPicPr>
          <p:nvPr/>
        </p:nvPicPr>
        <p:blipFill>
          <a:blip r:embed="rId2"/>
          <a:srcRect l="0" r="0" t="12821" b="12820"/>
          <a:stretch/>
        </p:blipFill>
        <p:spPr>
          <a:xfrm>
            <a:off x="4846320" y="1993392"/>
            <a:ext cx="3566160" cy="1783080"/>
          </a:xfrm>
          <a:prstGeom prst="rect">
            <a:avLst/>
          </a:prstGeom>
        </p:spPr>
      </p:pic>
      <p:sp>
        <p:nvSpPr>
          <p:cNvPr id="15" name="Shape 11"/>
          <p:cNvSpPr/>
          <p:nvPr/>
        </p:nvSpPr>
        <p:spPr>
          <a:xfrm>
            <a:off x="685800" y="4389120"/>
            <a:ext cx="1325880" cy="786384"/>
          </a:xfrm>
          <a:prstGeom prst="roundRect">
            <a:avLst>
              <a:gd name="adj" fmla="val 8140"/>
            </a:avLst>
          </a:prstGeom>
          <a:solidFill>
            <a:srgbClr val="FDEEEB"/>
          </a:solidFill>
          <a:ln w="12700">
            <a:solidFill>
              <a:srgbClr val="DCE6EE"/>
            </a:solidFill>
            <a:prstDash val="solid"/>
          </a:ln>
          <a:effectLst>
            <a:outerShdw sx="100000" sy="100000" kx="0" ky="0" algn="bl" rotWithShape="0" blurRad="12700" dist="50800" dir="2700000">
              <a:srgbClr val="D8E2EA">
                <a:alpha val="13000"/>
              </a:srgbClr>
            </a:outerShdw>
          </a:effectLst>
        </p:spPr>
      </p:sp>
      <p:sp>
        <p:nvSpPr>
          <p:cNvPr id="16" name="Text 12"/>
          <p:cNvSpPr/>
          <p:nvPr/>
        </p:nvSpPr>
        <p:spPr>
          <a:xfrm>
            <a:off x="758952" y="4498848"/>
            <a:ext cx="1179576" cy="298826"/>
          </a:xfrm>
          <a:prstGeom prst="rect">
            <a:avLst/>
          </a:prstGeom>
          <a:noFill/>
          <a:ln/>
        </p:spPr>
        <p:txBody>
          <a:bodyPr wrap="square" rtlCol="0" anchor="ctr">
            <a:normAutofit/>
          </a:bodyPr>
          <a:lstStyle/>
          <a:p>
            <a:pPr algn="ctr" indent="0" marL="0">
              <a:buNone/>
            </a:pPr>
            <a:r>
              <a:rPr lang="en-US" sz="1800" b="1" dirty="0">
                <a:solidFill>
                  <a:srgbClr val="E96D5A"/>
                </a:solidFill>
                <a:latin typeface="Aptos Display" pitchFamily="34" charset="0"/>
                <a:ea typeface="Aptos Display" pitchFamily="34" charset="-122"/>
                <a:cs typeface="Aptos Display" pitchFamily="34" charset="-120"/>
              </a:rPr>
              <a:t>13.02%</a:t>
            </a:r>
            <a:endParaRPr lang="en-US" sz="1800" dirty="0"/>
          </a:p>
        </p:txBody>
      </p:sp>
      <p:sp>
        <p:nvSpPr>
          <p:cNvPr id="17" name="Text 13"/>
          <p:cNvSpPr/>
          <p:nvPr/>
        </p:nvSpPr>
        <p:spPr>
          <a:xfrm>
            <a:off x="758952" y="4821631"/>
            <a:ext cx="1179576" cy="196596"/>
          </a:xfrm>
          <a:prstGeom prst="rect">
            <a:avLst/>
          </a:prstGeom>
          <a:noFill/>
          <a:ln/>
        </p:spPr>
        <p:txBody>
          <a:bodyPr wrap="square" rtlCol="0" anchor="ctr">
            <a:normAutofit/>
          </a:bodyPr>
          <a:lstStyle/>
          <a:p>
            <a:pPr algn="ctr" indent="0" marL="0">
              <a:buNone/>
            </a:pPr>
            <a:r>
              <a:rPr lang="en-US" sz="750" dirty="0">
                <a:solidFill>
                  <a:srgbClr val="0B2239"/>
                </a:solidFill>
                <a:latin typeface="Aptos" pitchFamily="34" charset="0"/>
                <a:ea typeface="Aptos" pitchFamily="34" charset="-122"/>
                <a:cs typeface="Aptos" pitchFamily="34" charset="-120"/>
              </a:rPr>
              <a:t>travel false-positive rate</a:t>
            </a:r>
            <a:endParaRPr lang="en-US" sz="750" dirty="0"/>
          </a:p>
        </p:txBody>
      </p:sp>
      <p:sp>
        <p:nvSpPr>
          <p:cNvPr id="18" name="Shape 14"/>
          <p:cNvSpPr/>
          <p:nvPr/>
        </p:nvSpPr>
        <p:spPr>
          <a:xfrm>
            <a:off x="2148840" y="4389120"/>
            <a:ext cx="1325880" cy="786384"/>
          </a:xfrm>
          <a:prstGeom prst="roundRect">
            <a:avLst>
              <a:gd name="adj" fmla="val 8140"/>
            </a:avLst>
          </a:prstGeom>
          <a:solidFill>
            <a:srgbClr val="FFF1E7"/>
          </a:solidFill>
          <a:ln w="12700">
            <a:solidFill>
              <a:srgbClr val="DCE6EE"/>
            </a:solidFill>
            <a:prstDash val="solid"/>
          </a:ln>
          <a:effectLst>
            <a:outerShdw sx="100000" sy="100000" kx="0" ky="0" algn="bl" rotWithShape="0" blurRad="12700" dist="50800" dir="2700000">
              <a:srgbClr val="D8E2EA">
                <a:alpha val="13000"/>
              </a:srgbClr>
            </a:outerShdw>
          </a:effectLst>
        </p:spPr>
      </p:sp>
      <p:sp>
        <p:nvSpPr>
          <p:cNvPr id="19" name="Text 15"/>
          <p:cNvSpPr/>
          <p:nvPr/>
        </p:nvSpPr>
        <p:spPr>
          <a:xfrm>
            <a:off x="2221992" y="4498848"/>
            <a:ext cx="1179576" cy="298826"/>
          </a:xfrm>
          <a:prstGeom prst="rect">
            <a:avLst/>
          </a:prstGeom>
          <a:noFill/>
          <a:ln/>
        </p:spPr>
        <p:txBody>
          <a:bodyPr wrap="square" rtlCol="0" anchor="ctr">
            <a:normAutofit/>
          </a:bodyPr>
          <a:lstStyle/>
          <a:p>
            <a:pPr algn="ctr" indent="0" marL="0">
              <a:buNone/>
            </a:pPr>
            <a:r>
              <a:rPr lang="en-US" sz="1800" b="1" dirty="0">
                <a:solidFill>
                  <a:srgbClr val="F6A05D"/>
                </a:solidFill>
                <a:latin typeface="Aptos Display" pitchFamily="34" charset="0"/>
                <a:ea typeface="Aptos Display" pitchFamily="34" charset="-122"/>
                <a:cs typeface="Aptos Display" pitchFamily="34" charset="-120"/>
              </a:rPr>
              <a:t>2.83%</a:t>
            </a:r>
            <a:endParaRPr lang="en-US" sz="1800" dirty="0"/>
          </a:p>
        </p:txBody>
      </p:sp>
      <p:sp>
        <p:nvSpPr>
          <p:cNvPr id="20" name="Text 16"/>
          <p:cNvSpPr/>
          <p:nvPr/>
        </p:nvSpPr>
        <p:spPr>
          <a:xfrm>
            <a:off x="2221992" y="4821631"/>
            <a:ext cx="1179576" cy="196596"/>
          </a:xfrm>
          <a:prstGeom prst="rect">
            <a:avLst/>
          </a:prstGeom>
          <a:noFill/>
          <a:ln/>
        </p:spPr>
        <p:txBody>
          <a:bodyPr wrap="square" rtlCol="0" anchor="ctr">
            <a:normAutofit/>
          </a:bodyPr>
          <a:lstStyle/>
          <a:p>
            <a:pPr algn="ctr" indent="0" marL="0">
              <a:buNone/>
            </a:pPr>
            <a:r>
              <a:rPr lang="en-US" sz="750" dirty="0">
                <a:solidFill>
                  <a:srgbClr val="0B2239"/>
                </a:solidFill>
                <a:latin typeface="Aptos" pitchFamily="34" charset="0"/>
                <a:ea typeface="Aptos" pitchFamily="34" charset="-122"/>
                <a:cs typeface="Aptos" pitchFamily="34" charset="-120"/>
              </a:rPr>
              <a:t>highest hourly FP rate</a:t>
            </a:r>
            <a:endParaRPr lang="en-US" sz="750" dirty="0"/>
          </a:p>
        </p:txBody>
      </p:sp>
      <p:sp>
        <p:nvSpPr>
          <p:cNvPr id="21" name="Shape 17"/>
          <p:cNvSpPr/>
          <p:nvPr/>
        </p:nvSpPr>
        <p:spPr>
          <a:xfrm>
            <a:off x="3611880" y="4389120"/>
            <a:ext cx="1325880" cy="786384"/>
          </a:xfrm>
          <a:prstGeom prst="roundRect">
            <a:avLst>
              <a:gd name="adj" fmla="val 8140"/>
            </a:avLst>
          </a:prstGeom>
          <a:solidFill>
            <a:srgbClr val="E7F5F1"/>
          </a:solidFill>
          <a:ln w="12700">
            <a:solidFill>
              <a:srgbClr val="DCE6EE"/>
            </a:solidFill>
            <a:prstDash val="solid"/>
          </a:ln>
          <a:effectLst>
            <a:outerShdw sx="100000" sy="100000" kx="0" ky="0" algn="bl" rotWithShape="0" blurRad="12700" dist="50800" dir="2700000">
              <a:srgbClr val="D8E2EA">
                <a:alpha val="13000"/>
              </a:srgbClr>
            </a:outerShdw>
          </a:effectLst>
        </p:spPr>
      </p:sp>
      <p:sp>
        <p:nvSpPr>
          <p:cNvPr id="22" name="Text 18"/>
          <p:cNvSpPr/>
          <p:nvPr/>
        </p:nvSpPr>
        <p:spPr>
          <a:xfrm>
            <a:off x="3685032" y="4498848"/>
            <a:ext cx="1179576" cy="298826"/>
          </a:xfrm>
          <a:prstGeom prst="rect">
            <a:avLst/>
          </a:prstGeom>
          <a:noFill/>
          <a:ln/>
        </p:spPr>
        <p:txBody>
          <a:bodyPr wrap="square" rtlCol="0" anchor="ctr">
            <a:normAutofit/>
          </a:bodyPr>
          <a:lstStyle/>
          <a:p>
            <a:pPr algn="ctr" indent="0" marL="0">
              <a:buNone/>
            </a:pPr>
            <a:r>
              <a:rPr lang="en-US" sz="1800" b="1" dirty="0">
                <a:solidFill>
                  <a:srgbClr val="2A9D8F"/>
                </a:solidFill>
                <a:latin typeface="Aptos Display" pitchFamily="34" charset="0"/>
                <a:ea typeface="Aptos Display" pitchFamily="34" charset="-122"/>
                <a:cs typeface="Aptos Display" pitchFamily="34" charset="-120"/>
              </a:rPr>
              <a:t>$640.94</a:t>
            </a:r>
            <a:endParaRPr lang="en-US" sz="1800" dirty="0"/>
          </a:p>
        </p:txBody>
      </p:sp>
      <p:sp>
        <p:nvSpPr>
          <p:cNvPr id="23" name="Text 19"/>
          <p:cNvSpPr/>
          <p:nvPr/>
        </p:nvSpPr>
        <p:spPr>
          <a:xfrm>
            <a:off x="3685032" y="4821631"/>
            <a:ext cx="1179576" cy="196596"/>
          </a:xfrm>
          <a:prstGeom prst="rect">
            <a:avLst/>
          </a:prstGeom>
          <a:noFill/>
          <a:ln/>
        </p:spPr>
        <p:txBody>
          <a:bodyPr wrap="square" rtlCol="0" anchor="ctr">
            <a:normAutofit/>
          </a:bodyPr>
          <a:lstStyle/>
          <a:p>
            <a:pPr algn="ctr" indent="0" marL="0">
              <a:buNone/>
            </a:pPr>
            <a:r>
              <a:rPr lang="en-US" sz="750" dirty="0">
                <a:solidFill>
                  <a:srgbClr val="0B2239"/>
                </a:solidFill>
                <a:latin typeface="Aptos" pitchFamily="34" charset="0"/>
                <a:ea typeface="Aptos" pitchFamily="34" charset="-122"/>
                <a:cs typeface="Aptos" pitchFamily="34" charset="-120"/>
              </a:rPr>
              <a:t>mean FP amount</a:t>
            </a:r>
            <a:endParaRPr lang="en-US" sz="750" dirty="0"/>
          </a:p>
        </p:txBody>
      </p:sp>
      <p:sp>
        <p:nvSpPr>
          <p:cNvPr id="24" name="Shape 20"/>
          <p:cNvSpPr/>
          <p:nvPr/>
        </p:nvSpPr>
        <p:spPr>
          <a:xfrm>
            <a:off x="5257800" y="4370832"/>
            <a:ext cx="2971800" cy="1143000"/>
          </a:xfrm>
          <a:prstGeom prst="roundRect">
            <a:avLst>
              <a:gd name="adj" fmla="val 5600"/>
            </a:avLst>
          </a:prstGeom>
          <a:solidFill>
            <a:srgbClr val="E9F2F8"/>
          </a:solidFill>
          <a:ln w="12700">
            <a:solidFill>
              <a:srgbClr val="DDE7F0"/>
            </a:solidFill>
            <a:prstDash val="solid"/>
          </a:ln>
        </p:spPr>
      </p:sp>
      <p:sp>
        <p:nvSpPr>
          <p:cNvPr id="25" name="Text 21"/>
          <p:cNvSpPr/>
          <p:nvPr/>
        </p:nvSpPr>
        <p:spPr>
          <a:xfrm>
            <a:off x="5404104" y="4480560"/>
            <a:ext cx="2679192" cy="228600"/>
          </a:xfrm>
          <a:prstGeom prst="rect">
            <a:avLst/>
          </a:prstGeom>
          <a:noFill/>
          <a:ln/>
        </p:spPr>
        <p:txBody>
          <a:bodyPr wrap="square" rtlCol="0" anchor="ctr"/>
          <a:lstStyle/>
          <a:p>
            <a:pPr indent="0" marL="0">
              <a:buNone/>
            </a:pPr>
            <a:r>
              <a:rPr lang="en-US" sz="1250" b="1" dirty="0">
                <a:solidFill>
                  <a:srgbClr val="0B2239"/>
                </a:solidFill>
                <a:latin typeface="Aptos Display" pitchFamily="34" charset="0"/>
                <a:ea typeface="Aptos Display" pitchFamily="34" charset="-122"/>
                <a:cs typeface="Aptos Display" pitchFamily="34" charset="-120"/>
              </a:rPr>
              <a:t>Operational takeaway</a:t>
            </a:r>
            <a:endParaRPr lang="en-US" sz="1250" dirty="0"/>
          </a:p>
        </p:txBody>
      </p:sp>
      <p:sp>
        <p:nvSpPr>
          <p:cNvPr id="26" name="Text 22"/>
          <p:cNvSpPr/>
          <p:nvPr/>
        </p:nvSpPr>
        <p:spPr>
          <a:xfrm>
            <a:off x="5495544" y="4791456"/>
            <a:ext cx="2532888" cy="640080"/>
          </a:xfrm>
          <a:prstGeom prst="rect">
            <a:avLst/>
          </a:prstGeom>
          <a:noFill/>
          <a:ln/>
        </p:spPr>
        <p:txBody>
          <a:bodyPr wrap="square" rtlCol="0" anchor="ctr">
            <a:normAutofit/>
          </a:bodyPr>
          <a:lstStyle/>
          <a:p>
            <a:r>
              <a:rPr lang="en-US" sz="850" dirty="0">
                <a:solidFill>
                  <a:srgbClr val="0B2239"/>
                </a:solidFill>
                <a:latin typeface="Aptos" pitchFamily="34" charset="0"/>
                <a:ea typeface="Aptos" pitchFamily="34" charset="-122"/>
                <a:cs typeface="Aptos" pitchFamily="34" charset="-120"/>
              </a:rPr>
              <a:t>Thresholds should reflect cost, friction, and review capacity.</a:t>
            </a:r>
            <a:endParaRPr lang="en-US" sz="850" dirty="0"/>
          </a:p>
          <a:p>
            <a:r>
              <a:rPr lang="en-US" sz="850" dirty="0">
                <a:solidFill>
                  <a:srgbClr val="0B2239"/>
                </a:solidFill>
                <a:latin typeface="Aptos" pitchFamily="34" charset="0"/>
                <a:ea typeface="Aptos" pitchFamily="34" charset="-122"/>
                <a:cs typeface="Aptos" pitchFamily="34" charset="-120"/>
              </a:rPr>
              <a:t>High-impact segments may need step-up authentication instead of automatic decline.</a:t>
            </a:r>
            <a:endParaRPr lang="en-US" sz="850" dirty="0"/>
          </a:p>
        </p:txBody>
      </p:sp>
      <p:sp>
        <p:nvSpPr>
          <p:cNvPr id="27" name="Text 23"/>
          <p:cNvSpPr/>
          <p:nvPr/>
        </p:nvSpPr>
        <p:spPr>
          <a:xfrm>
            <a:off x="713232" y="5596128"/>
            <a:ext cx="7635240" cy="320040"/>
          </a:xfrm>
          <a:prstGeom prst="rect">
            <a:avLst/>
          </a:prstGeom>
          <a:noFill/>
          <a:ln/>
        </p:spPr>
        <p:txBody>
          <a:bodyPr wrap="square" rtlCol="0" anchor="ctr">
            <a:normAutofit/>
          </a:bodyPr>
          <a:lstStyle/>
          <a:p>
            <a:pPr algn="ctr" indent="0" marL="0">
              <a:buNone/>
            </a:pPr>
            <a:r>
              <a:rPr lang="en-US" sz="1050" b="1" dirty="0">
                <a:solidFill>
                  <a:srgbClr val="0B2239"/>
                </a:solidFill>
              </a:rPr>
              <a:t>Lower thresholds catch more fraud but can increase false positives; higher thresholds reduce alerts but may miss fraud.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p:nvPr/>
        </p:nvSpPr>
        <p:spPr>
          <a:xfrm>
            <a:off x="502920" y="310896"/>
            <a:ext cx="3108960" cy="228600"/>
          </a:xfrm>
          <a:prstGeom prst="rect">
            <a:avLst/>
          </a:prstGeom>
          <a:noFill/>
          <a:ln/>
        </p:spPr>
        <p:txBody>
          <a:bodyPr wrap="square" rtlCol="0" anchor="ctr"/>
          <a:lstStyle/>
          <a:p>
            <a:pPr indent="0" marL="0">
              <a:buNone/>
            </a:pPr>
            <a:r>
              <a:rPr lang="en-US" sz="850" b="1" dirty="0">
                <a:solidFill>
                  <a:srgbClr val="2A9D8F"/>
                </a:solidFill>
                <a:latin typeface="Aptos" pitchFamily="34" charset="0"/>
                <a:ea typeface="Aptos" pitchFamily="34" charset="-122"/>
                <a:cs typeface="Aptos" pitchFamily="34" charset="-120"/>
              </a:rPr>
              <a:t>BUSINESS RECOMMENDATION</a:t>
            </a:r>
            <a:endParaRPr lang="en-US" sz="850" dirty="0"/>
          </a:p>
        </p:txBody>
      </p:sp>
      <p:sp>
        <p:nvSpPr>
          <p:cNvPr id="3" name="Text 1"/>
          <p:cNvSpPr/>
          <p:nvPr/>
        </p:nvSpPr>
        <p:spPr>
          <a:xfrm>
            <a:off x="502920" y="566928"/>
            <a:ext cx="7863840" cy="502920"/>
          </a:xfrm>
          <a:prstGeom prst="rect">
            <a:avLst/>
          </a:prstGeom>
          <a:noFill/>
          <a:ln/>
        </p:spPr>
        <p:txBody>
          <a:bodyPr wrap="square" rtlCol="0" anchor="ctr">
            <a:normAutofit/>
          </a:bodyPr>
          <a:lstStyle/>
          <a:p>
            <a:pPr indent="0" marL="0">
              <a:buNone/>
            </a:pPr>
            <a:r>
              <a:rPr lang="en-US" sz="2400" b="1" dirty="0">
                <a:solidFill>
                  <a:srgbClr val="0B2239"/>
                </a:solidFill>
                <a:latin typeface="Aptos Display" pitchFamily="34" charset="0"/>
                <a:ea typeface="Aptos Display" pitchFamily="34" charset="-122"/>
                <a:cs typeface="Aptos Display" pitchFamily="34" charset="-120"/>
              </a:rPr>
              <a:t>Cost Scenario Analysis and Power BI Decision Support</a:t>
            </a:r>
            <a:endParaRPr lang="en-US" sz="2400" dirty="0"/>
          </a:p>
        </p:txBody>
      </p:sp>
      <p:sp>
        <p:nvSpPr>
          <p:cNvPr id="4" name="Shape 2"/>
          <p:cNvSpPr/>
          <p:nvPr/>
        </p:nvSpPr>
        <p:spPr>
          <a:xfrm>
            <a:off x="502920" y="1115568"/>
            <a:ext cx="841248" cy="41148"/>
          </a:xfrm>
          <a:prstGeom prst="rect">
            <a:avLst/>
          </a:prstGeom>
          <a:solidFill>
            <a:srgbClr val="2A9D8F"/>
          </a:solidFill>
          <a:ln w="12700">
            <a:solidFill>
              <a:srgbClr val="2A9D8F"/>
            </a:solidFill>
            <a:prstDash val="solid"/>
          </a:ln>
        </p:spPr>
      </p:sp>
      <p:sp>
        <p:nvSpPr>
          <p:cNvPr id="5" name="Shape 3"/>
          <p:cNvSpPr/>
          <p:nvPr/>
        </p:nvSpPr>
        <p:spPr>
          <a:xfrm>
            <a:off x="384048" y="6428232"/>
            <a:ext cx="8375904" cy="0"/>
          </a:xfrm>
          <a:prstGeom prst="line">
            <a:avLst/>
          </a:prstGeom>
          <a:noFill/>
          <a:ln w="12700">
            <a:solidFill>
              <a:srgbClr val="D6DEE7"/>
            </a:solidFill>
            <a:prstDash val="solid"/>
          </a:ln>
        </p:spPr>
      </p:sp>
      <p:sp>
        <p:nvSpPr>
          <p:cNvPr id="6" name="Text 4"/>
          <p:cNvSpPr/>
          <p:nvPr/>
        </p:nvSpPr>
        <p:spPr>
          <a:xfrm>
            <a:off x="411480" y="6528816"/>
            <a:ext cx="3108960" cy="118872"/>
          </a:xfrm>
          <a:prstGeom prst="rect">
            <a:avLst/>
          </a:prstGeom>
          <a:noFill/>
          <a:ln/>
        </p:spPr>
        <p:txBody>
          <a:bodyPr wrap="square" rtlCol="0" anchor="ctr"/>
          <a:lstStyle/>
          <a:p>
            <a:pPr indent="0" marL="0">
              <a:buNone/>
            </a:pPr>
            <a:r>
              <a:rPr lang="en-US" sz="550" dirty="0">
                <a:solidFill>
                  <a:srgbClr val="617384"/>
                </a:solidFill>
                <a:latin typeface="Aptos" pitchFamily="34" charset="0"/>
                <a:ea typeface="Aptos" pitchFamily="34" charset="-122"/>
                <a:cs typeface="Aptos" pitchFamily="34" charset="-120"/>
              </a:rPr>
              <a:t>FraudShield BI | MIS581 Capstone</a:t>
            </a:r>
            <a:endParaRPr lang="en-US" sz="550" dirty="0"/>
          </a:p>
        </p:txBody>
      </p:sp>
      <p:sp>
        <p:nvSpPr>
          <p:cNvPr id="7" name="Text 5"/>
          <p:cNvSpPr/>
          <p:nvPr/>
        </p:nvSpPr>
        <p:spPr>
          <a:xfrm>
            <a:off x="8641080" y="6510528"/>
            <a:ext cx="228600" cy="164592"/>
          </a:xfrm>
          <a:prstGeom prst="rect">
            <a:avLst/>
          </a:prstGeom>
          <a:noFill/>
          <a:ln/>
        </p:spPr>
        <p:txBody>
          <a:bodyPr wrap="square" rtlCol="0" anchor="ctr"/>
          <a:lstStyle/>
          <a:p>
            <a:pPr algn="r" indent="0" marL="0">
              <a:buNone/>
            </a:pPr>
            <a:r>
              <a:rPr lang="en-US" sz="700" dirty="0">
                <a:solidFill>
                  <a:srgbClr val="617384"/>
                </a:solidFill>
                <a:latin typeface="Aptos" pitchFamily="34" charset="0"/>
                <a:ea typeface="Aptos" pitchFamily="34" charset="-122"/>
                <a:cs typeface="Aptos" pitchFamily="34" charset="-120"/>
              </a:rPr>
              <a:t>8</a:t>
            </a:r>
            <a:endParaRPr lang="en-US" sz="700" dirty="0"/>
          </a:p>
        </p:txBody>
      </p:sp>
      <p:sp>
        <p:nvSpPr>
          <p:cNvPr id="8" name="Text 6"/>
          <p:cNvSpPr/>
          <p:nvPr/>
        </p:nvSpPr>
        <p:spPr>
          <a:xfrm>
            <a:off x="502920" y="1261872"/>
            <a:ext cx="8138160" cy="292608"/>
          </a:xfrm>
          <a:prstGeom prst="rect">
            <a:avLst/>
          </a:prstGeom>
          <a:noFill/>
          <a:ln/>
        </p:spPr>
        <p:txBody>
          <a:bodyPr wrap="square" rtlCol="0" anchor="ctr">
            <a:normAutofit/>
          </a:bodyPr>
          <a:lstStyle/>
          <a:p>
            <a:pPr indent="0" marL="0">
              <a:buNone/>
            </a:pPr>
            <a:r>
              <a:rPr lang="en-US" sz="1080" dirty="0">
                <a:solidFill>
                  <a:srgbClr val="617384"/>
                </a:solidFill>
                <a:latin typeface="Aptos" pitchFamily="34" charset="0"/>
                <a:ea typeface="Aptos" pitchFamily="34" charset="-122"/>
                <a:cs typeface="Aptos" pitchFamily="34" charset="-120"/>
              </a:rPr>
              <a:t>Gradient boosting at a lower threshold minimized estimated cost while keeping the tradeoffs visible to business stakeholders.</a:t>
            </a:r>
            <a:endParaRPr lang="en-US" sz="1080" dirty="0"/>
          </a:p>
        </p:txBody>
      </p:sp>
      <p:sp>
        <p:nvSpPr>
          <p:cNvPr id="9" name="Shape 7"/>
          <p:cNvSpPr/>
          <p:nvPr/>
        </p:nvSpPr>
        <p:spPr>
          <a:xfrm>
            <a:off x="502920" y="1691640"/>
            <a:ext cx="3886200" cy="2788920"/>
          </a:xfrm>
          <a:prstGeom prst="roundRect">
            <a:avLst>
              <a:gd name="adj" fmla="val 1639"/>
            </a:avLst>
          </a:prstGeom>
          <a:solidFill>
            <a:srgbClr val="FFFFFF"/>
          </a:solidFill>
          <a:ln w="12700">
            <a:solidFill>
              <a:srgbClr val="D6DEE7"/>
            </a:solidFill>
            <a:prstDash val="solid"/>
          </a:ln>
        </p:spPr>
      </p:sp>
      <p:sp>
        <p:nvSpPr>
          <p:cNvPr id="10" name="Text 8"/>
          <p:cNvSpPr/>
          <p:nvPr/>
        </p:nvSpPr>
        <p:spPr>
          <a:xfrm>
            <a:off x="713232" y="1828800"/>
            <a:ext cx="3520440" cy="201168"/>
          </a:xfrm>
          <a:prstGeom prst="rect">
            <a:avLst/>
          </a:prstGeom>
          <a:noFill/>
          <a:ln/>
        </p:spPr>
        <p:txBody>
          <a:bodyPr wrap="square" rtlCol="0" anchor="ctr"/>
          <a:lstStyle/>
          <a:p>
            <a:pPr indent="0" marL="0">
              <a:buNone/>
            </a:pPr>
            <a:r>
              <a:rPr lang="en-US" sz="1150" b="1" dirty="0">
                <a:solidFill>
                  <a:srgbClr val="0B2239"/>
                </a:solidFill>
              </a:rPr>
              <a:t>Moderate-cost recommendation</a:t>
            </a:r>
            <a:endParaRPr lang="en-US" sz="1150" dirty="0"/>
          </a:p>
        </p:txBody>
      </p:sp>
      <p:pic>
        <p:nvPicPr>
          <p:cNvPr id="11" name="Image 0" descr="/mnt/data/slide_work/crops/recommendation_cards.png">    </p:cNvPr>
          <p:cNvPicPr>
            <a:picLocks noChangeAspect="1"/>
          </p:cNvPicPr>
          <p:nvPr/>
        </p:nvPicPr>
        <p:blipFill>
          <a:blip r:embed="rId1"/>
          <a:srcRect l="0" r="0" t="13664" b="13664"/>
          <a:stretch/>
        </p:blipFill>
        <p:spPr>
          <a:xfrm>
            <a:off x="804672" y="2148840"/>
            <a:ext cx="3200400" cy="1874520"/>
          </a:xfrm>
          <a:prstGeom prst="rect">
            <a:avLst/>
          </a:prstGeom>
        </p:spPr>
      </p:pic>
      <p:sp>
        <p:nvSpPr>
          <p:cNvPr id="12" name="Text 9"/>
          <p:cNvSpPr/>
          <p:nvPr/>
        </p:nvSpPr>
        <p:spPr>
          <a:xfrm>
            <a:off x="749808" y="4078224"/>
            <a:ext cx="3200400" cy="219456"/>
          </a:xfrm>
          <a:prstGeom prst="rect">
            <a:avLst/>
          </a:prstGeom>
          <a:noFill/>
          <a:ln/>
        </p:spPr>
        <p:txBody>
          <a:bodyPr wrap="square" rtlCol="0" anchor="ctr">
            <a:normAutofit/>
          </a:bodyPr>
          <a:lstStyle/>
          <a:p>
            <a:pPr algn="ctr" indent="0" marL="0">
              <a:buNone/>
            </a:pPr>
            <a:r>
              <a:rPr lang="en-US" sz="930" b="1" dirty="0">
                <a:solidFill>
                  <a:srgbClr val="0B2239"/>
                </a:solidFill>
              </a:rPr>
              <a:t>Recommended: Gradient Boosting at 0.10 threshold</a:t>
            </a:r>
            <a:endParaRPr lang="en-US" sz="930" dirty="0"/>
          </a:p>
        </p:txBody>
      </p:sp>
      <p:sp>
        <p:nvSpPr>
          <p:cNvPr id="13" name="Shape 10"/>
          <p:cNvSpPr/>
          <p:nvPr/>
        </p:nvSpPr>
        <p:spPr>
          <a:xfrm>
            <a:off x="4617720" y="1691640"/>
            <a:ext cx="4023360" cy="2788920"/>
          </a:xfrm>
          <a:prstGeom prst="roundRect">
            <a:avLst>
              <a:gd name="adj" fmla="val 1639"/>
            </a:avLst>
          </a:prstGeom>
          <a:solidFill>
            <a:srgbClr val="FFFFFF"/>
          </a:solidFill>
          <a:ln w="12700">
            <a:solidFill>
              <a:srgbClr val="D6DEE7"/>
            </a:solidFill>
            <a:prstDash val="solid"/>
          </a:ln>
        </p:spPr>
      </p:sp>
      <p:sp>
        <p:nvSpPr>
          <p:cNvPr id="14" name="Text 11"/>
          <p:cNvSpPr/>
          <p:nvPr/>
        </p:nvSpPr>
        <p:spPr>
          <a:xfrm>
            <a:off x="4828032" y="1828800"/>
            <a:ext cx="3520440" cy="201168"/>
          </a:xfrm>
          <a:prstGeom prst="rect">
            <a:avLst/>
          </a:prstGeom>
          <a:noFill/>
          <a:ln/>
        </p:spPr>
        <p:txBody>
          <a:bodyPr wrap="square" rtlCol="0" anchor="ctr"/>
          <a:lstStyle/>
          <a:p>
            <a:pPr indent="0" marL="0">
              <a:buNone/>
            </a:pPr>
            <a:r>
              <a:rPr lang="en-US" sz="1150" b="1" dirty="0">
                <a:solidFill>
                  <a:srgbClr val="0B2239"/>
                </a:solidFill>
              </a:rPr>
              <a:t>Power BI decision support</a:t>
            </a:r>
            <a:endParaRPr lang="en-US" sz="1150" dirty="0"/>
          </a:p>
        </p:txBody>
      </p:sp>
      <p:pic>
        <p:nvPicPr>
          <p:cNvPr id="15" name="Image 1" descr="/mnt/data/slide_work/crops/dashboard_screenshot.png">    </p:cNvPr>
          <p:cNvPicPr>
            <a:picLocks noChangeAspect="1"/>
          </p:cNvPicPr>
          <p:nvPr/>
        </p:nvPicPr>
        <p:blipFill>
          <a:blip r:embed="rId2"/>
          <a:srcRect l="3879" r="3879" t="0" b="0"/>
          <a:stretch/>
        </p:blipFill>
        <p:spPr>
          <a:xfrm>
            <a:off x="4846320" y="2112264"/>
            <a:ext cx="3383280" cy="1965960"/>
          </a:xfrm>
          <a:prstGeom prst="rect">
            <a:avLst/>
          </a:prstGeom>
        </p:spPr>
      </p:pic>
      <p:sp>
        <p:nvSpPr>
          <p:cNvPr id="16" name="Shape 12"/>
          <p:cNvSpPr/>
          <p:nvPr/>
        </p:nvSpPr>
        <p:spPr>
          <a:xfrm>
            <a:off x="685800" y="4736592"/>
            <a:ext cx="7726680" cy="987552"/>
          </a:xfrm>
          <a:prstGeom prst="roundRect">
            <a:avLst>
              <a:gd name="adj" fmla="val 6481"/>
            </a:avLst>
          </a:prstGeom>
          <a:solidFill>
            <a:srgbClr val="E7F5F1"/>
          </a:solidFill>
          <a:ln w="12700">
            <a:solidFill>
              <a:srgbClr val="DDE7F0"/>
            </a:solidFill>
            <a:prstDash val="solid"/>
          </a:ln>
        </p:spPr>
      </p:sp>
      <p:sp>
        <p:nvSpPr>
          <p:cNvPr id="17" name="Text 13"/>
          <p:cNvSpPr/>
          <p:nvPr/>
        </p:nvSpPr>
        <p:spPr>
          <a:xfrm>
            <a:off x="932688" y="4873752"/>
            <a:ext cx="7223760" cy="228600"/>
          </a:xfrm>
          <a:prstGeom prst="rect">
            <a:avLst/>
          </a:prstGeom>
          <a:noFill/>
          <a:ln/>
        </p:spPr>
        <p:txBody>
          <a:bodyPr wrap="square" rtlCol="0" anchor="ctr"/>
          <a:lstStyle/>
          <a:p>
            <a:pPr indent="0" marL="0">
              <a:buNone/>
            </a:pPr>
            <a:r>
              <a:rPr lang="en-US" sz="1280" b="1" dirty="0">
                <a:solidFill>
                  <a:srgbClr val="0B2239"/>
                </a:solidFill>
                <a:latin typeface="Aptos Display" pitchFamily="34" charset="0"/>
                <a:ea typeface="Aptos Display" pitchFamily="34" charset="-122"/>
                <a:cs typeface="Aptos Display" pitchFamily="34" charset="-120"/>
              </a:rPr>
              <a:t>What the dashboard adds</a:t>
            </a:r>
            <a:endParaRPr lang="en-US" sz="1280" dirty="0"/>
          </a:p>
        </p:txBody>
      </p:sp>
      <p:sp>
        <p:nvSpPr>
          <p:cNvPr id="18" name="Text 14"/>
          <p:cNvSpPr/>
          <p:nvPr/>
        </p:nvSpPr>
        <p:spPr>
          <a:xfrm>
            <a:off x="932688" y="5230368"/>
            <a:ext cx="7223760" cy="256032"/>
          </a:xfrm>
          <a:prstGeom prst="rect">
            <a:avLst/>
          </a:prstGeom>
          <a:noFill/>
          <a:ln/>
        </p:spPr>
        <p:txBody>
          <a:bodyPr wrap="square" rtlCol="0" anchor="ctr">
            <a:normAutofit/>
          </a:bodyPr>
          <a:lstStyle/>
          <a:p>
            <a:pPr indent="0" marL="0">
              <a:buNone/>
            </a:pPr>
            <a:r>
              <a:rPr lang="en-US" sz="910" dirty="0">
                <a:solidFill>
                  <a:srgbClr val="0B2239"/>
                </a:solidFill>
                <a:latin typeface="Aptos" pitchFamily="34" charset="0"/>
                <a:ea typeface="Aptos" pitchFamily="34" charset="-122"/>
                <a:cs typeface="Aptos" pitchFamily="34" charset="-120"/>
              </a:rPr>
              <a:t>Executive view of model KPIs  •  threshold lab for review volume and cost  •  false-positive deep dive by category and hour</a:t>
            </a:r>
            <a:endParaRPr lang="en-US" sz="910" dirty="0"/>
          </a:p>
        </p:txBody>
      </p:sp>
      <p:sp>
        <p:nvSpPr>
          <p:cNvPr id="19" name="Text 15"/>
          <p:cNvSpPr/>
          <p:nvPr/>
        </p:nvSpPr>
        <p:spPr>
          <a:xfrm>
            <a:off x="1234440" y="5897880"/>
            <a:ext cx="6629400" cy="228600"/>
          </a:xfrm>
          <a:prstGeom prst="rect">
            <a:avLst/>
          </a:prstGeom>
          <a:noFill/>
          <a:ln/>
        </p:spPr>
        <p:txBody>
          <a:bodyPr wrap="square" rtlCol="0" anchor="ctr"/>
          <a:lstStyle/>
          <a:p>
            <a:pPr algn="ctr" indent="0" marL="0">
              <a:buNone/>
            </a:pPr>
            <a:r>
              <a:rPr lang="en-US" sz="1050" b="1" dirty="0">
                <a:solidFill>
                  <a:srgbClr val="0B2239"/>
                </a:solidFill>
              </a:rPr>
              <a:t>Dashboard values were validated against Python exports before final reporting.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p:nvPr/>
        </p:nvSpPr>
        <p:spPr>
          <a:xfrm>
            <a:off x="502920" y="310896"/>
            <a:ext cx="3108960" cy="228600"/>
          </a:xfrm>
          <a:prstGeom prst="rect">
            <a:avLst/>
          </a:prstGeom>
          <a:noFill/>
          <a:ln/>
        </p:spPr>
        <p:txBody>
          <a:bodyPr wrap="square" rtlCol="0" anchor="ctr"/>
          <a:lstStyle/>
          <a:p>
            <a:pPr indent="0" marL="0">
              <a:buNone/>
            </a:pPr>
            <a:r>
              <a:rPr lang="en-US" sz="850" b="1" dirty="0">
                <a:solidFill>
                  <a:srgbClr val="2A9D8F"/>
                </a:solidFill>
                <a:latin typeface="Aptos" pitchFamily="34" charset="0"/>
                <a:ea typeface="Aptos" pitchFamily="34" charset="-122"/>
                <a:cs typeface="Aptos" pitchFamily="34" charset="-120"/>
              </a:rPr>
              <a:t>PROJECT CLOSURE</a:t>
            </a:r>
            <a:endParaRPr lang="en-US" sz="850" dirty="0"/>
          </a:p>
        </p:txBody>
      </p:sp>
      <p:sp>
        <p:nvSpPr>
          <p:cNvPr id="3" name="Text 1"/>
          <p:cNvSpPr/>
          <p:nvPr/>
        </p:nvSpPr>
        <p:spPr>
          <a:xfrm>
            <a:off x="502920" y="566928"/>
            <a:ext cx="7863840" cy="502920"/>
          </a:xfrm>
          <a:prstGeom prst="rect">
            <a:avLst/>
          </a:prstGeom>
          <a:noFill/>
          <a:ln/>
        </p:spPr>
        <p:txBody>
          <a:bodyPr wrap="square" rtlCol="0" anchor="ctr">
            <a:normAutofit/>
          </a:bodyPr>
          <a:lstStyle/>
          <a:p>
            <a:pPr indent="0" marL="0">
              <a:buNone/>
            </a:pPr>
            <a:r>
              <a:rPr lang="en-US" sz="2400" b="1" dirty="0">
                <a:solidFill>
                  <a:srgbClr val="0B2239"/>
                </a:solidFill>
                <a:latin typeface="Aptos Display" pitchFamily="34" charset="0"/>
                <a:ea typeface="Aptos Display" pitchFamily="34" charset="-122"/>
                <a:cs typeface="Aptos Display" pitchFamily="34" charset="-120"/>
              </a:rPr>
              <a:t>Conclusion, Validation Notes, and Final Package</a:t>
            </a:r>
            <a:endParaRPr lang="en-US" sz="2400" dirty="0"/>
          </a:p>
        </p:txBody>
      </p:sp>
      <p:sp>
        <p:nvSpPr>
          <p:cNvPr id="4" name="Shape 2"/>
          <p:cNvSpPr/>
          <p:nvPr/>
        </p:nvSpPr>
        <p:spPr>
          <a:xfrm>
            <a:off x="502920" y="1115568"/>
            <a:ext cx="841248" cy="41148"/>
          </a:xfrm>
          <a:prstGeom prst="rect">
            <a:avLst/>
          </a:prstGeom>
          <a:solidFill>
            <a:srgbClr val="2A9D8F"/>
          </a:solidFill>
          <a:ln w="12700">
            <a:solidFill>
              <a:srgbClr val="2A9D8F"/>
            </a:solidFill>
            <a:prstDash val="solid"/>
          </a:ln>
        </p:spPr>
      </p:sp>
      <p:sp>
        <p:nvSpPr>
          <p:cNvPr id="5" name="Shape 3"/>
          <p:cNvSpPr/>
          <p:nvPr/>
        </p:nvSpPr>
        <p:spPr>
          <a:xfrm>
            <a:off x="384048" y="6428232"/>
            <a:ext cx="8375904" cy="0"/>
          </a:xfrm>
          <a:prstGeom prst="line">
            <a:avLst/>
          </a:prstGeom>
          <a:noFill/>
          <a:ln w="12700">
            <a:solidFill>
              <a:srgbClr val="D6DEE7"/>
            </a:solidFill>
            <a:prstDash val="solid"/>
          </a:ln>
        </p:spPr>
      </p:sp>
      <p:sp>
        <p:nvSpPr>
          <p:cNvPr id="6" name="Text 4"/>
          <p:cNvSpPr/>
          <p:nvPr/>
        </p:nvSpPr>
        <p:spPr>
          <a:xfrm>
            <a:off x="411480" y="6528816"/>
            <a:ext cx="3108960" cy="118872"/>
          </a:xfrm>
          <a:prstGeom prst="rect">
            <a:avLst/>
          </a:prstGeom>
          <a:noFill/>
          <a:ln/>
        </p:spPr>
        <p:txBody>
          <a:bodyPr wrap="square" rtlCol="0" anchor="ctr"/>
          <a:lstStyle/>
          <a:p>
            <a:pPr indent="0" marL="0">
              <a:buNone/>
            </a:pPr>
            <a:r>
              <a:rPr lang="en-US" sz="550" dirty="0">
                <a:solidFill>
                  <a:srgbClr val="617384"/>
                </a:solidFill>
                <a:latin typeface="Aptos" pitchFamily="34" charset="0"/>
                <a:ea typeface="Aptos" pitchFamily="34" charset="-122"/>
                <a:cs typeface="Aptos" pitchFamily="34" charset="-120"/>
              </a:rPr>
              <a:t>FraudShield BI | MIS581 Capstone</a:t>
            </a:r>
            <a:endParaRPr lang="en-US" sz="550" dirty="0"/>
          </a:p>
        </p:txBody>
      </p:sp>
      <p:sp>
        <p:nvSpPr>
          <p:cNvPr id="7" name="Text 5"/>
          <p:cNvSpPr/>
          <p:nvPr/>
        </p:nvSpPr>
        <p:spPr>
          <a:xfrm>
            <a:off x="8641080" y="6510528"/>
            <a:ext cx="228600" cy="164592"/>
          </a:xfrm>
          <a:prstGeom prst="rect">
            <a:avLst/>
          </a:prstGeom>
          <a:noFill/>
          <a:ln/>
        </p:spPr>
        <p:txBody>
          <a:bodyPr wrap="square" rtlCol="0" anchor="ctr"/>
          <a:lstStyle/>
          <a:p>
            <a:pPr algn="r" indent="0" marL="0">
              <a:buNone/>
            </a:pPr>
            <a:r>
              <a:rPr lang="en-US" sz="700" dirty="0">
                <a:solidFill>
                  <a:srgbClr val="617384"/>
                </a:solidFill>
                <a:latin typeface="Aptos" pitchFamily="34" charset="0"/>
                <a:ea typeface="Aptos" pitchFamily="34" charset="-122"/>
                <a:cs typeface="Aptos" pitchFamily="34" charset="-120"/>
              </a:rPr>
              <a:t>9</a:t>
            </a:r>
            <a:endParaRPr lang="en-US" sz="700" dirty="0"/>
          </a:p>
        </p:txBody>
      </p:sp>
      <p:sp>
        <p:nvSpPr>
          <p:cNvPr id="8" name="Shape 6"/>
          <p:cNvSpPr/>
          <p:nvPr/>
        </p:nvSpPr>
        <p:spPr>
          <a:xfrm>
            <a:off x="566928" y="1481328"/>
            <a:ext cx="2514600" cy="2743200"/>
          </a:xfrm>
          <a:prstGeom prst="roundRect">
            <a:avLst>
              <a:gd name="adj" fmla="val 2545"/>
            </a:avLst>
          </a:prstGeom>
          <a:solidFill>
            <a:srgbClr val="FFFFFF"/>
          </a:solidFill>
          <a:ln w="12700">
            <a:solidFill>
              <a:srgbClr val="DDE7F0"/>
            </a:solidFill>
            <a:prstDash val="solid"/>
          </a:ln>
        </p:spPr>
      </p:sp>
      <p:sp>
        <p:nvSpPr>
          <p:cNvPr id="9" name="Text 7"/>
          <p:cNvSpPr/>
          <p:nvPr/>
        </p:nvSpPr>
        <p:spPr>
          <a:xfrm>
            <a:off x="713232" y="1591056"/>
            <a:ext cx="2221992" cy="228600"/>
          </a:xfrm>
          <a:prstGeom prst="rect">
            <a:avLst/>
          </a:prstGeom>
          <a:noFill/>
          <a:ln/>
        </p:spPr>
        <p:txBody>
          <a:bodyPr wrap="square" rtlCol="0" anchor="ctr"/>
          <a:lstStyle/>
          <a:p>
            <a:pPr indent="0" marL="0">
              <a:buNone/>
            </a:pPr>
            <a:r>
              <a:rPr lang="en-US" sz="1250" b="1" dirty="0">
                <a:solidFill>
                  <a:srgbClr val="0B2239"/>
                </a:solidFill>
                <a:latin typeface="Aptos Display" pitchFamily="34" charset="0"/>
                <a:ea typeface="Aptos Display" pitchFamily="34" charset="-122"/>
                <a:cs typeface="Aptos Display" pitchFamily="34" charset="-120"/>
              </a:rPr>
              <a:t>What the project showed</a:t>
            </a:r>
            <a:endParaRPr lang="en-US" sz="1250" dirty="0"/>
          </a:p>
        </p:txBody>
      </p:sp>
      <p:sp>
        <p:nvSpPr>
          <p:cNvPr id="10" name="Text 8"/>
          <p:cNvSpPr/>
          <p:nvPr/>
        </p:nvSpPr>
        <p:spPr>
          <a:xfrm>
            <a:off x="804672" y="1901952"/>
            <a:ext cx="2075688" cy="2240280"/>
          </a:xfrm>
          <a:prstGeom prst="rect">
            <a:avLst/>
          </a:prstGeom>
          <a:noFill/>
          <a:ln/>
        </p:spPr>
        <p:txBody>
          <a:bodyPr wrap="square" rtlCol="0" anchor="ctr">
            <a:normAutofit/>
          </a:bodyPr>
          <a:lstStyle/>
          <a:p>
            <a:r>
              <a:rPr lang="en-US" sz="850" dirty="0">
                <a:solidFill>
                  <a:srgbClr val="0B2239"/>
                </a:solidFill>
                <a:latin typeface="Aptos" pitchFamily="34" charset="0"/>
                <a:ea typeface="Aptos" pitchFamily="34" charset="-122"/>
                <a:cs typeface="Aptos" pitchFamily="34" charset="-120"/>
              </a:rPr>
              <a:t>Accuracy alone is misleading with fraud below 1%.</a:t>
            </a:r>
            <a:endParaRPr lang="en-US" sz="850" dirty="0"/>
          </a:p>
          <a:p>
            <a:r>
              <a:rPr lang="en-US" sz="850" dirty="0">
                <a:solidFill>
                  <a:srgbClr val="0B2239"/>
                </a:solidFill>
                <a:latin typeface="Aptos" pitchFamily="34" charset="0"/>
                <a:ea typeface="Aptos" pitchFamily="34" charset="-122"/>
                <a:cs typeface="Aptos" pitchFamily="34" charset="-120"/>
              </a:rPr>
              <a:t>Gradient boosting outperformed logistic regression.</a:t>
            </a:r>
            <a:endParaRPr lang="en-US" sz="850" dirty="0"/>
          </a:p>
          <a:p>
            <a:r>
              <a:rPr lang="en-US" sz="850" dirty="0">
                <a:solidFill>
                  <a:srgbClr val="0B2239"/>
                </a:solidFill>
                <a:latin typeface="Aptos" pitchFamily="34" charset="0"/>
                <a:ea typeface="Aptos" pitchFamily="34" charset="-122"/>
                <a:cs typeface="Aptos" pitchFamily="34" charset="-120"/>
              </a:rPr>
              <a:t>Threshold choice changed fraud capture, workload, and cost.</a:t>
            </a:r>
            <a:endParaRPr lang="en-US" sz="850" dirty="0"/>
          </a:p>
          <a:p>
            <a:r>
              <a:rPr lang="en-US" sz="850" dirty="0">
                <a:solidFill>
                  <a:srgbClr val="0B2239"/>
                </a:solidFill>
                <a:latin typeface="Aptos" pitchFamily="34" charset="0"/>
                <a:ea typeface="Aptos" pitchFamily="34" charset="-122"/>
                <a:cs typeface="Aptos" pitchFamily="34" charset="-120"/>
              </a:rPr>
              <a:t>Power BI made tradeoffs clear for business stakeholders.</a:t>
            </a:r>
            <a:endParaRPr lang="en-US" sz="850" dirty="0"/>
          </a:p>
        </p:txBody>
      </p:sp>
      <p:sp>
        <p:nvSpPr>
          <p:cNvPr id="11" name="Shape 9"/>
          <p:cNvSpPr/>
          <p:nvPr/>
        </p:nvSpPr>
        <p:spPr>
          <a:xfrm>
            <a:off x="3310128" y="1481328"/>
            <a:ext cx="2514600" cy="2743200"/>
          </a:xfrm>
          <a:prstGeom prst="roundRect">
            <a:avLst>
              <a:gd name="adj" fmla="val 2545"/>
            </a:avLst>
          </a:prstGeom>
          <a:solidFill>
            <a:srgbClr val="E9F2F8"/>
          </a:solidFill>
          <a:ln w="12700">
            <a:solidFill>
              <a:srgbClr val="DDE7F0"/>
            </a:solidFill>
            <a:prstDash val="solid"/>
          </a:ln>
        </p:spPr>
      </p:sp>
      <p:sp>
        <p:nvSpPr>
          <p:cNvPr id="12" name="Text 10"/>
          <p:cNvSpPr/>
          <p:nvPr/>
        </p:nvSpPr>
        <p:spPr>
          <a:xfrm>
            <a:off x="3456432" y="1591056"/>
            <a:ext cx="2221992" cy="228600"/>
          </a:xfrm>
          <a:prstGeom prst="rect">
            <a:avLst/>
          </a:prstGeom>
          <a:noFill/>
          <a:ln/>
        </p:spPr>
        <p:txBody>
          <a:bodyPr wrap="square" rtlCol="0" anchor="ctr"/>
          <a:lstStyle/>
          <a:p>
            <a:pPr indent="0" marL="0">
              <a:buNone/>
            </a:pPr>
            <a:r>
              <a:rPr lang="en-US" sz="1250" b="1" dirty="0">
                <a:solidFill>
                  <a:srgbClr val="0B2239"/>
                </a:solidFill>
                <a:latin typeface="Aptos Display" pitchFamily="34" charset="0"/>
                <a:ea typeface="Aptos Display" pitchFamily="34" charset="-122"/>
                <a:cs typeface="Aptos Display" pitchFamily="34" charset="-120"/>
              </a:rPr>
              <a:t>Future validation notes</a:t>
            </a:r>
            <a:endParaRPr lang="en-US" sz="1250" dirty="0"/>
          </a:p>
        </p:txBody>
      </p:sp>
      <p:sp>
        <p:nvSpPr>
          <p:cNvPr id="13" name="Text 11"/>
          <p:cNvSpPr/>
          <p:nvPr/>
        </p:nvSpPr>
        <p:spPr>
          <a:xfrm>
            <a:off x="3547872" y="1901952"/>
            <a:ext cx="2075688" cy="2240280"/>
          </a:xfrm>
          <a:prstGeom prst="rect">
            <a:avLst/>
          </a:prstGeom>
          <a:noFill/>
          <a:ln/>
        </p:spPr>
        <p:txBody>
          <a:bodyPr wrap="square" rtlCol="0" anchor="ctr">
            <a:normAutofit/>
          </a:bodyPr>
          <a:lstStyle/>
          <a:p>
            <a:r>
              <a:rPr lang="en-US" sz="850" dirty="0">
                <a:solidFill>
                  <a:srgbClr val="0B2239"/>
                </a:solidFill>
                <a:latin typeface="Aptos" pitchFamily="34" charset="0"/>
                <a:ea typeface="Aptos" pitchFamily="34" charset="-122"/>
                <a:cs typeface="Aptos" pitchFamily="34" charset="-120"/>
              </a:rPr>
              <a:t>Use validation and untouched holdout samples.</a:t>
            </a:r>
            <a:endParaRPr lang="en-US" sz="850" dirty="0"/>
          </a:p>
          <a:p>
            <a:r>
              <a:rPr lang="en-US" sz="850" dirty="0">
                <a:solidFill>
                  <a:srgbClr val="0B2239"/>
                </a:solidFill>
                <a:latin typeface="Aptos" pitchFamily="34" charset="0"/>
                <a:ea typeface="Aptos" pitchFamily="34" charset="-122"/>
                <a:cs typeface="Aptos" pitchFamily="34" charset="-120"/>
              </a:rPr>
              <a:t>Expand FP cost beyond fixed per-alert amounts.</a:t>
            </a:r>
            <a:endParaRPr lang="en-US" sz="850" dirty="0"/>
          </a:p>
          <a:p>
            <a:r>
              <a:rPr lang="en-US" sz="850" dirty="0">
                <a:solidFill>
                  <a:srgbClr val="0B2239"/>
                </a:solidFill>
                <a:latin typeface="Aptos" pitchFamily="34" charset="0"/>
                <a:ea typeface="Aptos" pitchFamily="34" charset="-122"/>
                <a:cs typeface="Aptos" pitchFamily="34" charset="-120"/>
              </a:rPr>
              <a:t>Repeat segmentation using the selected model.</a:t>
            </a:r>
            <a:endParaRPr lang="en-US" sz="850" dirty="0"/>
          </a:p>
          <a:p>
            <a:r>
              <a:rPr lang="en-US" sz="850" dirty="0">
                <a:solidFill>
                  <a:srgbClr val="0B2239"/>
                </a:solidFill>
                <a:latin typeface="Aptos" pitchFamily="34" charset="0"/>
                <a:ea typeface="Aptos" pitchFamily="34" charset="-122"/>
                <a:cs typeface="Aptos" pitchFamily="34" charset="-120"/>
              </a:rPr>
              <a:t>Evaluate fairness with and without sensitive attributes.</a:t>
            </a:r>
            <a:endParaRPr lang="en-US" sz="850" dirty="0"/>
          </a:p>
        </p:txBody>
      </p:sp>
      <p:sp>
        <p:nvSpPr>
          <p:cNvPr id="14" name="Shape 12"/>
          <p:cNvSpPr/>
          <p:nvPr/>
        </p:nvSpPr>
        <p:spPr>
          <a:xfrm>
            <a:off x="6053328" y="1481328"/>
            <a:ext cx="2514600" cy="2743200"/>
          </a:xfrm>
          <a:prstGeom prst="roundRect">
            <a:avLst>
              <a:gd name="adj" fmla="val 2545"/>
            </a:avLst>
          </a:prstGeom>
          <a:solidFill>
            <a:srgbClr val="FFF1E7"/>
          </a:solidFill>
          <a:ln w="12700">
            <a:solidFill>
              <a:srgbClr val="DDE7F0"/>
            </a:solidFill>
            <a:prstDash val="solid"/>
          </a:ln>
        </p:spPr>
      </p:sp>
      <p:sp>
        <p:nvSpPr>
          <p:cNvPr id="15" name="Text 13"/>
          <p:cNvSpPr/>
          <p:nvPr/>
        </p:nvSpPr>
        <p:spPr>
          <a:xfrm>
            <a:off x="6199632" y="1591056"/>
            <a:ext cx="2221992" cy="228600"/>
          </a:xfrm>
          <a:prstGeom prst="rect">
            <a:avLst/>
          </a:prstGeom>
          <a:noFill/>
          <a:ln/>
        </p:spPr>
        <p:txBody>
          <a:bodyPr wrap="square" rtlCol="0" anchor="ctr"/>
          <a:lstStyle/>
          <a:p>
            <a:pPr indent="0" marL="0">
              <a:buNone/>
            </a:pPr>
            <a:r>
              <a:rPr lang="en-US" sz="1250" b="1" dirty="0">
                <a:solidFill>
                  <a:srgbClr val="0B2239"/>
                </a:solidFill>
                <a:latin typeface="Aptos Display" pitchFamily="34" charset="0"/>
                <a:ea typeface="Aptos Display" pitchFamily="34" charset="-122"/>
                <a:cs typeface="Aptos Display" pitchFamily="34" charset="-120"/>
              </a:rPr>
              <a:t>GitHub-ready package</a:t>
            </a:r>
            <a:endParaRPr lang="en-US" sz="1250" dirty="0"/>
          </a:p>
        </p:txBody>
      </p:sp>
      <p:sp>
        <p:nvSpPr>
          <p:cNvPr id="16" name="Text 14"/>
          <p:cNvSpPr/>
          <p:nvPr/>
        </p:nvSpPr>
        <p:spPr>
          <a:xfrm>
            <a:off x="6291072" y="1901952"/>
            <a:ext cx="2075688" cy="2240280"/>
          </a:xfrm>
          <a:prstGeom prst="rect">
            <a:avLst/>
          </a:prstGeom>
          <a:noFill/>
          <a:ln/>
        </p:spPr>
        <p:txBody>
          <a:bodyPr wrap="square" rtlCol="0" anchor="ctr">
            <a:normAutofit/>
          </a:bodyPr>
          <a:lstStyle/>
          <a:p>
            <a:r>
              <a:rPr lang="en-US" sz="850" dirty="0">
                <a:solidFill>
                  <a:srgbClr val="0B2239"/>
                </a:solidFill>
                <a:latin typeface="Aptos" pitchFamily="34" charset="0"/>
                <a:ea typeface="Aptos" pitchFamily="34" charset="-122"/>
                <a:cs typeface="Aptos" pitchFamily="34" charset="-120"/>
              </a:rPr>
              <a:t>README and run instructions.</a:t>
            </a:r>
            <a:endParaRPr lang="en-US" sz="850" dirty="0"/>
          </a:p>
          <a:p>
            <a:r>
              <a:rPr lang="en-US" sz="850" dirty="0">
                <a:solidFill>
                  <a:srgbClr val="0B2239"/>
                </a:solidFill>
                <a:latin typeface="Aptos" pitchFamily="34" charset="0"/>
                <a:ea typeface="Aptos" pitchFamily="34" charset="-122"/>
                <a:cs typeface="Aptos" pitchFamily="34" charset="-120"/>
              </a:rPr>
              <a:t>Notebook, validated outputs, and charts.</a:t>
            </a:r>
            <a:endParaRPr lang="en-US" sz="850" dirty="0"/>
          </a:p>
          <a:p>
            <a:r>
              <a:rPr lang="en-US" sz="850" dirty="0">
                <a:solidFill>
                  <a:srgbClr val="0B2239"/>
                </a:solidFill>
                <a:latin typeface="Aptos" pitchFamily="34" charset="0"/>
                <a:ea typeface="Aptos" pitchFamily="34" charset="-122"/>
                <a:cs typeface="Aptos" pitchFamily="34" charset="-120"/>
              </a:rPr>
              <a:t>Final paper and presentation materials.</a:t>
            </a:r>
            <a:endParaRPr lang="en-US" sz="850" dirty="0"/>
          </a:p>
          <a:p>
            <a:r>
              <a:rPr lang="en-US" sz="850" dirty="0">
                <a:solidFill>
                  <a:srgbClr val="0B2239"/>
                </a:solidFill>
                <a:latin typeface="Aptos" pitchFamily="34" charset="0"/>
                <a:ea typeface="Aptos" pitchFamily="34" charset="-122"/>
                <a:cs typeface="Aptos" pitchFamily="34" charset="-120"/>
              </a:rPr>
              <a:t>Power BI PBIX, PDF export, and page previews.</a:t>
            </a:r>
            <a:endParaRPr lang="en-US" sz="850" dirty="0"/>
          </a:p>
        </p:txBody>
      </p:sp>
      <p:sp>
        <p:nvSpPr>
          <p:cNvPr id="17" name="Shape 15"/>
          <p:cNvSpPr/>
          <p:nvPr/>
        </p:nvSpPr>
        <p:spPr>
          <a:xfrm>
            <a:off x="749808" y="4617720"/>
            <a:ext cx="7680960" cy="786384"/>
          </a:xfrm>
          <a:prstGeom prst="roundRect">
            <a:avLst>
              <a:gd name="adj" fmla="val 9302"/>
            </a:avLst>
          </a:prstGeom>
          <a:solidFill>
            <a:srgbClr val="0B2239"/>
          </a:solidFill>
          <a:ln w="12700">
            <a:solidFill>
              <a:srgbClr val="0B2239"/>
            </a:solidFill>
            <a:prstDash val="solid"/>
          </a:ln>
        </p:spPr>
      </p:sp>
      <p:sp>
        <p:nvSpPr>
          <p:cNvPr id="18" name="Text 16"/>
          <p:cNvSpPr/>
          <p:nvPr/>
        </p:nvSpPr>
        <p:spPr>
          <a:xfrm>
            <a:off x="960120" y="4773168"/>
            <a:ext cx="7269480" cy="411480"/>
          </a:xfrm>
          <a:prstGeom prst="rect">
            <a:avLst/>
          </a:prstGeom>
          <a:noFill/>
          <a:ln/>
        </p:spPr>
        <p:txBody>
          <a:bodyPr wrap="square" rtlCol="0" anchor="ctr">
            <a:normAutofit/>
          </a:bodyPr>
          <a:lstStyle/>
          <a:p>
            <a:pPr algn="ctr" indent="0" marL="0">
              <a:buNone/>
            </a:pPr>
            <a:r>
              <a:rPr lang="en-US" sz="1350" b="1" dirty="0">
                <a:solidFill>
                  <a:srgbClr val="FFFFFF"/>
                </a:solidFill>
                <a:latin typeface="Aptos Display" pitchFamily="34" charset="0"/>
                <a:ea typeface="Aptos Display" pitchFamily="34" charset="-122"/>
                <a:cs typeface="Aptos Display" pitchFamily="34" charset="-120"/>
              </a:rPr>
              <a:t>Final recommendation: govern model and threshold choices with fraud loss, customer friction, operational capacity, and fairness in view.</a:t>
            </a:r>
            <a:endParaRPr lang="en-US" sz="1350" dirty="0"/>
          </a:p>
        </p:txBody>
      </p:sp>
      <p:sp>
        <p:nvSpPr>
          <p:cNvPr id="19" name="Text 17"/>
          <p:cNvSpPr/>
          <p:nvPr/>
        </p:nvSpPr>
        <p:spPr>
          <a:xfrm>
            <a:off x="1051560" y="5724144"/>
            <a:ext cx="7086600" cy="228600"/>
          </a:xfrm>
          <a:prstGeom prst="rect">
            <a:avLst/>
          </a:prstGeom>
          <a:noFill/>
          <a:ln/>
        </p:spPr>
        <p:txBody>
          <a:bodyPr wrap="square" rtlCol="0" anchor="ctr">
            <a:normAutofit/>
          </a:bodyPr>
          <a:lstStyle/>
          <a:p>
            <a:pPr algn="ctr" indent="0" marL="0">
              <a:buNone/>
            </a:pPr>
            <a:r>
              <a:rPr lang="en-US" sz="920" b="1" dirty="0">
                <a:solidFill>
                  <a:srgbClr val="2A9D8F"/>
                </a:solidFill>
              </a:rPr>
              <a:t>GitHub repository: https://github.com/kaymerc/fraudshield-bi-false-positive-tax</a:t>
            </a:r>
            <a:endParaRPr lang="en-US" sz="9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p:nvPr/>
        </p:nvSpPr>
        <p:spPr>
          <a:xfrm>
            <a:off x="502920" y="310896"/>
            <a:ext cx="3108960" cy="228600"/>
          </a:xfrm>
          <a:prstGeom prst="rect">
            <a:avLst/>
          </a:prstGeom>
          <a:noFill/>
          <a:ln/>
        </p:spPr>
        <p:txBody>
          <a:bodyPr wrap="square" rtlCol="0" anchor="ctr"/>
          <a:lstStyle/>
          <a:p>
            <a:pPr indent="0" marL="0">
              <a:buNone/>
            </a:pPr>
            <a:r>
              <a:rPr lang="en-US" sz="850" b="1" dirty="0">
                <a:solidFill>
                  <a:srgbClr val="2A9D8F"/>
                </a:solidFill>
                <a:latin typeface="Aptos" pitchFamily="34" charset="0"/>
                <a:ea typeface="Aptos" pitchFamily="34" charset="-122"/>
                <a:cs typeface="Aptos" pitchFamily="34" charset="-120"/>
              </a:rPr>
              <a:t>REFERENCES</a:t>
            </a:r>
            <a:endParaRPr lang="en-US" sz="850" dirty="0"/>
          </a:p>
        </p:txBody>
      </p:sp>
      <p:sp>
        <p:nvSpPr>
          <p:cNvPr id="3" name="Text 1"/>
          <p:cNvSpPr/>
          <p:nvPr/>
        </p:nvSpPr>
        <p:spPr>
          <a:xfrm>
            <a:off x="502920" y="566928"/>
            <a:ext cx="7863840" cy="502920"/>
          </a:xfrm>
          <a:prstGeom prst="rect">
            <a:avLst/>
          </a:prstGeom>
          <a:noFill/>
          <a:ln/>
        </p:spPr>
        <p:txBody>
          <a:bodyPr wrap="square" rtlCol="0" anchor="ctr">
            <a:normAutofit/>
          </a:bodyPr>
          <a:lstStyle/>
          <a:p>
            <a:pPr indent="0" marL="0">
              <a:buNone/>
            </a:pPr>
            <a:r>
              <a:rPr lang="en-US" sz="2400" b="1" dirty="0">
                <a:solidFill>
                  <a:srgbClr val="0B2239"/>
                </a:solidFill>
                <a:latin typeface="Aptos Display" pitchFamily="34" charset="0"/>
                <a:ea typeface="Aptos Display" pitchFamily="34" charset="-122"/>
                <a:cs typeface="Aptos Display" pitchFamily="34" charset="-120"/>
              </a:rPr>
              <a:t>Selected Sources</a:t>
            </a:r>
            <a:endParaRPr lang="en-US" sz="2400" dirty="0"/>
          </a:p>
        </p:txBody>
      </p:sp>
      <p:sp>
        <p:nvSpPr>
          <p:cNvPr id="4" name="Shape 2"/>
          <p:cNvSpPr/>
          <p:nvPr/>
        </p:nvSpPr>
        <p:spPr>
          <a:xfrm>
            <a:off x="502920" y="1115568"/>
            <a:ext cx="841248" cy="41148"/>
          </a:xfrm>
          <a:prstGeom prst="rect">
            <a:avLst/>
          </a:prstGeom>
          <a:solidFill>
            <a:srgbClr val="2A9D8F"/>
          </a:solidFill>
          <a:ln w="12700">
            <a:solidFill>
              <a:srgbClr val="2A9D8F"/>
            </a:solidFill>
            <a:prstDash val="solid"/>
          </a:ln>
        </p:spPr>
      </p:sp>
      <p:sp>
        <p:nvSpPr>
          <p:cNvPr id="5" name="Shape 3"/>
          <p:cNvSpPr/>
          <p:nvPr/>
        </p:nvSpPr>
        <p:spPr>
          <a:xfrm>
            <a:off x="384048" y="6428232"/>
            <a:ext cx="8375904" cy="0"/>
          </a:xfrm>
          <a:prstGeom prst="line">
            <a:avLst/>
          </a:prstGeom>
          <a:noFill/>
          <a:ln w="12700">
            <a:solidFill>
              <a:srgbClr val="D6DEE7"/>
            </a:solidFill>
            <a:prstDash val="solid"/>
          </a:ln>
        </p:spPr>
      </p:sp>
      <p:sp>
        <p:nvSpPr>
          <p:cNvPr id="6" name="Text 4"/>
          <p:cNvSpPr/>
          <p:nvPr/>
        </p:nvSpPr>
        <p:spPr>
          <a:xfrm>
            <a:off x="411480" y="6528816"/>
            <a:ext cx="3108960" cy="118872"/>
          </a:xfrm>
          <a:prstGeom prst="rect">
            <a:avLst/>
          </a:prstGeom>
          <a:noFill/>
          <a:ln/>
        </p:spPr>
        <p:txBody>
          <a:bodyPr wrap="square" rtlCol="0" anchor="ctr"/>
          <a:lstStyle/>
          <a:p>
            <a:pPr indent="0" marL="0">
              <a:buNone/>
            </a:pPr>
            <a:r>
              <a:rPr lang="en-US" sz="550" dirty="0">
                <a:solidFill>
                  <a:srgbClr val="617384"/>
                </a:solidFill>
                <a:latin typeface="Aptos" pitchFamily="34" charset="0"/>
                <a:ea typeface="Aptos" pitchFamily="34" charset="-122"/>
                <a:cs typeface="Aptos" pitchFamily="34" charset="-120"/>
              </a:rPr>
              <a:t>FraudShield BI | MIS581 Capstone</a:t>
            </a:r>
            <a:endParaRPr lang="en-US" sz="550" dirty="0"/>
          </a:p>
        </p:txBody>
      </p:sp>
      <p:sp>
        <p:nvSpPr>
          <p:cNvPr id="7" name="Text 5"/>
          <p:cNvSpPr/>
          <p:nvPr/>
        </p:nvSpPr>
        <p:spPr>
          <a:xfrm>
            <a:off x="8641080" y="6510528"/>
            <a:ext cx="228600" cy="164592"/>
          </a:xfrm>
          <a:prstGeom prst="rect">
            <a:avLst/>
          </a:prstGeom>
          <a:noFill/>
          <a:ln/>
        </p:spPr>
        <p:txBody>
          <a:bodyPr wrap="square" rtlCol="0" anchor="ctr"/>
          <a:lstStyle/>
          <a:p>
            <a:pPr algn="r" indent="0" marL="0">
              <a:buNone/>
            </a:pPr>
            <a:r>
              <a:rPr lang="en-US" sz="700" dirty="0">
                <a:solidFill>
                  <a:srgbClr val="617384"/>
                </a:solidFill>
                <a:latin typeface="Aptos" pitchFamily="34" charset="0"/>
                <a:ea typeface="Aptos" pitchFamily="34" charset="-122"/>
                <a:cs typeface="Aptos" pitchFamily="34" charset="-120"/>
              </a:rPr>
              <a:t>10</a:t>
            </a:r>
            <a:endParaRPr lang="en-US" sz="700" dirty="0"/>
          </a:p>
        </p:txBody>
      </p:sp>
      <p:sp>
        <p:nvSpPr>
          <p:cNvPr id="8" name="Shape 6"/>
          <p:cNvSpPr/>
          <p:nvPr/>
        </p:nvSpPr>
        <p:spPr>
          <a:xfrm>
            <a:off x="502920" y="1417320"/>
            <a:ext cx="3886200" cy="4160520"/>
          </a:xfrm>
          <a:prstGeom prst="roundRect">
            <a:avLst>
              <a:gd name="adj" fmla="val 1176"/>
            </a:avLst>
          </a:prstGeom>
          <a:solidFill>
            <a:srgbClr val="FFFFFF"/>
          </a:solidFill>
          <a:ln w="12700">
            <a:solidFill>
              <a:srgbClr val="D6DEE7"/>
            </a:solidFill>
            <a:prstDash val="solid"/>
          </a:ln>
        </p:spPr>
      </p:sp>
      <p:sp>
        <p:nvSpPr>
          <p:cNvPr id="9" name="Shape 7"/>
          <p:cNvSpPr/>
          <p:nvPr/>
        </p:nvSpPr>
        <p:spPr>
          <a:xfrm>
            <a:off x="4754880" y="1417320"/>
            <a:ext cx="3886200" cy="4160520"/>
          </a:xfrm>
          <a:prstGeom prst="roundRect">
            <a:avLst>
              <a:gd name="adj" fmla="val 1176"/>
            </a:avLst>
          </a:prstGeom>
          <a:solidFill>
            <a:srgbClr val="FFFFFF"/>
          </a:solidFill>
          <a:ln w="12700">
            <a:solidFill>
              <a:srgbClr val="D6DEE7"/>
            </a:solidFill>
            <a:prstDash val="solid"/>
          </a:ln>
        </p:spPr>
      </p:sp>
      <p:sp>
        <p:nvSpPr>
          <p:cNvPr id="10" name="Text 8"/>
          <p:cNvSpPr/>
          <p:nvPr/>
        </p:nvSpPr>
        <p:spPr>
          <a:xfrm>
            <a:off x="713232" y="1627632"/>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Albalawi, T., &amp; Dardouri, S. (2025). Enhancing credit card fraud detection using traditional and deep learning models with class imbalance mitigation. Frontiers in Artificial Intelligence, 8, Article 1643292.</a:t>
            </a:r>
            <a:endParaRPr lang="en-US" sz="740" dirty="0"/>
          </a:p>
        </p:txBody>
      </p:sp>
      <p:sp>
        <p:nvSpPr>
          <p:cNvPr id="11" name="Text 9"/>
          <p:cNvSpPr/>
          <p:nvPr/>
        </p:nvSpPr>
        <p:spPr>
          <a:xfrm>
            <a:off x="713232" y="2478024"/>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Federal Trade Commission. (2024). Consumer Sentinel Network data book 2023. https://www.ftc.gov/reports/consumer-sentinel-network-data-book-2023</a:t>
            </a:r>
            <a:endParaRPr lang="en-US" sz="740" dirty="0"/>
          </a:p>
        </p:txBody>
      </p:sp>
      <p:sp>
        <p:nvSpPr>
          <p:cNvPr id="12" name="Text 10"/>
          <p:cNvSpPr/>
          <p:nvPr/>
        </p:nvSpPr>
        <p:spPr>
          <a:xfrm>
            <a:off x="713232" y="3328416"/>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Imani, M., Joudaki, M., Bagheri, A., &amp; Arabnia, H. R. (2026). Why ROC-AUC is misleading for highly imbalanced data. Technologies, 14(1), Article 54. https://doi.org/10.3390/technologies14010054</a:t>
            </a:r>
            <a:endParaRPr lang="en-US" sz="740" dirty="0"/>
          </a:p>
        </p:txBody>
      </p:sp>
      <p:sp>
        <p:nvSpPr>
          <p:cNvPr id="13" name="Text 11"/>
          <p:cNvSpPr/>
          <p:nvPr/>
        </p:nvSpPr>
        <p:spPr>
          <a:xfrm>
            <a:off x="713232" y="4178808"/>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Kaggle. (n.d.). Credit card transactions fraud detection dataset. https://www.kaggle.com/datasets/kartik2112/fraud-detection</a:t>
            </a:r>
            <a:endParaRPr lang="en-US" sz="740" dirty="0"/>
          </a:p>
        </p:txBody>
      </p:sp>
      <p:sp>
        <p:nvSpPr>
          <p:cNvPr id="14" name="Text 12"/>
          <p:cNvSpPr/>
          <p:nvPr/>
        </p:nvSpPr>
        <p:spPr>
          <a:xfrm>
            <a:off x="4965192" y="1627632"/>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Khalid, A. R., Owoh, N., Uthmani, O., Ashawa, M., Osamor, J., &amp; Adejoh, J. (2024). Enhancing credit card fraud detection: An ensemble machine learning approach. Big Data and Cognitive Computing, 8(1), Article 6.</a:t>
            </a:r>
            <a:endParaRPr lang="en-US" sz="740" dirty="0"/>
          </a:p>
        </p:txBody>
      </p:sp>
      <p:sp>
        <p:nvSpPr>
          <p:cNvPr id="15" name="Text 13"/>
          <p:cNvSpPr/>
          <p:nvPr/>
        </p:nvSpPr>
        <p:spPr>
          <a:xfrm>
            <a:off x="4965192" y="2478024"/>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National Institute of Standards and Technology. (2025). Digital identity guidelines (NIST Special Publication 800-63-4). https://doi.org/10.6028/NIST.SP.800-63-4</a:t>
            </a:r>
            <a:endParaRPr lang="en-US" sz="740" dirty="0"/>
          </a:p>
        </p:txBody>
      </p:sp>
      <p:sp>
        <p:nvSpPr>
          <p:cNvPr id="16" name="Text 14"/>
          <p:cNvSpPr/>
          <p:nvPr/>
        </p:nvSpPr>
        <p:spPr>
          <a:xfrm>
            <a:off x="4965192" y="3328416"/>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Polonsky, M. J., &amp; Waller, D. S. (2019). Designing and managing a research project: A business student's guide (4th ed.). SAGE Publications.</a:t>
            </a:r>
            <a:endParaRPr lang="en-US" sz="740" dirty="0"/>
          </a:p>
        </p:txBody>
      </p:sp>
      <p:sp>
        <p:nvSpPr>
          <p:cNvPr id="17" name="Text 15"/>
          <p:cNvSpPr/>
          <p:nvPr/>
        </p:nvSpPr>
        <p:spPr>
          <a:xfrm>
            <a:off x="4965192" y="4178808"/>
            <a:ext cx="3456432" cy="749808"/>
          </a:xfrm>
          <a:prstGeom prst="rect">
            <a:avLst/>
          </a:prstGeom>
          <a:noFill/>
          <a:ln/>
        </p:spPr>
        <p:txBody>
          <a:bodyPr wrap="square" rtlCol="0" anchor="t">
            <a:normAutofit/>
          </a:bodyPr>
          <a:lstStyle/>
          <a:p>
            <a:pPr indent="0" marL="0">
              <a:buNone/>
            </a:pPr>
            <a:r>
              <a:rPr lang="en-US" sz="740" dirty="0">
                <a:solidFill>
                  <a:srgbClr val="0B2239"/>
                </a:solidFill>
                <a:latin typeface="Aptos" pitchFamily="34" charset="0"/>
                <a:ea typeface="Aptos" pitchFamily="34" charset="-122"/>
                <a:cs typeface="Aptos" pitchFamily="34" charset="-120"/>
              </a:rPr>
              <a:t>Vanini, P., Rossi, S., Zvizdic, E., &amp; Domenig, T. (2023). Online payment fraud: From anomaly detection to risk management. Financial Innovation, 9, Article 66.</a:t>
            </a:r>
            <a:endParaRPr lang="en-US" sz="740" dirty="0"/>
          </a:p>
        </p:txBody>
      </p:sp>
      <p:sp>
        <p:nvSpPr>
          <p:cNvPr id="18" name="Text 16"/>
          <p:cNvSpPr/>
          <p:nvPr/>
        </p:nvSpPr>
        <p:spPr>
          <a:xfrm>
            <a:off x="713232" y="5806440"/>
            <a:ext cx="7726680" cy="228600"/>
          </a:xfrm>
          <a:prstGeom prst="rect">
            <a:avLst/>
          </a:prstGeom>
          <a:noFill/>
          <a:ln/>
        </p:spPr>
        <p:txBody>
          <a:bodyPr wrap="square" rtlCol="0" anchor="ctr">
            <a:normAutofit/>
          </a:bodyPr>
          <a:lstStyle/>
          <a:p>
            <a:pPr algn="ctr" indent="0" marL="0">
              <a:buNone/>
            </a:pPr>
            <a:r>
              <a:rPr lang="en-US" sz="830" i="1" dirty="0">
                <a:solidFill>
                  <a:srgbClr val="617384"/>
                </a:solidFill>
                <a:latin typeface="Aptos" pitchFamily="34" charset="0"/>
                <a:ea typeface="Aptos" pitchFamily="34" charset="-122"/>
                <a:cs typeface="Aptos" pitchFamily="34" charset="-120"/>
              </a:rPr>
              <a:t>Additional technical documentation used: Microsoft Power BI and scikit-learn documentation.</a:t>
            </a:r>
            <a:endParaRPr lang="en-US" sz="8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Colorado State University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FraudShield BI: Quantifying the Impact of False Positives</dc:title>
  <dc:subject>MIS581 Capstone Presentation</dc:subject>
  <dc:creator>Atta Febri-Yeboah</dc:creator>
  <cp:lastModifiedBy>Atta Febri-Yeboah</cp:lastModifiedBy>
  <cp:revision>1</cp:revision>
  <dcterms:created xsi:type="dcterms:W3CDTF">2026-07-06T00:05:07Z</dcterms:created>
  <dcterms:modified xsi:type="dcterms:W3CDTF">2026-07-06T00:05:07Z</dcterms:modified>
</cp:coreProperties>
</file>